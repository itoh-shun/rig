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 をまったく知らない人向け。前半で安全フローの仕組み、後半で pack による知識層の拡張を扱う。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C1C"/>
        </a:solidFill>
      </p:bgPr>
    </p:bg>
    <p:spTree>
      <p:nvGrpSpPr>
        <p:cNvPr id="1" name=""/>
        <p:cNvGrpSpPr/>
        <p:nvPr/>
      </p:nvGrpSpPr>
      <p:grpSpPr>
        <a:xfrm>
          <a:off x="0" y="0"/>
          <a:ext cx="0" cy="0"/>
          <a:chOff x="0" y="0"/>
          <a:chExt cx="0" cy="0"/>
        </a:xfrm>
      </p:grpSpPr>
      <p:sp>
        <p:nvSpPr>
          <p:cNvPr id="2" name="Text 0"/>
          <p:cNvSpPr txBox="1"/>
          <p:nvPr/>
        </p:nvSpPr>
        <p:spPr>
          <a:xfrm>
            <a:off x="822960" y="2011680"/>
            <a:ext cx="10515600" cy="1371600"/>
          </a:xfrm>
          <a:prstGeom prst="rect">
            <a:avLst/>
          </a:prstGeom>
          <a:noFill/>
          <a:ln/>
        </p:spPr>
        <p:txBody>
          <a:bodyPr wrap="square" lIns="0" tIns="0" rIns="0" bIns="0" rtlCol="0" anchor="ctr"/>
          <a:lstStyle/>
          <a:p>
            <a:pPr indent="0" marL="0">
              <a:buNone/>
            </a:pPr>
            <a:r>
              <a:rPr lang="en-US" sz="4600" b="1" dirty="0">
                <a:solidFill>
                  <a:srgbClr val="FFFFFF"/>
                </a:solidFill>
                <a:latin typeface="Arial" pitchFamily="34" charset="0"/>
                <a:ea typeface="Arial" pitchFamily="34" charset="-122"/>
                <a:cs typeface="Arial" pitchFamily="34" charset="-120"/>
              </a:rPr>
              <a:t>rig 入門</a:t>
            </a:r>
            <a:endParaRPr lang="en-US" sz="4600" dirty="0"/>
          </a:p>
        </p:txBody>
      </p:sp>
      <p:sp>
        <p:nvSpPr>
          <p:cNvPr id="3" name="Text 1"/>
          <p:cNvSpPr txBox="1"/>
          <p:nvPr/>
        </p:nvSpPr>
        <p:spPr>
          <a:xfrm>
            <a:off x="822960" y="3383280"/>
            <a:ext cx="8686800" cy="914400"/>
          </a:xfrm>
          <a:prstGeom prst="rect">
            <a:avLst/>
          </a:prstGeom>
          <a:noFill/>
          <a:ln/>
        </p:spPr>
        <p:txBody>
          <a:bodyPr wrap="square" lIns="0" tIns="0" rIns="0" bIns="0" rtlCol="0" anchor="ctr"/>
          <a:lstStyle/>
          <a:p>
            <a:pPr indent="0" marL="0">
              <a:lnSpc>
                <a:spcPts val="2600"/>
              </a:lnSpc>
              <a:buNone/>
            </a:pPr>
            <a:r>
              <a:rPr lang="en-US" sz="1700" dirty="0">
                <a:solidFill>
                  <a:srgbClr val="C9CCC8"/>
                </a:solidFill>
                <a:latin typeface="Calibri" pitchFamily="34" charset="0"/>
                <a:ea typeface="Calibri" pitchFamily="34" charset="-122"/>
                <a:cs typeface="Calibri" pitchFamily="34" charset="-120"/>
              </a:rPr>
              <a:t>AI に仕事を任せるための、隔離と検証の層。</a:t>
            </a:r>
            <a:endParaRPr lang="en-US" sz="1700" dirty="0"/>
          </a:p>
          <a:p>
            <a:pPr indent="0" marL="0">
              <a:lnSpc>
                <a:spcPts val="2600"/>
              </a:lnSpc>
              <a:buNone/>
            </a:pPr>
            <a:r>
              <a:rPr lang="en-US" sz="1700" dirty="0">
                <a:solidFill>
                  <a:srgbClr val="C9CCC8"/>
                </a:solidFill>
                <a:latin typeface="Calibri" pitchFamily="34" charset="0"/>
                <a:ea typeface="Calibri" pitchFamily="34" charset="-122"/>
                <a:cs typeface="Calibri" pitchFamily="34" charset="-120"/>
              </a:rPr>
              <a:t>ゼロから知り、自分のドメインを教え込むまで。</a:t>
            </a:r>
            <a:endParaRPr lang="en-US" sz="1700" dirty="0"/>
          </a:p>
        </p:txBody>
      </p:sp>
      <p:sp>
        <p:nvSpPr>
          <p:cNvPr id="4" name="Text 2"/>
          <p:cNvSpPr txBox="1"/>
          <p:nvPr/>
        </p:nvSpPr>
        <p:spPr>
          <a:xfrm>
            <a:off x="822960" y="5852160"/>
            <a:ext cx="10058400" cy="365760"/>
          </a:xfrm>
          <a:prstGeom prst="rect">
            <a:avLst/>
          </a:prstGeom>
          <a:noFill/>
          <a:ln/>
        </p:spPr>
        <p:txBody>
          <a:bodyPr wrap="square" lIns="0" tIns="0" rIns="0" bIns="0" rtlCol="0" anchor="ctr"/>
          <a:lstStyle/>
          <a:p>
            <a:pPr indent="0" marL="0">
              <a:buNone/>
            </a:pPr>
            <a:r>
              <a:rPr lang="en-US" sz="1100" dirty="0">
                <a:solidFill>
                  <a:srgbClr val="8A908C"/>
                </a:solidFill>
                <a:latin typeface="Calibri" pitchFamily="34" charset="0"/>
                <a:ea typeface="Calibri" pitchFamily="34" charset="-122"/>
                <a:cs typeface="Calibri" pitchFamily="34" charset="-120"/>
              </a:rPr>
              <a:t>典拠：README.ja.md ／ docs/packs.md ／ skills/engine/SKILL.md</a:t>
            </a:r>
            <a:endParaRPr lang="en-US" sz="1100" dirty="0"/>
          </a:p>
        </p:txBody>
      </p:sp>
      <p:sp>
        <p:nvSpPr>
          <p:cNvPr id="5" name="Text 3"/>
          <p:cNvSpPr txBox="1"/>
          <p:nvPr/>
        </p:nvSpPr>
        <p:spPr>
          <a:xfrm>
            <a:off x="822960" y="5029200"/>
            <a:ext cx="10058400" cy="365760"/>
          </a:xfrm>
          <a:prstGeom prst="rect">
            <a:avLst/>
          </a:prstGeom>
          <a:noFill/>
          <a:ln/>
        </p:spPr>
        <p:txBody>
          <a:bodyPr wrap="square" lIns="0" tIns="0" rIns="0" bIns="0" rtlCol="0" anchor="ctr"/>
          <a:lstStyle/>
          <a:p>
            <a:pPr indent="0" marL="0">
              <a:buNone/>
            </a:pPr>
            <a:r>
              <a:rPr lang="en-US" sz="1300" dirty="0">
                <a:solidFill>
                  <a:srgbClr val="9AA39C"/>
                </a:solidFill>
                <a:latin typeface="Calibri" pitchFamily="34" charset="0"/>
                <a:ea typeface="Calibri" pitchFamily="34" charset="-122"/>
                <a:cs typeface="Calibri" pitchFamily="34" charset="-120"/>
              </a:rPr>
              <a:t>第一部　rig を知る　　|　　第二部　pack で知識層を拡張する</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AGENDA</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この資料の地図</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02920" y="1371600"/>
            <a:ext cx="3611880" cy="4206240"/>
          </a:xfrm>
          <a:prstGeom prst="roundRect">
            <a:avLst>
              <a:gd name="adj" fmla="val 1519"/>
            </a:avLst>
          </a:prstGeom>
          <a:solidFill>
            <a:srgbClr val="E7EFEB"/>
          </a:solidFill>
          <a:ln w="6350">
            <a:solidFill>
              <a:srgbClr val="E7EFEB"/>
            </a:solidFill>
            <a:prstDash val="solid"/>
          </a:ln>
          <a:effectLst>
            <a:outerShdw sx="100000" sy="100000" kx="0" ky="0" algn="bl" rotWithShape="0" blurRad="101600" dist="12700" dir="5400000">
              <a:srgbClr val="000000">
                <a:alpha val="10000"/>
              </a:srgbClr>
            </a:outerShdw>
          </a:effectLst>
        </p:spPr>
      </p:sp>
      <p:sp>
        <p:nvSpPr>
          <p:cNvPr id="7" name="Text 5"/>
          <p:cNvSpPr txBox="1"/>
          <p:nvPr/>
        </p:nvSpPr>
        <p:spPr>
          <a:xfrm>
            <a:off x="758952" y="1554480"/>
            <a:ext cx="3108960" cy="256032"/>
          </a:xfrm>
          <a:prstGeom prst="rect">
            <a:avLst/>
          </a:prstGeom>
          <a:noFill/>
          <a:ln/>
        </p:spPr>
        <p:txBody>
          <a:bodyPr wrap="square" lIns="0" tIns="0" rIns="0" bIns="0" rtlCol="0" anchor="ctr"/>
          <a:lstStyle/>
          <a:p>
            <a:pPr indent="0" marL="0">
              <a:buNone/>
            </a:pPr>
            <a:r>
              <a:rPr lang="en-US" sz="1100" b="1" dirty="0">
                <a:solidFill>
                  <a:srgbClr val="1F6F5C"/>
                </a:solidFill>
                <a:latin typeface="Calibri" pitchFamily="34" charset="0"/>
                <a:ea typeface="Calibri" pitchFamily="34" charset="-122"/>
                <a:cs typeface="Calibri" pitchFamily="34" charset="-120"/>
              </a:rPr>
              <a:t>導入</a:t>
            </a:r>
            <a:endParaRPr lang="en-US" sz="1100" dirty="0"/>
          </a:p>
        </p:txBody>
      </p:sp>
      <p:sp>
        <p:nvSpPr>
          <p:cNvPr id="8" name="Text 6"/>
          <p:cNvSpPr txBox="1"/>
          <p:nvPr/>
        </p:nvSpPr>
        <p:spPr>
          <a:xfrm>
            <a:off x="758952" y="1810512"/>
            <a:ext cx="3108960" cy="365760"/>
          </a:xfrm>
          <a:prstGeom prst="rect">
            <a:avLst/>
          </a:prstGeom>
          <a:noFill/>
          <a:ln/>
        </p:spPr>
        <p:txBody>
          <a:bodyPr wrap="square" lIns="0" tIns="0" rIns="0" bIns="0" rtlCol="0" anchor="ctr"/>
          <a:lstStyle/>
          <a:p>
            <a:pPr indent="0" marL="0">
              <a:buNone/>
            </a:pPr>
            <a:r>
              <a:rPr lang="en-US" sz="1500" b="1" dirty="0">
                <a:solidFill>
                  <a:srgbClr val="1C1C1C"/>
                </a:solidFill>
                <a:latin typeface="Arial" pitchFamily="34" charset="0"/>
                <a:ea typeface="Arial" pitchFamily="34" charset="-122"/>
                <a:cs typeface="Arial" pitchFamily="34" charset="-120"/>
              </a:rPr>
              <a:t>なぜ rig を作ったか</a:t>
            </a:r>
            <a:endParaRPr lang="en-US" sz="1500" dirty="0"/>
          </a:p>
        </p:txBody>
      </p:sp>
      <p:sp>
        <p:nvSpPr>
          <p:cNvPr id="9" name="Text 7"/>
          <p:cNvSpPr txBox="1"/>
          <p:nvPr/>
        </p:nvSpPr>
        <p:spPr>
          <a:xfrm>
            <a:off x="758952" y="2286000"/>
            <a:ext cx="3108960" cy="3108960"/>
          </a:xfrm>
          <a:prstGeom prst="rect">
            <a:avLst/>
          </a:prstGeom>
          <a:noFill/>
          <a:ln/>
        </p:spPr>
        <p:txBody>
          <a:bodyPr wrap="square" lIns="0" tIns="0" rIns="0" bIns="0" rtlCol="0" anchor="t"/>
          <a:lstStyle/>
          <a:p>
            <a:pPr indent="0" marL="0">
              <a:lnSpc>
                <a:spcPts val="2200"/>
              </a:lnSpc>
              <a:buNone/>
            </a:pPr>
            <a:r>
              <a:rPr lang="en-US" sz="1200" dirty="0">
                <a:solidFill>
                  <a:srgbClr val="5C6166"/>
                </a:solidFill>
                <a:latin typeface="Calibri" pitchFamily="34" charset="0"/>
                <a:ea typeface="Calibri" pitchFamily="34" charset="-122"/>
                <a:cs typeface="Calibri" pitchFamily="34" charset="-120"/>
              </a:rPr>
              <a:t>・よくある AI 活用の四つの型</a:t>
            </a:r>
            <a:endParaRPr lang="en-US" sz="1200" dirty="0"/>
          </a:p>
          <a:p>
            <a:pPr indent="0" marL="0">
              <a:lnSpc>
                <a:spcPts val="2200"/>
              </a:lnSpc>
              <a:buNone/>
            </a:pPr>
            <a:r>
              <a:rPr lang="en-US" sz="1200" dirty="0">
                <a:solidFill>
                  <a:srgbClr val="5C6166"/>
                </a:solidFill>
                <a:latin typeface="Calibri" pitchFamily="34" charset="0"/>
                <a:ea typeface="Calibri" pitchFamily="34" charset="-122"/>
                <a:cs typeface="Calibri" pitchFamily="34" charset="-120"/>
              </a:rPr>
              <a:t>・そこで共通して開く穴</a:t>
            </a:r>
            <a:endParaRPr lang="en-US" sz="1200" dirty="0"/>
          </a:p>
          <a:p>
            <a:pPr indent="0" marL="0">
              <a:lnSpc>
                <a:spcPts val="2200"/>
              </a:lnSpc>
              <a:buNone/>
            </a:pPr>
            <a:r>
              <a:rPr lang="en-US" sz="1200" dirty="0">
                <a:solidFill>
                  <a:srgbClr val="5C6166"/>
                </a:solidFill>
                <a:latin typeface="Calibri" pitchFamily="34" charset="0"/>
                <a:ea typeface="Calibri" pitchFamily="34" charset="-122"/>
                <a:cs typeface="Calibri" pitchFamily="34" charset="-120"/>
              </a:rPr>
              <a:t>・プロンプト／コンテキスト／</a:t>
            </a:r>
            <a:endParaRPr lang="en-US" sz="1200" dirty="0"/>
          </a:p>
          <a:p>
            <a:pPr indent="0" marL="0">
              <a:lnSpc>
                <a:spcPts val="2200"/>
              </a:lnSpc>
              <a:buNone/>
            </a:pPr>
            <a:r>
              <a:rPr lang="en-US" sz="1200" dirty="0">
                <a:solidFill>
                  <a:srgbClr val="5C6166"/>
                </a:solidFill>
                <a:latin typeface="Calibri" pitchFamily="34" charset="0"/>
                <a:ea typeface="Calibri" pitchFamily="34" charset="-122"/>
                <a:cs typeface="Calibri" pitchFamily="34" charset="-120"/>
              </a:rPr>
              <a:t>　　ハーネスの入れ子</a:t>
            </a:r>
            <a:endParaRPr lang="en-US" sz="1200" dirty="0"/>
          </a:p>
          <a:p>
            <a:pPr indent="0" marL="0">
              <a:lnSpc>
                <a:spcPts val="2200"/>
              </a:lnSpc>
              <a:buNone/>
            </a:pPr>
            <a:r>
              <a:rPr lang="en-US" sz="1200" dirty="0">
                <a:solidFill>
                  <a:srgbClr val="5C6166"/>
                </a:solidFill>
                <a:latin typeface="Calibri" pitchFamily="34" charset="0"/>
                <a:ea typeface="Calibri" pitchFamily="34" charset="-122"/>
                <a:cs typeface="Calibri" pitchFamily="34" charset="-120"/>
              </a:rPr>
              <a:t>・ハーネスの 2×2</a:t>
            </a:r>
            <a:endParaRPr lang="en-US" sz="1200" dirty="0"/>
          </a:p>
          <a:p>
            <a:pPr indent="0" marL="0">
              <a:lnSpc>
                <a:spcPts val="2200"/>
              </a:lnSpc>
              <a:buNone/>
            </a:pPr>
            <a:r>
              <a:rPr lang="en-US" sz="1200" dirty="0">
                <a:solidFill>
                  <a:srgbClr val="5C6166"/>
                </a:solidFill>
                <a:latin typeface="Calibri" pitchFamily="34" charset="0"/>
                <a:ea typeface="Calibri" pitchFamily="34" charset="-122"/>
                <a:cs typeface="Calibri" pitchFamily="34" charset="-120"/>
              </a:rPr>
              <a:t>・一般的な対応と、その限界</a:t>
            </a:r>
            <a:endParaRPr lang="en-US" sz="1200" dirty="0"/>
          </a:p>
          <a:p>
            <a:pPr indent="0" marL="0">
              <a:lnSpc>
                <a:spcPts val="2200"/>
              </a:lnSpc>
              <a:buNone/>
            </a:pPr>
            <a:r>
              <a:rPr lang="en-US" sz="1200" dirty="0">
                <a:solidFill>
                  <a:srgbClr val="5C6166"/>
                </a:solidFill>
                <a:latin typeface="Calibri" pitchFamily="34" charset="0"/>
                <a:ea typeface="Calibri" pitchFamily="34" charset="-122"/>
                <a:cs typeface="Calibri" pitchFamily="34" charset="-120"/>
              </a:rPr>
              <a:t>・rig は四象限をどう埋めるか</a:t>
            </a:r>
            <a:endParaRPr lang="en-US" sz="1200" dirty="0"/>
          </a:p>
        </p:txBody>
      </p:sp>
      <p:sp>
        <p:nvSpPr>
          <p:cNvPr id="10" name="Shape 8"/>
          <p:cNvSpPr/>
          <p:nvPr/>
        </p:nvSpPr>
        <p:spPr>
          <a:xfrm>
            <a:off x="4297680" y="1371600"/>
            <a:ext cx="3611880" cy="4206240"/>
          </a:xfrm>
          <a:prstGeom prst="roundRect">
            <a:avLst>
              <a:gd name="adj" fmla="val 1519"/>
            </a:avLst>
          </a:prstGeom>
          <a:solidFill>
            <a:srgbClr val="F1F1EF"/>
          </a:solidFill>
          <a:ln w="6350">
            <a:solidFill>
              <a:srgbClr val="F1F1EF"/>
            </a:solidFill>
            <a:prstDash val="solid"/>
          </a:ln>
          <a:effectLst>
            <a:outerShdw sx="100000" sy="100000" kx="0" ky="0" algn="bl" rotWithShape="0" blurRad="101600" dist="12700" dir="5400000">
              <a:srgbClr val="000000">
                <a:alpha val="10000"/>
              </a:srgbClr>
            </a:outerShdw>
          </a:effectLst>
        </p:spPr>
      </p:sp>
      <p:sp>
        <p:nvSpPr>
          <p:cNvPr id="11" name="Text 9"/>
          <p:cNvSpPr txBox="1"/>
          <p:nvPr/>
        </p:nvSpPr>
        <p:spPr>
          <a:xfrm>
            <a:off x="4553712" y="1554480"/>
            <a:ext cx="3108960" cy="256032"/>
          </a:xfrm>
          <a:prstGeom prst="rect">
            <a:avLst/>
          </a:prstGeom>
          <a:noFill/>
          <a:ln/>
        </p:spPr>
        <p:txBody>
          <a:bodyPr wrap="square" lIns="0" tIns="0" rIns="0" bIns="0" rtlCol="0" anchor="ctr"/>
          <a:lstStyle/>
          <a:p>
            <a:pPr indent="0" marL="0">
              <a:buNone/>
            </a:pPr>
            <a:r>
              <a:rPr lang="en-US" sz="1100" b="1" dirty="0">
                <a:solidFill>
                  <a:srgbClr val="1F6F5C"/>
                </a:solidFill>
                <a:latin typeface="Calibri" pitchFamily="34" charset="0"/>
                <a:ea typeface="Calibri" pitchFamily="34" charset="-122"/>
                <a:cs typeface="Calibri" pitchFamily="34" charset="-120"/>
              </a:rPr>
              <a:t>第一部</a:t>
            </a:r>
            <a:endParaRPr lang="en-US" sz="1100" dirty="0"/>
          </a:p>
        </p:txBody>
      </p:sp>
      <p:sp>
        <p:nvSpPr>
          <p:cNvPr id="12" name="Text 10"/>
          <p:cNvSpPr txBox="1"/>
          <p:nvPr/>
        </p:nvSpPr>
        <p:spPr>
          <a:xfrm>
            <a:off x="4553712" y="1810512"/>
            <a:ext cx="3108960" cy="365760"/>
          </a:xfrm>
          <a:prstGeom prst="rect">
            <a:avLst/>
          </a:prstGeom>
          <a:noFill/>
          <a:ln/>
        </p:spPr>
        <p:txBody>
          <a:bodyPr wrap="square" lIns="0" tIns="0" rIns="0" bIns="0" rtlCol="0" anchor="ctr"/>
          <a:lstStyle/>
          <a:p>
            <a:pPr indent="0" marL="0">
              <a:buNone/>
            </a:pPr>
            <a:r>
              <a:rPr lang="en-US" sz="1500" b="1" dirty="0">
                <a:solidFill>
                  <a:srgbClr val="1C1C1C"/>
                </a:solidFill>
                <a:latin typeface="Arial" pitchFamily="34" charset="0"/>
                <a:ea typeface="Arial" pitchFamily="34" charset="-122"/>
                <a:cs typeface="Arial" pitchFamily="34" charset="-120"/>
              </a:rPr>
              <a:t>rig を知る</a:t>
            </a:r>
            <a:endParaRPr lang="en-US" sz="1500" dirty="0"/>
          </a:p>
        </p:txBody>
      </p:sp>
      <p:sp>
        <p:nvSpPr>
          <p:cNvPr id="13" name="Text 11"/>
          <p:cNvSpPr txBox="1"/>
          <p:nvPr/>
        </p:nvSpPr>
        <p:spPr>
          <a:xfrm>
            <a:off x="4553712" y="2286000"/>
            <a:ext cx="3108960" cy="3108960"/>
          </a:xfrm>
          <a:prstGeom prst="rect">
            <a:avLst/>
          </a:prstGeom>
          <a:noFill/>
          <a:ln/>
        </p:spPr>
        <p:txBody>
          <a:bodyPr wrap="square" lIns="0" tIns="0" rIns="0" bIns="0" rtlCol="0" anchor="t"/>
          <a:lstStyle/>
          <a:p>
            <a:pPr indent="0" marL="0">
              <a:lnSpc>
                <a:spcPts val="2200"/>
              </a:lnSpc>
              <a:buNone/>
            </a:pPr>
            <a:r>
              <a:rPr lang="en-US" sz="1200" dirty="0">
                <a:solidFill>
                  <a:srgbClr val="5C6166"/>
                </a:solidFill>
                <a:latin typeface="Calibri" pitchFamily="34" charset="0"/>
                <a:ea typeface="Calibri" pitchFamily="34" charset="-122"/>
                <a:cs typeface="Calibri" pitchFamily="34" charset="-120"/>
              </a:rPr>
              <a:t>・rig とは何か／何ではないか</a:t>
            </a:r>
            <a:endParaRPr lang="en-US" sz="1200" dirty="0"/>
          </a:p>
          <a:p>
            <a:pPr indent="0" marL="0">
              <a:lnSpc>
                <a:spcPts val="2200"/>
              </a:lnSpc>
              <a:buNone/>
            </a:pPr>
            <a:r>
              <a:rPr lang="en-US" sz="1200" dirty="0">
                <a:solidFill>
                  <a:srgbClr val="5C6166"/>
                </a:solidFill>
                <a:latin typeface="Calibri" pitchFamily="34" charset="0"/>
                <a:ea typeface="Calibri" pitchFamily="34" charset="-122"/>
                <a:cs typeface="Calibri" pitchFamily="34" charset="-120"/>
              </a:rPr>
              <a:t>・直接頼む場合との違い</a:t>
            </a:r>
            <a:endParaRPr lang="en-US" sz="1200" dirty="0"/>
          </a:p>
          <a:p>
            <a:pPr indent="0" marL="0">
              <a:lnSpc>
                <a:spcPts val="2200"/>
              </a:lnSpc>
              <a:buNone/>
            </a:pPr>
            <a:r>
              <a:rPr lang="en-US" sz="1200" dirty="0">
                <a:solidFill>
                  <a:srgbClr val="5C6166"/>
                </a:solidFill>
                <a:latin typeface="Calibri" pitchFamily="34" charset="0"/>
                <a:ea typeface="Calibri" pitchFamily="34" charset="-122"/>
                <a:cs typeface="Calibri" pitchFamily="34" charset="-120"/>
              </a:rPr>
              <a:t>・入口は二つ、最初の三十秒</a:t>
            </a:r>
            <a:endParaRPr lang="en-US" sz="1200" dirty="0"/>
          </a:p>
          <a:p>
            <a:pPr indent="0" marL="0">
              <a:lnSpc>
                <a:spcPts val="2200"/>
              </a:lnSpc>
              <a:buNone/>
            </a:pPr>
            <a:r>
              <a:rPr lang="en-US" sz="1200" dirty="0">
                <a:solidFill>
                  <a:srgbClr val="5C6166"/>
                </a:solidFill>
                <a:latin typeface="Calibri" pitchFamily="34" charset="0"/>
                <a:ea typeface="Calibri" pitchFamily="34" charset="-122"/>
                <a:cs typeface="Calibri" pitchFamily="34" charset="-120"/>
              </a:rPr>
              <a:t>・安全と言える四つの理由</a:t>
            </a:r>
            <a:endParaRPr lang="en-US" sz="1200" dirty="0"/>
          </a:p>
          <a:p>
            <a:pPr indent="0" marL="0">
              <a:lnSpc>
                <a:spcPts val="2200"/>
              </a:lnSpc>
              <a:buNone/>
            </a:pPr>
            <a:r>
              <a:rPr lang="en-US" sz="1200" dirty="0">
                <a:solidFill>
                  <a:srgbClr val="5C6166"/>
                </a:solidFill>
                <a:latin typeface="Calibri" pitchFamily="34" charset="0"/>
                <a:ea typeface="Calibri" pitchFamily="34" charset="-122"/>
                <a:cs typeface="Calibri" pitchFamily="34" charset="-120"/>
              </a:rPr>
              <a:t>・ゲートと機械センサー</a:t>
            </a:r>
            <a:endParaRPr lang="en-US" sz="1200" dirty="0"/>
          </a:p>
          <a:p>
            <a:pPr indent="0" marL="0">
              <a:lnSpc>
                <a:spcPts val="2200"/>
              </a:lnSpc>
              <a:buNone/>
            </a:pPr>
            <a:r>
              <a:rPr lang="en-US" sz="1200" dirty="0">
                <a:solidFill>
                  <a:srgbClr val="5C6166"/>
                </a:solidFill>
                <a:latin typeface="Calibri" pitchFamily="34" charset="0"/>
                <a:ea typeface="Calibri" pitchFamily="34" charset="-122"/>
                <a:cs typeface="Calibri" pitchFamily="34" charset="-120"/>
              </a:rPr>
              <a:t>・ブリックと recipe</a:t>
            </a:r>
            <a:endParaRPr lang="en-US" sz="1200" dirty="0"/>
          </a:p>
          <a:p>
            <a:pPr indent="0" marL="0">
              <a:lnSpc>
                <a:spcPts val="2200"/>
              </a:lnSpc>
              <a:buNone/>
            </a:pPr>
            <a:r>
              <a:rPr lang="en-US" sz="1200" dirty="0">
                <a:solidFill>
                  <a:srgbClr val="5C6166"/>
                </a:solidFill>
                <a:latin typeface="Calibri" pitchFamily="34" charset="0"/>
                <a:ea typeface="Calibri" pitchFamily="34" charset="-122"/>
                <a:cs typeface="Calibri" pitchFamily="34" charset="-120"/>
              </a:rPr>
              <a:t>・レビュアーを測る（drill / stats）</a:t>
            </a:r>
            <a:endParaRPr lang="en-US" sz="1200" dirty="0"/>
          </a:p>
          <a:p>
            <a:pPr indent="0" marL="0">
              <a:lnSpc>
                <a:spcPts val="2200"/>
              </a:lnSpc>
              <a:buNone/>
            </a:pPr>
            <a:r>
              <a:rPr lang="en-US" sz="1200" dirty="0">
                <a:solidFill>
                  <a:srgbClr val="5C6166"/>
                </a:solidFill>
                <a:latin typeface="Calibri" pitchFamily="34" charset="0"/>
                <a:ea typeface="Calibri" pitchFamily="34" charset="-122"/>
                <a:cs typeface="Calibri" pitchFamily="34" charset="-120"/>
              </a:rPr>
              <a:t>・コマンドの地図</a:t>
            </a:r>
            <a:endParaRPr lang="en-US" sz="1200" dirty="0"/>
          </a:p>
        </p:txBody>
      </p:sp>
      <p:sp>
        <p:nvSpPr>
          <p:cNvPr id="14" name="Shape 12"/>
          <p:cNvSpPr/>
          <p:nvPr/>
        </p:nvSpPr>
        <p:spPr>
          <a:xfrm>
            <a:off x="8092440" y="1371600"/>
            <a:ext cx="3611880" cy="4206240"/>
          </a:xfrm>
          <a:prstGeom prst="roundRect">
            <a:avLst>
              <a:gd name="adj" fmla="val 1519"/>
            </a:avLst>
          </a:prstGeom>
          <a:solidFill>
            <a:srgbClr val="F1F1EF"/>
          </a:solidFill>
          <a:ln w="6350">
            <a:solidFill>
              <a:srgbClr val="F1F1EF"/>
            </a:solidFill>
            <a:prstDash val="solid"/>
          </a:ln>
          <a:effectLst>
            <a:outerShdw sx="100000" sy="100000" kx="0" ky="0" algn="bl" rotWithShape="0" blurRad="101600" dist="12700" dir="5400000">
              <a:srgbClr val="000000">
                <a:alpha val="10000"/>
              </a:srgbClr>
            </a:outerShdw>
          </a:effectLst>
        </p:spPr>
      </p:sp>
      <p:sp>
        <p:nvSpPr>
          <p:cNvPr id="15" name="Text 13"/>
          <p:cNvSpPr txBox="1"/>
          <p:nvPr/>
        </p:nvSpPr>
        <p:spPr>
          <a:xfrm>
            <a:off x="8348472" y="1554480"/>
            <a:ext cx="3108960" cy="256032"/>
          </a:xfrm>
          <a:prstGeom prst="rect">
            <a:avLst/>
          </a:prstGeom>
          <a:noFill/>
          <a:ln/>
        </p:spPr>
        <p:txBody>
          <a:bodyPr wrap="square" lIns="0" tIns="0" rIns="0" bIns="0" rtlCol="0" anchor="ctr"/>
          <a:lstStyle/>
          <a:p>
            <a:pPr indent="0" marL="0">
              <a:buNone/>
            </a:pPr>
            <a:r>
              <a:rPr lang="en-US" sz="1100" b="1" dirty="0">
                <a:solidFill>
                  <a:srgbClr val="1F6F5C"/>
                </a:solidFill>
                <a:latin typeface="Calibri" pitchFamily="34" charset="0"/>
                <a:ea typeface="Calibri" pitchFamily="34" charset="-122"/>
                <a:cs typeface="Calibri" pitchFamily="34" charset="-120"/>
              </a:rPr>
              <a:t>第二部</a:t>
            </a:r>
            <a:endParaRPr lang="en-US" sz="1100" dirty="0"/>
          </a:p>
        </p:txBody>
      </p:sp>
      <p:sp>
        <p:nvSpPr>
          <p:cNvPr id="16" name="Text 14"/>
          <p:cNvSpPr txBox="1"/>
          <p:nvPr/>
        </p:nvSpPr>
        <p:spPr>
          <a:xfrm>
            <a:off x="8348472" y="1810512"/>
            <a:ext cx="3108960" cy="365760"/>
          </a:xfrm>
          <a:prstGeom prst="rect">
            <a:avLst/>
          </a:prstGeom>
          <a:noFill/>
          <a:ln/>
        </p:spPr>
        <p:txBody>
          <a:bodyPr wrap="square" lIns="0" tIns="0" rIns="0" bIns="0" rtlCol="0" anchor="ctr"/>
          <a:lstStyle/>
          <a:p>
            <a:pPr indent="0" marL="0">
              <a:buNone/>
            </a:pPr>
            <a:r>
              <a:rPr lang="en-US" sz="1500" b="1" dirty="0">
                <a:solidFill>
                  <a:srgbClr val="1C1C1C"/>
                </a:solidFill>
                <a:latin typeface="Arial" pitchFamily="34" charset="0"/>
                <a:ea typeface="Arial" pitchFamily="34" charset="-122"/>
                <a:cs typeface="Arial" pitchFamily="34" charset="-120"/>
              </a:rPr>
              <a:t>pack で知識層を拡張する</a:t>
            </a:r>
            <a:endParaRPr lang="en-US" sz="1500" dirty="0"/>
          </a:p>
        </p:txBody>
      </p:sp>
      <p:sp>
        <p:nvSpPr>
          <p:cNvPr id="17" name="Text 15"/>
          <p:cNvSpPr txBox="1"/>
          <p:nvPr/>
        </p:nvSpPr>
        <p:spPr>
          <a:xfrm>
            <a:off x="8348472" y="2286000"/>
            <a:ext cx="3108960" cy="3108960"/>
          </a:xfrm>
          <a:prstGeom prst="rect">
            <a:avLst/>
          </a:prstGeom>
          <a:noFill/>
          <a:ln/>
        </p:spPr>
        <p:txBody>
          <a:bodyPr wrap="square" lIns="0" tIns="0" rIns="0" bIns="0" rtlCol="0" anchor="t"/>
          <a:lstStyle/>
          <a:p>
            <a:pPr indent="0" marL="0">
              <a:lnSpc>
                <a:spcPts val="2200"/>
              </a:lnSpc>
              <a:buNone/>
            </a:pPr>
            <a:r>
              <a:rPr lang="en-US" sz="1200" dirty="0">
                <a:solidFill>
                  <a:srgbClr val="5C6166"/>
                </a:solidFill>
                <a:latin typeface="Calibri" pitchFamily="34" charset="0"/>
                <a:ea typeface="Calibri" pitchFamily="34" charset="-122"/>
                <a:cs typeface="Calibri" pitchFamily="34" charset="-120"/>
              </a:rPr>
              <a:t>・知識層とは何か、なぜ二種類か</a:t>
            </a:r>
            <a:endParaRPr lang="en-US" sz="1200" dirty="0"/>
          </a:p>
          <a:p>
            <a:pPr indent="0" marL="0">
              <a:lnSpc>
                <a:spcPts val="2200"/>
              </a:lnSpc>
              <a:buNone/>
            </a:pPr>
            <a:r>
              <a:rPr lang="en-US" sz="1200" dirty="0">
                <a:solidFill>
                  <a:srgbClr val="5C6166"/>
                </a:solidFill>
                <a:latin typeface="Calibri" pitchFamily="34" charset="0"/>
                <a:ea typeface="Calibri" pitchFamily="34" charset="-122"/>
                <a:cs typeface="Calibri" pitchFamily="34" charset="-120"/>
              </a:rPr>
              <a:t>・wiki と inject、tier 解決</a:t>
            </a:r>
            <a:endParaRPr lang="en-US" sz="1200" dirty="0"/>
          </a:p>
          <a:p>
            <a:pPr indent="0" marL="0">
              <a:lnSpc>
                <a:spcPts val="2200"/>
              </a:lnSpc>
              <a:buNone/>
            </a:pPr>
            <a:r>
              <a:rPr lang="en-US" sz="1200" dirty="0">
                <a:solidFill>
                  <a:srgbClr val="5C6166"/>
                </a:solidFill>
                <a:latin typeface="Calibri" pitchFamily="34" charset="0"/>
                <a:ea typeface="Calibri" pitchFamily="34" charset="-122"/>
                <a:cs typeface="Calibri" pitchFamily="34" charset="-120"/>
              </a:rPr>
              <a:t>・pack の type ＝ 権限</a:t>
            </a:r>
            <a:endParaRPr lang="en-US" sz="1200" dirty="0"/>
          </a:p>
          <a:p>
            <a:pPr indent="0" marL="0">
              <a:lnSpc>
                <a:spcPts val="2200"/>
              </a:lnSpc>
              <a:buNone/>
            </a:pPr>
            <a:r>
              <a:rPr lang="en-US" sz="1200" dirty="0">
                <a:solidFill>
                  <a:srgbClr val="5C6166"/>
                </a:solidFill>
                <a:latin typeface="Calibri" pitchFamily="34" charset="0"/>
                <a:ea typeface="Calibri" pitchFamily="34" charset="-122"/>
                <a:cs typeface="Calibri" pitchFamily="34" charset="-120"/>
              </a:rPr>
              <a:t>・作る：init → sync → validate</a:t>
            </a:r>
            <a:endParaRPr lang="en-US" sz="1200" dirty="0"/>
          </a:p>
          <a:p>
            <a:pPr indent="0" marL="0">
              <a:lnSpc>
                <a:spcPts val="2200"/>
              </a:lnSpc>
              <a:buNone/>
            </a:pPr>
            <a:r>
              <a:rPr lang="en-US" sz="1200" dirty="0">
                <a:solidFill>
                  <a:srgbClr val="5C6166"/>
                </a:solidFill>
                <a:latin typeface="Calibri" pitchFamily="34" charset="0"/>
                <a:ea typeface="Calibri" pitchFamily="34" charset="-122"/>
                <a:cs typeface="Calibri" pitchFamily="34" charset="-120"/>
              </a:rPr>
              <a:t>・wiki が呼ぶ評価ゲート</a:t>
            </a:r>
            <a:endParaRPr lang="en-US" sz="1200" dirty="0"/>
          </a:p>
          <a:p>
            <a:pPr indent="0" marL="0">
              <a:lnSpc>
                <a:spcPts val="2200"/>
              </a:lnSpc>
              <a:buNone/>
            </a:pPr>
            <a:r>
              <a:rPr lang="en-US" sz="1200" dirty="0">
                <a:solidFill>
                  <a:srgbClr val="5C6166"/>
                </a:solidFill>
                <a:latin typeface="Calibri" pitchFamily="34" charset="0"/>
                <a:ea typeface="Calibri" pitchFamily="34" charset="-122"/>
                <a:cs typeface="Calibri" pitchFamily="34" charset="-120"/>
              </a:rPr>
              <a:t>・knowledge ブロックと検索</a:t>
            </a:r>
            <a:endParaRPr lang="en-US" sz="1200" dirty="0"/>
          </a:p>
          <a:p>
            <a:pPr indent="0" marL="0">
              <a:lnSpc>
                <a:spcPts val="2200"/>
              </a:lnSpc>
              <a:buNone/>
            </a:pPr>
            <a:r>
              <a:rPr lang="en-US" sz="1200" dirty="0">
                <a:solidFill>
                  <a:srgbClr val="5C6166"/>
                </a:solidFill>
                <a:latin typeface="Calibri" pitchFamily="34" charset="0"/>
                <a:ea typeface="Calibri" pitchFamily="34" charset="-122"/>
                <a:cs typeface="Calibri" pitchFamily="34" charset="-120"/>
              </a:rPr>
              <a:t>・配る：bundle / named source</a:t>
            </a:r>
            <a:endParaRPr lang="en-US" sz="1200" dirty="0"/>
          </a:p>
          <a:p>
            <a:pPr indent="0" marL="0">
              <a:lnSpc>
                <a:spcPts val="2200"/>
              </a:lnSpc>
              <a:buNone/>
            </a:pPr>
            <a:r>
              <a:rPr lang="en-US" sz="1200" dirty="0">
                <a:solidFill>
                  <a:srgbClr val="5C6166"/>
                </a:solidFill>
                <a:latin typeface="Calibri" pitchFamily="34" charset="0"/>
                <a:ea typeface="Calibri" pitchFamily="34" charset="-122"/>
                <a:cs typeface="Calibri" pitchFamily="34" charset="-120"/>
              </a:rPr>
              <a:t>・落とし穴と、明日からの順番</a:t>
            </a:r>
            <a:endParaRPr lang="en-US" sz="1200" dirty="0"/>
          </a:p>
        </p:txBody>
      </p:sp>
      <p:sp>
        <p:nvSpPr>
          <p:cNvPr id="18" name="Text 16"/>
          <p:cNvSpPr txBox="1"/>
          <p:nvPr/>
        </p:nvSpPr>
        <p:spPr>
          <a:xfrm>
            <a:off x="502920" y="5760720"/>
            <a:ext cx="11155680" cy="457200"/>
          </a:xfrm>
          <a:prstGeom prst="rect">
            <a:avLst/>
          </a:prstGeom>
          <a:noFill/>
          <a:ln/>
        </p:spPr>
        <p:txBody>
          <a:bodyPr wrap="square" lIns="0" tIns="0" rIns="0" bIns="0" rtlCol="0" anchor="ctr"/>
          <a:lstStyle/>
          <a:p>
            <a:pPr indent="0" marL="0">
              <a:buNone/>
            </a:pPr>
            <a:r>
              <a:rPr lang="en-US" sz="1050" dirty="0">
                <a:solidFill>
                  <a:srgbClr val="5C6166"/>
                </a:solidFill>
                <a:latin typeface="Calibri" pitchFamily="34" charset="0"/>
                <a:ea typeface="Calibri" pitchFamily="34" charset="-122"/>
                <a:cs typeface="Calibri" pitchFamily="34" charset="-120"/>
              </a:rPr>
              <a:t>この資料は rig リポジトリの一次資料だけを典拠にしています。仕様は発展中のため、厳密な引数は各コマンドの --help を正本としてください。</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はじめに · 01</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なぜ rig を作ったか</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502920" y="1298448"/>
            <a:ext cx="11155680" cy="914400"/>
          </a:xfrm>
          <a:prstGeom prst="roundRect">
            <a:avLst>
              <a:gd name="adj" fmla="val 6000"/>
            </a:avLst>
          </a:prstGeom>
          <a:solidFill>
            <a:srgbClr val="E7EFEB"/>
          </a:solidFill>
          <a:ln w="6350">
            <a:solidFill>
              <a:srgbClr val="E7EFEB"/>
            </a:solidFill>
            <a:prstDash val="solid"/>
          </a:ln>
          <a:effectLst>
            <a:outerShdw sx="100000" sy="100000" kx="0" ky="0" algn="bl" rotWithShape="0" blurRad="101600" dist="12700" dir="5400000">
              <a:srgbClr val="000000">
                <a:alpha val="10000"/>
              </a:srgbClr>
            </a:outerShdw>
          </a:effectLst>
        </p:spPr>
      </p:sp>
      <p:sp>
        <p:nvSpPr>
          <p:cNvPr id="7" name="Text 5"/>
          <p:cNvSpPr txBox="1"/>
          <p:nvPr/>
        </p:nvSpPr>
        <p:spPr>
          <a:xfrm>
            <a:off x="822960" y="1481328"/>
            <a:ext cx="10515600" cy="365760"/>
          </a:xfrm>
          <a:prstGeom prst="rect">
            <a:avLst/>
          </a:prstGeom>
          <a:noFill/>
          <a:ln/>
        </p:spPr>
        <p:txBody>
          <a:bodyPr wrap="square" lIns="0" tIns="0" rIns="0" bIns="0" rtlCol="0" anchor="ctr"/>
          <a:lstStyle/>
          <a:p>
            <a:pPr indent="0" marL="0">
              <a:buNone/>
            </a:pPr>
            <a:r>
              <a:rPr lang="en-US" sz="1700" b="1" dirty="0">
                <a:solidFill>
                  <a:srgbClr val="1C1C1C"/>
                </a:solidFill>
                <a:latin typeface="Arial" pitchFamily="34" charset="0"/>
                <a:ea typeface="Arial" pitchFamily="34" charset="-122"/>
                <a:cs typeface="Arial" pitchFamily="34" charset="-120"/>
              </a:rPr>
              <a:t>オーケストレータは「どう動かすか」を決める。rig は「その結果を受け入れてよいか」を決める。</a:t>
            </a:r>
            <a:endParaRPr lang="en-US" sz="1700" dirty="0"/>
          </a:p>
        </p:txBody>
      </p:sp>
      <p:sp>
        <p:nvSpPr>
          <p:cNvPr id="8" name="Text 6"/>
          <p:cNvSpPr txBox="1"/>
          <p:nvPr/>
        </p:nvSpPr>
        <p:spPr>
          <a:xfrm>
            <a:off x="822960" y="1865376"/>
            <a:ext cx="10515600" cy="274320"/>
          </a:xfrm>
          <a:prstGeom prst="rect">
            <a:avLst/>
          </a:prstGeom>
          <a:noFill/>
          <a:ln/>
        </p:spPr>
        <p:txBody>
          <a:bodyPr wrap="square" lIns="0" tIns="0" rIns="0" bIns="0" rtlCol="0" anchor="ctr"/>
          <a:lstStyle/>
          <a:p>
            <a:pPr indent="0" marL="0">
              <a:buNone/>
            </a:pPr>
            <a:r>
              <a:rPr lang="en-US" sz="1100" dirty="0">
                <a:solidFill>
                  <a:srgbClr val="5C6166"/>
                </a:solidFill>
                <a:latin typeface="Calibri" pitchFamily="34" charset="0"/>
                <a:ea typeface="Calibri" pitchFamily="34" charset="-122"/>
                <a:cs typeface="Calibri" pitchFamily="34" charset="-120"/>
              </a:rPr>
              <a:t>docs/landscape.md — この一行が、機能を足すかどうかの判断基準になっている。</a:t>
            </a:r>
            <a:endParaRPr lang="en-US" sz="1100" dirty="0"/>
          </a:p>
        </p:txBody>
      </p:sp>
      <p:sp>
        <p:nvSpPr>
          <p:cNvPr id="9" name="Text 7"/>
          <p:cNvSpPr txBox="1"/>
          <p:nvPr/>
        </p:nvSpPr>
        <p:spPr>
          <a:xfrm>
            <a:off x="502920" y="2450592"/>
            <a:ext cx="5486400" cy="256032"/>
          </a:xfrm>
          <a:prstGeom prst="rect">
            <a:avLst/>
          </a:prstGeom>
          <a:noFill/>
          <a:ln/>
        </p:spPr>
        <p:txBody>
          <a:bodyPr wrap="square" lIns="0" tIns="0" rIns="0" bIns="0" rtlCol="0" anchor="ctr"/>
          <a:lstStyle/>
          <a:p>
            <a:pPr indent="0" marL="0">
              <a:buNone/>
            </a:pPr>
            <a:r>
              <a:rPr lang="en-US" sz="1200" b="1" spc="50" kern="0" dirty="0">
                <a:solidFill>
                  <a:srgbClr val="1F6F5C"/>
                </a:solidFill>
                <a:latin typeface="Arial" pitchFamily="34" charset="0"/>
                <a:ea typeface="Arial" pitchFamily="34" charset="-122"/>
                <a:cs typeface="Arial" pitchFamily="34" charset="-120"/>
              </a:rPr>
              <a:t>出発点にあった三つの観測</a:t>
            </a:r>
            <a:endParaRPr lang="en-US" sz="1200" dirty="0"/>
          </a:p>
        </p:txBody>
      </p:sp>
      <p:sp>
        <p:nvSpPr>
          <p:cNvPr id="10" name="Shape 8"/>
          <p:cNvSpPr/>
          <p:nvPr/>
        </p:nvSpPr>
        <p:spPr>
          <a:xfrm>
            <a:off x="502920" y="2761488"/>
            <a:ext cx="5486400" cy="914400"/>
          </a:xfrm>
          <a:prstGeom prst="roundRect">
            <a:avLst>
              <a:gd name="adj" fmla="val 6000"/>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1" name="Shape 9"/>
          <p:cNvSpPr/>
          <p:nvPr/>
        </p:nvSpPr>
        <p:spPr>
          <a:xfrm>
            <a:off x="758952" y="2962656"/>
            <a:ext cx="384048" cy="384048"/>
          </a:xfrm>
          <a:prstGeom prst="ellipse">
            <a:avLst/>
          </a:prstGeom>
          <a:solidFill>
            <a:srgbClr val="1F6F5C"/>
          </a:solidFill>
          <a:ln w="12700">
            <a:solidFill>
              <a:srgbClr val="1F6F5C"/>
            </a:solidFill>
            <a:prstDash val="solid"/>
          </a:ln>
        </p:spPr>
      </p:sp>
      <p:sp>
        <p:nvSpPr>
          <p:cNvPr id="12" name="Text 10"/>
          <p:cNvSpPr txBox="1"/>
          <p:nvPr/>
        </p:nvSpPr>
        <p:spPr>
          <a:xfrm>
            <a:off x="758952" y="29626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3" name="Text 11"/>
          <p:cNvSpPr txBox="1"/>
          <p:nvPr/>
        </p:nvSpPr>
        <p:spPr>
          <a:xfrm>
            <a:off x="1289304" y="2980944"/>
            <a:ext cx="4443984" cy="320040"/>
          </a:xfrm>
          <a:prstGeom prst="rect">
            <a:avLst/>
          </a:prstGeom>
          <a:noFill/>
          <a:ln/>
        </p:spPr>
        <p:txBody>
          <a:bodyPr wrap="square" lIns="0" tIns="0" rIns="0" bIns="0" rtlCol="0" anchor="ctr"/>
          <a:lstStyle/>
          <a:p>
            <a:pPr indent="0" marL="0">
              <a:buNone/>
            </a:pPr>
            <a:r>
              <a:rPr lang="en-US" sz="1250" b="1" dirty="0">
                <a:solidFill>
                  <a:srgbClr val="1C1C1C"/>
                </a:solidFill>
                <a:latin typeface="Arial" pitchFamily="34" charset="0"/>
                <a:ea typeface="Arial" pitchFamily="34" charset="-122"/>
                <a:cs typeface="Arial" pitchFamily="34" charset="-120"/>
              </a:rPr>
              <a:t>書く速度だけが上がった</a:t>
            </a:r>
            <a:endParaRPr lang="en-US" sz="1250" dirty="0"/>
          </a:p>
        </p:txBody>
      </p:sp>
      <p:sp>
        <p:nvSpPr>
          <p:cNvPr id="14" name="Text 12"/>
          <p:cNvSpPr txBox="1"/>
          <p:nvPr/>
        </p:nvSpPr>
        <p:spPr>
          <a:xfrm>
            <a:off x="1289304" y="3328416"/>
            <a:ext cx="4443984" cy="182880"/>
          </a:xfrm>
          <a:prstGeom prst="rect">
            <a:avLst/>
          </a:prstGeom>
          <a:noFill/>
          <a:ln/>
        </p:spPr>
        <p:txBody>
          <a:bodyPr wrap="square" lIns="0" tIns="0" rIns="0" bIns="0" rtlCol="0" anchor="t"/>
          <a:lstStyle/>
          <a:p>
            <a:pPr indent="0" marL="0">
              <a:lnSpc>
                <a:spcPts val="1300"/>
              </a:lnSpc>
              <a:buNone/>
            </a:pPr>
            <a:r>
              <a:rPr lang="en-US" sz="1050" dirty="0">
                <a:solidFill>
                  <a:srgbClr val="5C6166"/>
                </a:solidFill>
                <a:latin typeface="Calibri" pitchFamily="34" charset="0"/>
                <a:ea typeface="Calibri" pitchFamily="34" charset="-122"/>
                <a:cs typeface="Calibri" pitchFamily="34" charset="-120"/>
              </a:rPr>
              <a:t>生成は速くなったが、その成果物を「受け入れてよいか」を判定する層は、人間の目視のままだった。</a:t>
            </a:r>
            <a:endParaRPr lang="en-US" sz="1050" dirty="0"/>
          </a:p>
        </p:txBody>
      </p:sp>
      <p:sp>
        <p:nvSpPr>
          <p:cNvPr id="15" name="Shape 13"/>
          <p:cNvSpPr/>
          <p:nvPr/>
        </p:nvSpPr>
        <p:spPr>
          <a:xfrm>
            <a:off x="502920" y="3794760"/>
            <a:ext cx="5486400" cy="914400"/>
          </a:xfrm>
          <a:prstGeom prst="roundRect">
            <a:avLst>
              <a:gd name="adj" fmla="val 6000"/>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6" name="Shape 14"/>
          <p:cNvSpPr/>
          <p:nvPr/>
        </p:nvSpPr>
        <p:spPr>
          <a:xfrm>
            <a:off x="758952" y="3995928"/>
            <a:ext cx="384048" cy="384048"/>
          </a:xfrm>
          <a:prstGeom prst="ellipse">
            <a:avLst/>
          </a:prstGeom>
          <a:solidFill>
            <a:srgbClr val="1F6F5C"/>
          </a:solidFill>
          <a:ln w="12700">
            <a:solidFill>
              <a:srgbClr val="1F6F5C"/>
            </a:solidFill>
            <a:prstDash val="solid"/>
          </a:ln>
        </p:spPr>
      </p:sp>
      <p:sp>
        <p:nvSpPr>
          <p:cNvPr id="17" name="Text 15"/>
          <p:cNvSpPr txBox="1"/>
          <p:nvPr/>
        </p:nvSpPr>
        <p:spPr>
          <a:xfrm>
            <a:off x="758952" y="399592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8" name="Text 16"/>
          <p:cNvSpPr txBox="1"/>
          <p:nvPr/>
        </p:nvSpPr>
        <p:spPr>
          <a:xfrm>
            <a:off x="1289304" y="4014216"/>
            <a:ext cx="4443984" cy="320040"/>
          </a:xfrm>
          <a:prstGeom prst="rect">
            <a:avLst/>
          </a:prstGeom>
          <a:noFill/>
          <a:ln/>
        </p:spPr>
        <p:txBody>
          <a:bodyPr wrap="square" lIns="0" tIns="0" rIns="0" bIns="0" rtlCol="0" anchor="ctr"/>
          <a:lstStyle/>
          <a:p>
            <a:pPr indent="0" marL="0">
              <a:buNone/>
            </a:pPr>
            <a:r>
              <a:rPr lang="en-US" sz="1250" b="1" dirty="0">
                <a:solidFill>
                  <a:srgbClr val="1C1C1C"/>
                </a:solidFill>
                <a:latin typeface="Arial" pitchFamily="34" charset="0"/>
                <a:ea typeface="Arial" pitchFamily="34" charset="-122"/>
                <a:cs typeface="Arial" pitchFamily="34" charset="-120"/>
              </a:rPr>
              <a:t>「できました」に根拠がない</a:t>
            </a:r>
            <a:endParaRPr lang="en-US" sz="1250" dirty="0"/>
          </a:p>
        </p:txBody>
      </p:sp>
      <p:sp>
        <p:nvSpPr>
          <p:cNvPr id="19" name="Text 17"/>
          <p:cNvSpPr txBox="1"/>
          <p:nvPr/>
        </p:nvSpPr>
        <p:spPr>
          <a:xfrm>
            <a:off x="1289304" y="4361688"/>
            <a:ext cx="4443984" cy="182880"/>
          </a:xfrm>
          <a:prstGeom prst="rect">
            <a:avLst/>
          </a:prstGeom>
          <a:noFill/>
          <a:ln/>
        </p:spPr>
        <p:txBody>
          <a:bodyPr wrap="square" lIns="0" tIns="0" rIns="0" bIns="0" rtlCol="0" anchor="t"/>
          <a:lstStyle/>
          <a:p>
            <a:pPr indent="0" marL="0">
              <a:lnSpc>
                <a:spcPts val="1300"/>
              </a:lnSpc>
              <a:buNone/>
            </a:pPr>
            <a:r>
              <a:rPr lang="en-US" sz="1050" dirty="0">
                <a:solidFill>
                  <a:srgbClr val="5C6166"/>
                </a:solidFill>
                <a:latin typeface="Calibri" pitchFamily="34" charset="0"/>
                <a:ea typeface="Calibri" pitchFamily="34" charset="-122"/>
                <a:cs typeface="Calibri" pitchFamily="34" charset="-120"/>
              </a:rPr>
              <a:t>モデルの自己申告は完了の根拠にならない。だが実務では、それ以外に判断材料がない状態が普通だった。</a:t>
            </a:r>
            <a:endParaRPr lang="en-US" sz="1050" dirty="0"/>
          </a:p>
        </p:txBody>
      </p:sp>
      <p:sp>
        <p:nvSpPr>
          <p:cNvPr id="20" name="Shape 18"/>
          <p:cNvSpPr/>
          <p:nvPr/>
        </p:nvSpPr>
        <p:spPr>
          <a:xfrm>
            <a:off x="502920" y="4828032"/>
            <a:ext cx="5486400" cy="914400"/>
          </a:xfrm>
          <a:prstGeom prst="roundRect">
            <a:avLst>
              <a:gd name="adj" fmla="val 6000"/>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21" name="Shape 19"/>
          <p:cNvSpPr/>
          <p:nvPr/>
        </p:nvSpPr>
        <p:spPr>
          <a:xfrm>
            <a:off x="758952" y="5029200"/>
            <a:ext cx="384048" cy="384048"/>
          </a:xfrm>
          <a:prstGeom prst="ellipse">
            <a:avLst/>
          </a:prstGeom>
          <a:solidFill>
            <a:srgbClr val="1F6F5C"/>
          </a:solidFill>
          <a:ln w="12700">
            <a:solidFill>
              <a:srgbClr val="1F6F5C"/>
            </a:solidFill>
            <a:prstDash val="solid"/>
          </a:ln>
        </p:spPr>
      </p:sp>
      <p:sp>
        <p:nvSpPr>
          <p:cNvPr id="22" name="Text 20"/>
          <p:cNvSpPr txBox="1"/>
          <p:nvPr/>
        </p:nvSpPr>
        <p:spPr>
          <a:xfrm>
            <a:off x="758952" y="5029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3" name="Text 21"/>
          <p:cNvSpPr txBox="1"/>
          <p:nvPr/>
        </p:nvSpPr>
        <p:spPr>
          <a:xfrm>
            <a:off x="1289304" y="5047488"/>
            <a:ext cx="4443984" cy="320040"/>
          </a:xfrm>
          <a:prstGeom prst="rect">
            <a:avLst/>
          </a:prstGeom>
          <a:noFill/>
          <a:ln/>
        </p:spPr>
        <p:txBody>
          <a:bodyPr wrap="square" lIns="0" tIns="0" rIns="0" bIns="0" rtlCol="0" anchor="ctr"/>
          <a:lstStyle/>
          <a:p>
            <a:pPr indent="0" marL="0">
              <a:buNone/>
            </a:pPr>
            <a:r>
              <a:rPr lang="en-US" sz="1250" b="1" dirty="0">
                <a:solidFill>
                  <a:srgbClr val="1C1C1C"/>
                </a:solidFill>
                <a:latin typeface="Arial" pitchFamily="34" charset="0"/>
                <a:ea typeface="Arial" pitchFamily="34" charset="-122"/>
                <a:cs typeface="Arial" pitchFamily="34" charset="-120"/>
              </a:rPr>
              <a:t>失敗が手元に残る</a:t>
            </a:r>
            <a:endParaRPr lang="en-US" sz="1250" dirty="0"/>
          </a:p>
        </p:txBody>
      </p:sp>
      <p:sp>
        <p:nvSpPr>
          <p:cNvPr id="24" name="Text 22"/>
          <p:cNvSpPr txBox="1"/>
          <p:nvPr/>
        </p:nvSpPr>
        <p:spPr>
          <a:xfrm>
            <a:off x="1289304" y="5394960"/>
            <a:ext cx="4443984" cy="182880"/>
          </a:xfrm>
          <a:prstGeom prst="rect">
            <a:avLst/>
          </a:prstGeom>
          <a:noFill/>
          <a:ln/>
        </p:spPr>
        <p:txBody>
          <a:bodyPr wrap="square" lIns="0" tIns="0" rIns="0" bIns="0" rtlCol="0" anchor="t"/>
          <a:lstStyle/>
          <a:p>
            <a:pPr indent="0" marL="0">
              <a:lnSpc>
                <a:spcPts val="1300"/>
              </a:lnSpc>
              <a:buNone/>
            </a:pPr>
            <a:r>
              <a:rPr lang="en-US" sz="1050" dirty="0">
                <a:solidFill>
                  <a:srgbClr val="5C6166"/>
                </a:solidFill>
                <a:latin typeface="Calibri" pitchFamily="34" charset="0"/>
                <a:ea typeface="Calibri" pitchFamily="34" charset="-122"/>
                <a:cs typeface="Calibri" pitchFamily="34" charset="-120"/>
              </a:rPr>
              <a:t>うまくいかなかった試行が作業ツリーに混ざる。何を捨てて何を残すかの判断自体がコストになる。</a:t>
            </a:r>
            <a:endParaRPr lang="en-US" sz="1050" dirty="0"/>
          </a:p>
        </p:txBody>
      </p:sp>
      <p:sp>
        <p:nvSpPr>
          <p:cNvPr id="25" name="Shape 23"/>
          <p:cNvSpPr/>
          <p:nvPr/>
        </p:nvSpPr>
        <p:spPr>
          <a:xfrm>
            <a:off x="6355080" y="2761488"/>
            <a:ext cx="5486400" cy="1554480"/>
          </a:xfrm>
          <a:prstGeom prst="roundRect">
            <a:avLst>
              <a:gd name="adj" fmla="val 3529"/>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26" name="Text 24"/>
          <p:cNvSpPr txBox="1"/>
          <p:nvPr/>
        </p:nvSpPr>
        <p:spPr>
          <a:xfrm>
            <a:off x="6611112" y="2944368"/>
            <a:ext cx="497433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だから rig が引き受けたのは、一箇所だけ</a:t>
            </a:r>
            <a:endParaRPr lang="en-US" sz="1400" dirty="0"/>
          </a:p>
        </p:txBody>
      </p:sp>
      <p:sp>
        <p:nvSpPr>
          <p:cNvPr id="27" name="Text 25"/>
          <p:cNvSpPr txBox="1"/>
          <p:nvPr/>
        </p:nvSpPr>
        <p:spPr>
          <a:xfrm>
            <a:off x="6611112" y="3328416"/>
            <a:ext cx="4974336" cy="822960"/>
          </a:xfrm>
          <a:prstGeom prst="rect">
            <a:avLst/>
          </a:prstGeom>
          <a:noFill/>
          <a:ln/>
        </p:spPr>
        <p:txBody>
          <a:bodyPr wrap="square" lIns="0" tIns="0" rIns="0" bIns="0" rtlCol="0" anchor="t"/>
          <a:lstStyle/>
          <a:p>
            <a:pPr indent="0" marL="0">
              <a:lnSpc>
                <a:spcPts val="1600"/>
              </a:lnSpc>
              <a:buNone/>
            </a:pPr>
            <a:r>
              <a:rPr lang="en-US" sz="1150" dirty="0">
                <a:solidFill>
                  <a:srgbClr val="5C6166"/>
                </a:solidFill>
                <a:latin typeface="Calibri" pitchFamily="34" charset="0"/>
                <a:ea typeface="Calibri" pitchFamily="34" charset="-122"/>
                <a:cs typeface="Calibri" pitchFamily="34" charset="-120"/>
              </a:rPr>
              <a:t>受け入れの判定を、人間の目視から機械の関門へ移すこと。速く書かせることでも、賢く書かせることでもない。</a:t>
            </a:r>
            <a:endParaRPr lang="en-US" sz="1150" dirty="0"/>
          </a:p>
        </p:txBody>
      </p:sp>
      <p:sp>
        <p:nvSpPr>
          <p:cNvPr id="28" name="Shape 26"/>
          <p:cNvSpPr/>
          <p:nvPr/>
        </p:nvSpPr>
        <p:spPr>
          <a:xfrm>
            <a:off x="6355080" y="4480560"/>
            <a:ext cx="5486400" cy="1325880"/>
          </a:xfrm>
          <a:prstGeom prst="roundRect">
            <a:avLst>
              <a:gd name="adj" fmla="val 4138"/>
            </a:avLst>
          </a:prstGeom>
          <a:solidFill>
            <a:srgbClr val="F3EAE6"/>
          </a:solidFill>
          <a:ln w="6350">
            <a:solidFill>
              <a:srgbClr val="F3EAE6"/>
            </a:solidFill>
            <a:prstDash val="solid"/>
          </a:ln>
          <a:effectLst>
            <a:outerShdw sx="100000" sy="100000" kx="0" ky="0" algn="bl" rotWithShape="0" blurRad="101600" dist="12700" dir="5400000">
              <a:srgbClr val="000000">
                <a:alpha val="10000"/>
              </a:srgbClr>
            </a:outerShdw>
          </a:effectLst>
        </p:spPr>
      </p:sp>
      <p:sp>
        <p:nvSpPr>
          <p:cNvPr id="29" name="Text 27"/>
          <p:cNvSpPr txBox="1"/>
          <p:nvPr/>
        </p:nvSpPr>
        <p:spPr>
          <a:xfrm>
            <a:off x="6611112" y="4663440"/>
            <a:ext cx="4974336" cy="320040"/>
          </a:xfrm>
          <a:prstGeom prst="rect">
            <a:avLst/>
          </a:prstGeom>
          <a:noFill/>
          <a:ln/>
        </p:spPr>
        <p:txBody>
          <a:bodyPr wrap="square" lIns="0" tIns="0" rIns="0" bIns="0" rtlCol="0" anchor="ctr"/>
          <a:lstStyle/>
          <a:p>
            <a:pPr indent="0" marL="0">
              <a:buNone/>
            </a:pPr>
            <a:r>
              <a:rPr lang="en-US" sz="1400" b="1" dirty="0">
                <a:solidFill>
                  <a:srgbClr val="A33A21"/>
                </a:solidFill>
                <a:latin typeface="Arial" pitchFamily="34" charset="0"/>
                <a:ea typeface="Arial" pitchFamily="34" charset="-122"/>
                <a:cs typeface="Arial" pitchFamily="34" charset="-120"/>
              </a:rPr>
              <a:t>裏返して言うと</a:t>
            </a:r>
            <a:endParaRPr lang="en-US" sz="1400" dirty="0"/>
          </a:p>
        </p:txBody>
      </p:sp>
      <p:sp>
        <p:nvSpPr>
          <p:cNvPr id="30" name="Text 28"/>
          <p:cNvSpPr txBox="1"/>
          <p:nvPr/>
        </p:nvSpPr>
        <p:spPr>
          <a:xfrm>
            <a:off x="6611112" y="5047488"/>
            <a:ext cx="4974336" cy="594360"/>
          </a:xfrm>
          <a:prstGeom prst="rect">
            <a:avLst/>
          </a:prstGeom>
          <a:noFill/>
          <a:ln/>
        </p:spPr>
        <p:txBody>
          <a:bodyPr wrap="square" lIns="0" tIns="0" rIns="0" bIns="0" rtlCol="0" anchor="t"/>
          <a:lstStyle/>
          <a:p>
            <a:pPr indent="0" marL="0">
              <a:lnSpc>
                <a:spcPts val="1600"/>
              </a:lnSpc>
              <a:buNone/>
            </a:pPr>
            <a:r>
              <a:rPr lang="en-US" sz="1150" dirty="0">
                <a:solidFill>
                  <a:srgbClr val="5C6166"/>
                </a:solidFill>
                <a:latin typeface="Calibri" pitchFamily="34" charset="0"/>
                <a:ea typeface="Calibri" pitchFamily="34" charset="-122"/>
                <a:cs typeface="Calibri" pitchFamily="34" charset="-120"/>
              </a:rPr>
              <a:t>rig は品質を自動的に生まない。あなたが定義した基準を、AI に無視させないだけ。基準を作るのは人間の仕事のまま。</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はじめに · 02</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よくある AI 活用の四つの型と、そこで起きること</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502920" y="1298448"/>
            <a:ext cx="5486400" cy="1600200"/>
          </a:xfrm>
          <a:prstGeom prst="roundRect">
            <a:avLst>
              <a:gd name="adj" fmla="val 3429"/>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7" name="Shape 5"/>
          <p:cNvSpPr/>
          <p:nvPr/>
        </p:nvSpPr>
        <p:spPr>
          <a:xfrm>
            <a:off x="758952" y="1499616"/>
            <a:ext cx="384048" cy="384048"/>
          </a:xfrm>
          <a:prstGeom prst="ellipse">
            <a:avLst/>
          </a:prstGeom>
          <a:solidFill>
            <a:srgbClr val="1F6F5C"/>
          </a:solidFill>
          <a:ln w="12700">
            <a:solidFill>
              <a:srgbClr val="1F6F5C"/>
            </a:solidFill>
            <a:prstDash val="solid"/>
          </a:ln>
        </p:spPr>
      </p:sp>
      <p:sp>
        <p:nvSpPr>
          <p:cNvPr id="8" name="Text 6"/>
          <p:cNvSpPr txBox="1"/>
          <p:nvPr/>
        </p:nvSpPr>
        <p:spPr>
          <a:xfrm>
            <a:off x="758952"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89304" y="1517904"/>
            <a:ext cx="4443984" cy="320040"/>
          </a:xfrm>
          <a:prstGeom prst="rect">
            <a:avLst/>
          </a:prstGeom>
          <a:noFill/>
          <a:ln/>
        </p:spPr>
        <p:txBody>
          <a:bodyPr wrap="square" lIns="0" tIns="0" rIns="0" bIns="0" rtlCol="0" anchor="ctr"/>
          <a:lstStyle/>
          <a:p>
            <a:pPr indent="0" marL="0">
              <a:buNone/>
            </a:pPr>
            <a:r>
              <a:rPr lang="en-US" sz="1250" b="1" dirty="0">
                <a:solidFill>
                  <a:srgbClr val="1C1C1C"/>
                </a:solidFill>
                <a:latin typeface="Arial" pitchFamily="34" charset="0"/>
                <a:ea typeface="Arial" pitchFamily="34" charset="-122"/>
                <a:cs typeface="Arial" pitchFamily="34" charset="-120"/>
              </a:rPr>
              <a:t>チャットに貼って、返ってきたコードを貼り戻す</a:t>
            </a:r>
            <a:endParaRPr lang="en-US" sz="1250" dirty="0"/>
          </a:p>
        </p:txBody>
      </p:sp>
      <p:sp>
        <p:nvSpPr>
          <p:cNvPr id="10" name="Text 8"/>
          <p:cNvSpPr txBox="1"/>
          <p:nvPr/>
        </p:nvSpPr>
        <p:spPr>
          <a:xfrm>
            <a:off x="1289304" y="1865376"/>
            <a:ext cx="4443984" cy="868680"/>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差分の出所が消える。どこを変えたかは人間の記憶にしかなく、無関係な変更が混ざっても検出する場所がない。</a:t>
            </a:r>
            <a:endParaRPr lang="en-US" sz="1100" dirty="0"/>
          </a:p>
        </p:txBody>
      </p:sp>
      <p:sp>
        <p:nvSpPr>
          <p:cNvPr id="11" name="Shape 9"/>
          <p:cNvSpPr/>
          <p:nvPr/>
        </p:nvSpPr>
        <p:spPr>
          <a:xfrm>
            <a:off x="6355080" y="1298448"/>
            <a:ext cx="5486400" cy="1600200"/>
          </a:xfrm>
          <a:prstGeom prst="roundRect">
            <a:avLst>
              <a:gd name="adj" fmla="val 3429"/>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2" name="Shape 10"/>
          <p:cNvSpPr/>
          <p:nvPr/>
        </p:nvSpPr>
        <p:spPr>
          <a:xfrm>
            <a:off x="6611112" y="1499616"/>
            <a:ext cx="384048" cy="384048"/>
          </a:xfrm>
          <a:prstGeom prst="ellipse">
            <a:avLst/>
          </a:prstGeom>
          <a:solidFill>
            <a:srgbClr val="1F6F5C"/>
          </a:solidFill>
          <a:ln w="12700">
            <a:solidFill>
              <a:srgbClr val="1F6F5C"/>
            </a:solidFill>
            <a:prstDash val="solid"/>
          </a:ln>
        </p:spPr>
      </p:sp>
      <p:sp>
        <p:nvSpPr>
          <p:cNvPr id="13" name="Text 11"/>
          <p:cNvSpPr txBox="1"/>
          <p:nvPr/>
        </p:nvSpPr>
        <p:spPr>
          <a:xfrm>
            <a:off x="6611112"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7141464" y="1517904"/>
            <a:ext cx="4443984" cy="320040"/>
          </a:xfrm>
          <a:prstGeom prst="rect">
            <a:avLst/>
          </a:prstGeom>
          <a:noFill/>
          <a:ln/>
        </p:spPr>
        <p:txBody>
          <a:bodyPr wrap="square" lIns="0" tIns="0" rIns="0" bIns="0" rtlCol="0" anchor="ctr"/>
          <a:lstStyle/>
          <a:p>
            <a:pPr indent="0" marL="0">
              <a:buNone/>
            </a:pPr>
            <a:r>
              <a:rPr lang="en-US" sz="1250" b="1" dirty="0">
                <a:solidFill>
                  <a:srgbClr val="1C1C1C"/>
                </a:solidFill>
                <a:latin typeface="Arial" pitchFamily="34" charset="0"/>
                <a:ea typeface="Arial" pitchFamily="34" charset="-122"/>
                <a:cs typeface="Arial" pitchFamily="34" charset="-120"/>
              </a:rPr>
              <a:t>エージェントに作業ツリーへ直接書かせる</a:t>
            </a:r>
            <a:endParaRPr lang="en-US" sz="1250" dirty="0"/>
          </a:p>
        </p:txBody>
      </p:sp>
      <p:sp>
        <p:nvSpPr>
          <p:cNvPr id="15" name="Text 13"/>
          <p:cNvSpPr txBox="1"/>
          <p:nvPr/>
        </p:nvSpPr>
        <p:spPr>
          <a:xfrm>
            <a:off x="7141464" y="1865376"/>
            <a:ext cx="4443984" cy="868680"/>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失敗した試行がそのまま手元に残る。機械的なチェックを誰も配線していなければ、そのチェックは構造的に一度も走らない。</a:t>
            </a:r>
            <a:endParaRPr lang="en-US" sz="1100" dirty="0"/>
          </a:p>
        </p:txBody>
      </p:sp>
      <p:sp>
        <p:nvSpPr>
          <p:cNvPr id="16" name="Shape 14"/>
          <p:cNvSpPr/>
          <p:nvPr/>
        </p:nvSpPr>
        <p:spPr>
          <a:xfrm>
            <a:off x="502920" y="3081528"/>
            <a:ext cx="5486400" cy="1600200"/>
          </a:xfrm>
          <a:prstGeom prst="roundRect">
            <a:avLst>
              <a:gd name="adj" fmla="val 3429"/>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7" name="Shape 15"/>
          <p:cNvSpPr/>
          <p:nvPr/>
        </p:nvSpPr>
        <p:spPr>
          <a:xfrm>
            <a:off x="758952" y="3282696"/>
            <a:ext cx="384048" cy="384048"/>
          </a:xfrm>
          <a:prstGeom prst="ellipse">
            <a:avLst/>
          </a:prstGeom>
          <a:solidFill>
            <a:srgbClr val="1F6F5C"/>
          </a:solidFill>
          <a:ln w="12700">
            <a:solidFill>
              <a:srgbClr val="1F6F5C"/>
            </a:solidFill>
            <a:prstDash val="solid"/>
          </a:ln>
        </p:spPr>
      </p:sp>
      <p:sp>
        <p:nvSpPr>
          <p:cNvPr id="18" name="Text 16"/>
          <p:cNvSpPr txBox="1"/>
          <p:nvPr/>
        </p:nvSpPr>
        <p:spPr>
          <a:xfrm>
            <a:off x="758952" y="328269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89304" y="3300984"/>
            <a:ext cx="4443984" cy="320040"/>
          </a:xfrm>
          <a:prstGeom prst="rect">
            <a:avLst/>
          </a:prstGeom>
          <a:noFill/>
          <a:ln/>
        </p:spPr>
        <p:txBody>
          <a:bodyPr wrap="square" lIns="0" tIns="0" rIns="0" bIns="0" rtlCol="0" anchor="ctr"/>
          <a:lstStyle/>
          <a:p>
            <a:pPr indent="0" marL="0">
              <a:buNone/>
            </a:pPr>
            <a:r>
              <a:rPr lang="en-US" sz="1250" b="1" dirty="0">
                <a:solidFill>
                  <a:srgbClr val="1C1C1C"/>
                </a:solidFill>
                <a:latin typeface="Arial" pitchFamily="34" charset="0"/>
                <a:ea typeface="Arial" pitchFamily="34" charset="-122"/>
                <a:cs typeface="Arial" pitchFamily="34" charset="-120"/>
              </a:rPr>
              <a:t>CLAUDE.md や AGENTS.md にルールを書く</a:t>
            </a:r>
            <a:endParaRPr lang="en-US" sz="1250" dirty="0"/>
          </a:p>
        </p:txBody>
      </p:sp>
      <p:sp>
        <p:nvSpPr>
          <p:cNvPr id="20" name="Text 18"/>
          <p:cNvSpPr txBox="1"/>
          <p:nvPr/>
        </p:nvSpPr>
        <p:spPr>
          <a:xfrm>
            <a:off x="1289304" y="3648456"/>
            <a:ext cx="4443984" cy="868680"/>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prose の依頼は守られないことがある。「テストを実行して」と書くことと、hook で毎回強制することの信頼性は段違い。</a:t>
            </a:r>
            <a:endParaRPr lang="en-US" sz="1100" dirty="0"/>
          </a:p>
        </p:txBody>
      </p:sp>
      <p:sp>
        <p:nvSpPr>
          <p:cNvPr id="21" name="Shape 19"/>
          <p:cNvSpPr/>
          <p:nvPr/>
        </p:nvSpPr>
        <p:spPr>
          <a:xfrm>
            <a:off x="6355080" y="3081528"/>
            <a:ext cx="5486400" cy="1600200"/>
          </a:xfrm>
          <a:prstGeom prst="roundRect">
            <a:avLst>
              <a:gd name="adj" fmla="val 3429"/>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22" name="Shape 20"/>
          <p:cNvSpPr/>
          <p:nvPr/>
        </p:nvSpPr>
        <p:spPr>
          <a:xfrm>
            <a:off x="6611112" y="3282696"/>
            <a:ext cx="384048" cy="384048"/>
          </a:xfrm>
          <a:prstGeom prst="ellipse">
            <a:avLst/>
          </a:prstGeom>
          <a:solidFill>
            <a:srgbClr val="1F6F5C"/>
          </a:solidFill>
          <a:ln w="12700">
            <a:solidFill>
              <a:srgbClr val="1F6F5C"/>
            </a:solidFill>
            <a:prstDash val="solid"/>
          </a:ln>
        </p:spPr>
      </p:sp>
      <p:sp>
        <p:nvSpPr>
          <p:cNvPr id="23" name="Text 21"/>
          <p:cNvSpPr txBox="1"/>
          <p:nvPr/>
        </p:nvSpPr>
        <p:spPr>
          <a:xfrm>
            <a:off x="6611112" y="328269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7141464" y="3300984"/>
            <a:ext cx="4443984" cy="320040"/>
          </a:xfrm>
          <a:prstGeom prst="rect">
            <a:avLst/>
          </a:prstGeom>
          <a:noFill/>
          <a:ln/>
        </p:spPr>
        <p:txBody>
          <a:bodyPr wrap="square" lIns="0" tIns="0" rIns="0" bIns="0" rtlCol="0" anchor="ctr"/>
          <a:lstStyle/>
          <a:p>
            <a:pPr indent="0" marL="0">
              <a:buNone/>
            </a:pPr>
            <a:r>
              <a:rPr lang="en-US" sz="1250" b="1" dirty="0">
                <a:solidFill>
                  <a:srgbClr val="1C1C1C"/>
                </a:solidFill>
                <a:latin typeface="Arial" pitchFamily="34" charset="0"/>
                <a:ea typeface="Arial" pitchFamily="34" charset="-122"/>
                <a:cs typeface="Arial" pitchFamily="34" charset="-120"/>
              </a:rPr>
              <a:t>AI にレビューさせる</a:t>
            </a:r>
            <a:endParaRPr lang="en-US" sz="1250" dirty="0"/>
          </a:p>
        </p:txBody>
      </p:sp>
      <p:sp>
        <p:nvSpPr>
          <p:cNvPr id="25" name="Text 23"/>
          <p:cNvSpPr txBox="1"/>
          <p:nvPr/>
        </p:nvSpPr>
        <p:spPr>
          <a:xfrm>
            <a:off x="7141464" y="3648456"/>
            <a:ext cx="4443984" cy="868680"/>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生成者と採点者が同系統だと自己評価に甘くなる。しかもそのレビュアーの検出率を、誰も測っていない。</a:t>
            </a:r>
            <a:endParaRPr lang="en-US" sz="1100" dirty="0"/>
          </a:p>
        </p:txBody>
      </p:sp>
      <p:sp>
        <p:nvSpPr>
          <p:cNvPr id="26" name="Shape 24"/>
          <p:cNvSpPr/>
          <p:nvPr/>
        </p:nvSpPr>
        <p:spPr>
          <a:xfrm>
            <a:off x="502920" y="4892040"/>
            <a:ext cx="11155680" cy="960120"/>
          </a:xfrm>
          <a:prstGeom prst="roundRect">
            <a:avLst>
              <a:gd name="adj" fmla="val 5714"/>
            </a:avLst>
          </a:prstGeom>
          <a:solidFill>
            <a:srgbClr val="F3EAE6"/>
          </a:solidFill>
          <a:ln w="6350">
            <a:solidFill>
              <a:srgbClr val="F3EAE6"/>
            </a:solidFill>
            <a:prstDash val="solid"/>
          </a:ln>
          <a:effectLst>
            <a:outerShdw sx="100000" sy="100000" kx="0" ky="0" algn="bl" rotWithShape="0" blurRad="101600" dist="12700" dir="5400000">
              <a:srgbClr val="000000">
                <a:alpha val="10000"/>
              </a:srgbClr>
            </a:outerShdw>
          </a:effectLst>
        </p:spPr>
      </p:sp>
      <p:sp>
        <p:nvSpPr>
          <p:cNvPr id="27" name="Text 25"/>
          <p:cNvSpPr txBox="1"/>
          <p:nvPr/>
        </p:nvSpPr>
        <p:spPr>
          <a:xfrm>
            <a:off x="758952" y="5074920"/>
            <a:ext cx="10643616" cy="320040"/>
          </a:xfrm>
          <a:prstGeom prst="rect">
            <a:avLst/>
          </a:prstGeom>
          <a:noFill/>
          <a:ln/>
        </p:spPr>
        <p:txBody>
          <a:bodyPr wrap="square" lIns="0" tIns="0" rIns="0" bIns="0" rtlCol="0" anchor="ctr"/>
          <a:lstStyle/>
          <a:p>
            <a:pPr indent="0" marL="0">
              <a:buNone/>
            </a:pPr>
            <a:r>
              <a:rPr lang="en-US" sz="1400" b="1" dirty="0">
                <a:solidFill>
                  <a:srgbClr val="A33A21"/>
                </a:solidFill>
                <a:latin typeface="Arial" pitchFamily="34" charset="0"/>
                <a:ea typeface="Arial" pitchFamily="34" charset="-122"/>
                <a:cs typeface="Arial" pitchFamily="34" charset="-120"/>
              </a:rPr>
              <a:t>四つに共通するのは「悪いことが起きた」ではなく、「起きたかどうかが分からない」こと</a:t>
            </a:r>
            <a:endParaRPr lang="en-US" sz="1400" dirty="0"/>
          </a:p>
        </p:txBody>
      </p:sp>
      <p:sp>
        <p:nvSpPr>
          <p:cNvPr id="28" name="Text 26"/>
          <p:cNvSpPr txBox="1"/>
          <p:nvPr/>
        </p:nvSpPr>
        <p:spPr>
          <a:xfrm>
            <a:off x="758952" y="5458968"/>
            <a:ext cx="10643616" cy="228600"/>
          </a:xfrm>
          <a:prstGeom prst="rect">
            <a:avLst/>
          </a:prstGeom>
          <a:noFill/>
          <a:ln/>
        </p:spPr>
        <p:txBody>
          <a:bodyPr wrap="square" lIns="0" tIns="0" rIns="0" bIns="0" rtlCol="0" anchor="t"/>
          <a:lstStyle/>
          <a:p>
            <a:pPr indent="0" marL="0">
              <a:lnSpc>
                <a:spcPts val="1500"/>
              </a:lnSpc>
              <a:buNone/>
            </a:pPr>
            <a:r>
              <a:rPr lang="en-US" sz="1150" dirty="0">
                <a:solidFill>
                  <a:srgbClr val="5C6166"/>
                </a:solidFill>
                <a:latin typeface="Calibri" pitchFamily="34" charset="0"/>
                <a:ea typeface="Calibri" pitchFamily="34" charset="-122"/>
                <a:cs typeface="Calibri" pitchFamily="34" charset="-120"/>
              </a:rPr>
              <a:t>どれも普通に成果を出す。問題は失敗率ではなく、失敗したときに誰も気づかないまま次へ進む構造のほうにある。</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はじめに · 03</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症状の根っこ — 開きやすい穴は四つ（重い順）</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5</a:t>
            </a:r>
            <a:endParaRPr lang="en-US" sz="900" dirty="0"/>
          </a:p>
        </p:txBody>
      </p:sp>
      <p:sp>
        <p:nvSpPr>
          <p:cNvPr id="6" name="Shape 4"/>
          <p:cNvSpPr/>
          <p:nvPr/>
        </p:nvSpPr>
        <p:spPr>
          <a:xfrm>
            <a:off x="502920" y="1298448"/>
            <a:ext cx="11155680" cy="1024128"/>
          </a:xfrm>
          <a:prstGeom prst="roundRect">
            <a:avLst>
              <a:gd name="adj" fmla="val 5357"/>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7" name="Shape 5"/>
          <p:cNvSpPr/>
          <p:nvPr/>
        </p:nvSpPr>
        <p:spPr>
          <a:xfrm>
            <a:off x="758952" y="1499616"/>
            <a:ext cx="384048" cy="384048"/>
          </a:xfrm>
          <a:prstGeom prst="ellipse">
            <a:avLst/>
          </a:prstGeom>
          <a:solidFill>
            <a:srgbClr val="A33A21"/>
          </a:solidFill>
          <a:ln w="12700">
            <a:solidFill>
              <a:srgbClr val="A33A21"/>
            </a:solidFill>
            <a:prstDash val="solid"/>
          </a:ln>
        </p:spPr>
      </p:sp>
      <p:sp>
        <p:nvSpPr>
          <p:cNvPr id="8" name="Text 6"/>
          <p:cNvSpPr txBox="1"/>
          <p:nvPr/>
        </p:nvSpPr>
        <p:spPr>
          <a:xfrm>
            <a:off x="758952"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89304" y="1517904"/>
            <a:ext cx="10113264" cy="320040"/>
          </a:xfrm>
          <a:prstGeom prst="rect">
            <a:avLst/>
          </a:prstGeom>
          <a:noFill/>
          <a:ln/>
        </p:spPr>
        <p:txBody>
          <a:bodyPr wrap="square" lIns="0" tIns="0" rIns="0" bIns="0" rtlCol="0" anchor="ctr"/>
          <a:lstStyle/>
          <a:p>
            <a:pPr indent="0" marL="0">
              <a:buNone/>
            </a:pPr>
            <a:r>
              <a:rPr lang="en-US" sz="1300" b="1" dirty="0">
                <a:solidFill>
                  <a:srgbClr val="1C1C1C"/>
                </a:solidFill>
                <a:latin typeface="Arial" pitchFamily="34" charset="0"/>
                <a:ea typeface="Arial" pitchFamily="34" charset="-122"/>
                <a:cs typeface="Arial" pitchFamily="34" charset="-120"/>
              </a:rPr>
              <a:t>計算的センサーがループに入っていない</a:t>
            </a:r>
            <a:endParaRPr lang="en-US" sz="1300" dirty="0"/>
          </a:p>
        </p:txBody>
      </p:sp>
      <p:sp>
        <p:nvSpPr>
          <p:cNvPr id="10" name="Text 8"/>
          <p:cNvSpPr txBox="1"/>
          <p:nvPr/>
        </p:nvSpPr>
        <p:spPr>
          <a:xfrm>
            <a:off x="1289304" y="1865376"/>
            <a:ext cx="10113264" cy="292608"/>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テストや lint が「存在する」だけで、エージェントの実行ループにバックプレッシャーとして入っていない。存在することと、効いていることは別。</a:t>
            </a:r>
            <a:endParaRPr lang="en-US" sz="1100" dirty="0"/>
          </a:p>
        </p:txBody>
      </p:sp>
      <p:sp>
        <p:nvSpPr>
          <p:cNvPr id="11" name="Text 9"/>
          <p:cNvSpPr txBox="1"/>
          <p:nvPr/>
        </p:nvSpPr>
        <p:spPr>
          <a:xfrm>
            <a:off x="10195560" y="1517904"/>
            <a:ext cx="1280160" cy="274320"/>
          </a:xfrm>
          <a:prstGeom prst="rect">
            <a:avLst/>
          </a:prstGeom>
          <a:noFill/>
          <a:ln/>
        </p:spPr>
        <p:txBody>
          <a:bodyPr wrap="square" lIns="0" tIns="0" rIns="0" bIns="0" rtlCol="0" anchor="ctr"/>
          <a:lstStyle/>
          <a:p>
            <a:pPr algn="r" indent="0" marL="0">
              <a:buNone/>
            </a:pPr>
            <a:r>
              <a:rPr lang="en-US" sz="1050" b="1" dirty="0">
                <a:solidFill>
                  <a:srgbClr val="A33A21"/>
                </a:solidFill>
                <a:latin typeface="Calibri" pitchFamily="34" charset="0"/>
                <a:ea typeface="Calibri" pitchFamily="34" charset="-122"/>
                <a:cs typeface="Calibri" pitchFamily="34" charset="-120"/>
              </a:rPr>
              <a:t>最頻</a:t>
            </a:r>
            <a:endParaRPr lang="en-US" sz="1050" dirty="0"/>
          </a:p>
        </p:txBody>
      </p:sp>
      <p:sp>
        <p:nvSpPr>
          <p:cNvPr id="12" name="Shape 10"/>
          <p:cNvSpPr/>
          <p:nvPr/>
        </p:nvSpPr>
        <p:spPr>
          <a:xfrm>
            <a:off x="502920" y="2468880"/>
            <a:ext cx="11155680" cy="1024128"/>
          </a:xfrm>
          <a:prstGeom prst="roundRect">
            <a:avLst>
              <a:gd name="adj" fmla="val 5357"/>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3" name="Shape 11"/>
          <p:cNvSpPr/>
          <p:nvPr/>
        </p:nvSpPr>
        <p:spPr>
          <a:xfrm>
            <a:off x="758952" y="2670048"/>
            <a:ext cx="384048" cy="384048"/>
          </a:xfrm>
          <a:prstGeom prst="ellipse">
            <a:avLst/>
          </a:prstGeom>
          <a:solidFill>
            <a:srgbClr val="1F6F5C"/>
          </a:solidFill>
          <a:ln w="12700">
            <a:solidFill>
              <a:srgbClr val="1F6F5C"/>
            </a:solidFill>
            <a:prstDash val="solid"/>
          </a:ln>
        </p:spPr>
      </p:sp>
      <p:sp>
        <p:nvSpPr>
          <p:cNvPr id="14" name="Text 12"/>
          <p:cNvSpPr txBox="1"/>
          <p:nvPr/>
        </p:nvSpPr>
        <p:spPr>
          <a:xfrm>
            <a:off x="758952" y="2670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289304" y="2688336"/>
            <a:ext cx="10113264" cy="320040"/>
          </a:xfrm>
          <a:prstGeom prst="rect">
            <a:avLst/>
          </a:prstGeom>
          <a:noFill/>
          <a:ln/>
        </p:spPr>
        <p:txBody>
          <a:bodyPr wrap="square" lIns="0" tIns="0" rIns="0" bIns="0" rtlCol="0" anchor="ctr"/>
          <a:lstStyle/>
          <a:p>
            <a:pPr indent="0" marL="0">
              <a:buNone/>
            </a:pPr>
            <a:r>
              <a:rPr lang="en-US" sz="1300" b="1" dirty="0">
                <a:solidFill>
                  <a:srgbClr val="1C1C1C"/>
                </a:solidFill>
                <a:latin typeface="Arial" pitchFamily="34" charset="0"/>
                <a:ea typeface="Arial" pitchFamily="34" charset="-122"/>
                <a:cs typeface="Arial" pitchFamily="34" charset="-120"/>
              </a:rPr>
              <a:t>検証ループそのものが無い</a:t>
            </a:r>
            <a:endParaRPr lang="en-US" sz="1300" dirty="0"/>
          </a:p>
        </p:txBody>
      </p:sp>
      <p:sp>
        <p:nvSpPr>
          <p:cNvPr id="16" name="Text 14"/>
          <p:cNvSpPr txBox="1"/>
          <p:nvPr/>
        </p:nvSpPr>
        <p:spPr>
          <a:xfrm>
            <a:off x="1289304" y="3035808"/>
            <a:ext cx="10113264" cy="292608"/>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モデルに自分の仕事を検証する手段を与えると品質が 2〜3 倍になる（Boris Cherny）。逆に言えば、手段が無いエージェントは自己評価に甘くなる。</a:t>
            </a:r>
            <a:endParaRPr lang="en-US" sz="1100" dirty="0"/>
          </a:p>
        </p:txBody>
      </p:sp>
      <p:sp>
        <p:nvSpPr>
          <p:cNvPr id="17" name="Text 15"/>
          <p:cNvSpPr txBox="1"/>
          <p:nvPr/>
        </p:nvSpPr>
        <p:spPr>
          <a:xfrm>
            <a:off x="10195560" y="2688336"/>
            <a:ext cx="1280160" cy="274320"/>
          </a:xfrm>
          <a:prstGeom prst="rect">
            <a:avLst/>
          </a:prstGeom>
          <a:noFill/>
          <a:ln/>
        </p:spPr>
        <p:txBody>
          <a:bodyPr wrap="square" lIns="0" tIns="0" rIns="0" bIns="0" rtlCol="0" anchor="ctr"/>
          <a:lstStyle/>
          <a:p>
            <a:pPr algn="r" indent="0" marL="0">
              <a:buNone/>
            </a:pPr>
            <a:r>
              <a:rPr lang="en-US" sz="1050" b="1" dirty="0">
                <a:solidFill>
                  <a:srgbClr val="5C6166"/>
                </a:solidFill>
                <a:latin typeface="Calibri" pitchFamily="34" charset="0"/>
                <a:ea typeface="Calibri" pitchFamily="34" charset="-122"/>
                <a:cs typeface="Calibri" pitchFamily="34" charset="-120"/>
              </a:rPr>
              <a:t>自己採点</a:t>
            </a:r>
            <a:endParaRPr lang="en-US" sz="1050" dirty="0"/>
          </a:p>
        </p:txBody>
      </p:sp>
      <p:sp>
        <p:nvSpPr>
          <p:cNvPr id="18" name="Shape 16"/>
          <p:cNvSpPr/>
          <p:nvPr/>
        </p:nvSpPr>
        <p:spPr>
          <a:xfrm>
            <a:off x="502920" y="3639312"/>
            <a:ext cx="11155680" cy="1024128"/>
          </a:xfrm>
          <a:prstGeom prst="roundRect">
            <a:avLst>
              <a:gd name="adj" fmla="val 5357"/>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9" name="Shape 17"/>
          <p:cNvSpPr/>
          <p:nvPr/>
        </p:nvSpPr>
        <p:spPr>
          <a:xfrm>
            <a:off x="758952" y="3840480"/>
            <a:ext cx="384048" cy="384048"/>
          </a:xfrm>
          <a:prstGeom prst="ellipse">
            <a:avLst/>
          </a:prstGeom>
          <a:solidFill>
            <a:srgbClr val="1F6F5C"/>
          </a:solidFill>
          <a:ln w="12700">
            <a:solidFill>
              <a:srgbClr val="1F6F5C"/>
            </a:solidFill>
            <a:prstDash val="solid"/>
          </a:ln>
        </p:spPr>
      </p:sp>
      <p:sp>
        <p:nvSpPr>
          <p:cNvPr id="20" name="Text 18"/>
          <p:cNvSpPr txBox="1"/>
          <p:nvPr/>
        </p:nvSpPr>
        <p:spPr>
          <a:xfrm>
            <a:off x="758952" y="38404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1" name="Text 19"/>
          <p:cNvSpPr txBox="1"/>
          <p:nvPr/>
        </p:nvSpPr>
        <p:spPr>
          <a:xfrm>
            <a:off x="1289304" y="3858768"/>
            <a:ext cx="10113264" cy="320040"/>
          </a:xfrm>
          <a:prstGeom prst="rect">
            <a:avLst/>
          </a:prstGeom>
          <a:noFill/>
          <a:ln/>
        </p:spPr>
        <p:txBody>
          <a:bodyPr wrap="square" lIns="0" tIns="0" rIns="0" bIns="0" rtlCol="0" anchor="ctr"/>
          <a:lstStyle/>
          <a:p>
            <a:pPr indent="0" marL="0">
              <a:buNone/>
            </a:pPr>
            <a:r>
              <a:rPr lang="en-US" sz="1300" b="1" dirty="0">
                <a:solidFill>
                  <a:srgbClr val="1C1C1C"/>
                </a:solidFill>
                <a:latin typeface="Arial" pitchFamily="34" charset="0"/>
                <a:ea typeface="Arial" pitchFamily="34" charset="-122"/>
                <a:cs typeface="Arial" pitchFamily="34" charset="-120"/>
              </a:rPr>
              <a:t>評価と計測をしていない</a:t>
            </a:r>
            <a:endParaRPr lang="en-US" sz="1300" dirty="0"/>
          </a:p>
        </p:txBody>
      </p:sp>
      <p:sp>
        <p:nvSpPr>
          <p:cNvPr id="22" name="Text 20"/>
          <p:cNvSpPr txBox="1"/>
          <p:nvPr/>
        </p:nvSpPr>
        <p:spPr>
          <a:xfrm>
            <a:off x="1289304" y="4206240"/>
            <a:ext cx="10113264" cy="292608"/>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ルールを足したが、効果を測っていない。善意のルール追加が逆効果になることがある（Context Rot ＝ 文脈が長いほど性能が落ちる）。</a:t>
            </a:r>
            <a:endParaRPr lang="en-US" sz="1100" dirty="0"/>
          </a:p>
        </p:txBody>
      </p:sp>
      <p:sp>
        <p:nvSpPr>
          <p:cNvPr id="23" name="Text 21"/>
          <p:cNvSpPr txBox="1"/>
          <p:nvPr/>
        </p:nvSpPr>
        <p:spPr>
          <a:xfrm>
            <a:off x="10195560" y="3858768"/>
            <a:ext cx="1280160" cy="274320"/>
          </a:xfrm>
          <a:prstGeom prst="rect">
            <a:avLst/>
          </a:prstGeom>
          <a:noFill/>
          <a:ln/>
        </p:spPr>
        <p:txBody>
          <a:bodyPr wrap="square" lIns="0" tIns="0" rIns="0" bIns="0" rtlCol="0" anchor="ctr"/>
          <a:lstStyle/>
          <a:p>
            <a:pPr algn="r" indent="0" marL="0">
              <a:buNone/>
            </a:pPr>
            <a:r>
              <a:rPr lang="en-US" sz="1050" b="1" dirty="0">
                <a:solidFill>
                  <a:srgbClr val="5C6166"/>
                </a:solidFill>
                <a:latin typeface="Calibri" pitchFamily="34" charset="0"/>
                <a:ea typeface="Calibri" pitchFamily="34" charset="-122"/>
                <a:cs typeface="Calibri" pitchFamily="34" charset="-120"/>
              </a:rPr>
              <a:t>測れない</a:t>
            </a:r>
            <a:endParaRPr lang="en-US" sz="1050" dirty="0"/>
          </a:p>
        </p:txBody>
      </p:sp>
      <p:sp>
        <p:nvSpPr>
          <p:cNvPr id="24" name="Shape 22"/>
          <p:cNvSpPr/>
          <p:nvPr/>
        </p:nvSpPr>
        <p:spPr>
          <a:xfrm>
            <a:off x="502920" y="4809744"/>
            <a:ext cx="11155680" cy="1024128"/>
          </a:xfrm>
          <a:prstGeom prst="roundRect">
            <a:avLst>
              <a:gd name="adj" fmla="val 5357"/>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25" name="Shape 23"/>
          <p:cNvSpPr/>
          <p:nvPr/>
        </p:nvSpPr>
        <p:spPr>
          <a:xfrm>
            <a:off x="758952" y="5010912"/>
            <a:ext cx="384048" cy="384048"/>
          </a:xfrm>
          <a:prstGeom prst="ellipse">
            <a:avLst/>
          </a:prstGeom>
          <a:solidFill>
            <a:srgbClr val="1F6F5C"/>
          </a:solidFill>
          <a:ln w="12700">
            <a:solidFill>
              <a:srgbClr val="1F6F5C"/>
            </a:solidFill>
            <a:prstDash val="solid"/>
          </a:ln>
        </p:spPr>
      </p:sp>
      <p:sp>
        <p:nvSpPr>
          <p:cNvPr id="26" name="Text 24"/>
          <p:cNvSpPr txBox="1"/>
          <p:nvPr/>
        </p:nvSpPr>
        <p:spPr>
          <a:xfrm>
            <a:off x="758952" y="50109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7" name="Text 25"/>
          <p:cNvSpPr txBox="1"/>
          <p:nvPr/>
        </p:nvSpPr>
        <p:spPr>
          <a:xfrm>
            <a:off x="1289304" y="5029200"/>
            <a:ext cx="10113264" cy="320040"/>
          </a:xfrm>
          <a:prstGeom prst="rect">
            <a:avLst/>
          </a:prstGeom>
          <a:noFill/>
          <a:ln/>
        </p:spPr>
        <p:txBody>
          <a:bodyPr wrap="square" lIns="0" tIns="0" rIns="0" bIns="0" rtlCol="0" anchor="ctr"/>
          <a:lstStyle/>
          <a:p>
            <a:pPr indent="0" marL="0">
              <a:buNone/>
            </a:pPr>
            <a:r>
              <a:rPr lang="en-US" sz="1300" b="1" dirty="0">
                <a:solidFill>
                  <a:srgbClr val="1C1C1C"/>
                </a:solidFill>
                <a:latin typeface="Arial" pitchFamily="34" charset="0"/>
                <a:ea typeface="Arial" pitchFamily="34" charset="-122"/>
                <a:cs typeface="Arial" pitchFamily="34" charset="-120"/>
              </a:rPr>
              <a:t>ハーネスが厚すぎる</a:t>
            </a:r>
            <a:endParaRPr lang="en-US" sz="1300" dirty="0"/>
          </a:p>
        </p:txBody>
      </p:sp>
      <p:sp>
        <p:nvSpPr>
          <p:cNvPr id="28" name="Text 26"/>
          <p:cNvSpPr txBox="1"/>
          <p:nvPr/>
        </p:nvSpPr>
        <p:spPr>
          <a:xfrm>
            <a:off x="1289304" y="5376672"/>
            <a:ext cx="10113264" cy="292608"/>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Thin Harness, Fat Skills（Garry Tan）。ループ管理は薄く、知能は Skills に、実行は決定論的ツールに委ねる。親ループが肥大したら設計が間違っている。</a:t>
            </a:r>
            <a:endParaRPr lang="en-US" sz="1100" dirty="0"/>
          </a:p>
        </p:txBody>
      </p:sp>
      <p:sp>
        <p:nvSpPr>
          <p:cNvPr id="29" name="Text 27"/>
          <p:cNvSpPr txBox="1"/>
          <p:nvPr/>
        </p:nvSpPr>
        <p:spPr>
          <a:xfrm>
            <a:off x="10195560" y="5029200"/>
            <a:ext cx="1280160" cy="274320"/>
          </a:xfrm>
          <a:prstGeom prst="rect">
            <a:avLst/>
          </a:prstGeom>
          <a:noFill/>
          <a:ln/>
        </p:spPr>
        <p:txBody>
          <a:bodyPr wrap="square" lIns="0" tIns="0" rIns="0" bIns="0" rtlCol="0" anchor="ctr"/>
          <a:lstStyle/>
          <a:p>
            <a:pPr algn="r" indent="0" marL="0">
              <a:buNone/>
            </a:pPr>
            <a:r>
              <a:rPr lang="en-US" sz="1050" b="1" dirty="0">
                <a:solidFill>
                  <a:srgbClr val="5C6166"/>
                </a:solidFill>
                <a:latin typeface="Calibri" pitchFamily="34" charset="0"/>
                <a:ea typeface="Calibri" pitchFamily="34" charset="-122"/>
                <a:cs typeface="Calibri" pitchFamily="34" charset="-120"/>
              </a:rPr>
              <a:t>肥大</a:t>
            </a:r>
            <a:endParaRPr lang="en-US" sz="1050" dirty="0"/>
          </a:p>
        </p:txBody>
      </p:sp>
      <p:sp>
        <p:nvSpPr>
          <p:cNvPr id="30" name="Text 28"/>
          <p:cNvSpPr txBox="1"/>
          <p:nvPr/>
        </p:nvSpPr>
        <p:spPr>
          <a:xfrm>
            <a:off x="502920" y="6035040"/>
            <a:ext cx="11155680" cy="274320"/>
          </a:xfrm>
          <a:prstGeom prst="rect">
            <a:avLst/>
          </a:prstGeom>
          <a:noFill/>
          <a:ln/>
        </p:spPr>
        <p:txBody>
          <a:bodyPr wrap="square" lIns="0" tIns="0" rIns="0" bIns="0" rtlCol="0" anchor="ctr"/>
          <a:lstStyle/>
          <a:p>
            <a:pPr indent="0" marL="0">
              <a:buNone/>
            </a:pPr>
            <a:r>
              <a:rPr lang="en-US" sz="1000" dirty="0">
                <a:solidFill>
                  <a:srgbClr val="5C6166"/>
                </a:solidFill>
                <a:latin typeface="Calibri" pitchFamily="34" charset="0"/>
                <a:ea typeface="Calibri" pitchFamily="34" charset="-122"/>
                <a:cs typeface="Calibri" pitchFamily="34" charset="-120"/>
              </a:rPr>
              <a:t>典拠：skills/engine/facets/knowledge/harness-taxonomy.md（rig 自身が /rig:harness で使う観点カタログ）</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はじめに · 04</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プロンプトの外側にコンテキスト、その外側にハーネス</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6</a:t>
            </a:r>
            <a:endParaRPr lang="en-US" sz="900" dirty="0"/>
          </a:p>
        </p:txBody>
      </p:sp>
      <p:sp>
        <p:nvSpPr>
          <p:cNvPr id="6" name="Text 4"/>
          <p:cNvSpPr txBox="1"/>
          <p:nvPr/>
        </p:nvSpPr>
        <p:spPr>
          <a:xfrm>
            <a:off x="502920" y="1280160"/>
            <a:ext cx="11155680" cy="320040"/>
          </a:xfrm>
          <a:prstGeom prst="rect">
            <a:avLst/>
          </a:prstGeom>
          <a:noFill/>
          <a:ln/>
        </p:spPr>
        <p:txBody>
          <a:bodyPr wrap="square" lIns="0" tIns="0" rIns="0" bIns="0" rtlCol="0" anchor="ctr"/>
          <a:lstStyle/>
          <a:p>
            <a:pPr indent="0" marL="0">
              <a:buNone/>
            </a:pPr>
            <a:r>
              <a:rPr lang="en-US" sz="1250" dirty="0">
                <a:solidFill>
                  <a:srgbClr val="1C1C1C"/>
                </a:solidFill>
                <a:latin typeface="Calibri" pitchFamily="34" charset="0"/>
                <a:ea typeface="Calibri" pitchFamily="34" charset="-122"/>
                <a:cs typeface="Calibri" pitchFamily="34" charset="-120"/>
              </a:rPr>
              <a:t>「〇〇エンジニアリング」は別々の流派ではなく、包含関係にある。外側を設計しないまま内側だけ磨いても、効果は再現しない。</a:t>
            </a:r>
            <a:endParaRPr lang="en-US" sz="1250" dirty="0"/>
          </a:p>
        </p:txBody>
      </p:sp>
      <p:sp>
        <p:nvSpPr>
          <p:cNvPr id="7" name="Shape 5"/>
          <p:cNvSpPr/>
          <p:nvPr/>
        </p:nvSpPr>
        <p:spPr>
          <a:xfrm>
            <a:off x="502920" y="1691640"/>
            <a:ext cx="6035040" cy="4160520"/>
          </a:xfrm>
          <a:prstGeom prst="roundRect">
            <a:avLst>
              <a:gd name="adj" fmla="val 1319"/>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8" name="Text 6"/>
          <p:cNvSpPr txBox="1"/>
          <p:nvPr/>
        </p:nvSpPr>
        <p:spPr>
          <a:xfrm>
            <a:off x="777240" y="1828800"/>
            <a:ext cx="5486400" cy="27432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ハーネスエンジニアリング</a:t>
            </a:r>
            <a:endParaRPr lang="en-US" sz="1400" dirty="0"/>
          </a:p>
        </p:txBody>
      </p:sp>
      <p:sp>
        <p:nvSpPr>
          <p:cNvPr id="9" name="Text 7"/>
          <p:cNvSpPr txBox="1"/>
          <p:nvPr/>
        </p:nvSpPr>
        <p:spPr>
          <a:xfrm>
            <a:off x="777240" y="2103120"/>
            <a:ext cx="5486400" cy="274320"/>
          </a:xfrm>
          <a:prstGeom prst="rect">
            <a:avLst/>
          </a:prstGeom>
          <a:noFill/>
          <a:ln/>
        </p:spPr>
        <p:txBody>
          <a:bodyPr wrap="square" lIns="0" tIns="0" rIns="0" bIns="0" rtlCol="0" anchor="ctr"/>
          <a:lstStyle/>
          <a:p>
            <a:pPr indent="0" marL="0">
              <a:buNone/>
            </a:pPr>
            <a:r>
              <a:rPr lang="en-US" sz="1050" dirty="0">
                <a:solidFill>
                  <a:srgbClr val="5C6166"/>
                </a:solidFill>
                <a:latin typeface="Calibri" pitchFamily="34" charset="0"/>
                <a:ea typeface="Calibri" pitchFamily="34" charset="-122"/>
                <a:cs typeface="Calibri" pitchFamily="34" charset="-120"/>
              </a:rPr>
              <a:t>ループ・ツール・強制・検証・記録まで含めた仕組み全体</a:t>
            </a:r>
            <a:endParaRPr lang="en-US" sz="1050" dirty="0"/>
          </a:p>
        </p:txBody>
      </p:sp>
      <p:sp>
        <p:nvSpPr>
          <p:cNvPr id="10" name="Shape 8"/>
          <p:cNvSpPr/>
          <p:nvPr/>
        </p:nvSpPr>
        <p:spPr>
          <a:xfrm>
            <a:off x="886968" y="2468880"/>
            <a:ext cx="5266944" cy="3200400"/>
          </a:xfrm>
          <a:prstGeom prst="roundRect">
            <a:avLst>
              <a:gd name="adj" fmla="val 1714"/>
            </a:avLst>
          </a:prstGeom>
          <a:solidFill>
            <a:srgbClr val="E7EFEB"/>
          </a:solidFill>
          <a:ln w="12700">
            <a:solidFill>
              <a:srgbClr val="E7EFEB"/>
            </a:solidFill>
            <a:prstDash val="solid"/>
          </a:ln>
        </p:spPr>
      </p:sp>
      <p:sp>
        <p:nvSpPr>
          <p:cNvPr id="11" name="Text 9"/>
          <p:cNvSpPr txBox="1"/>
          <p:nvPr/>
        </p:nvSpPr>
        <p:spPr>
          <a:xfrm>
            <a:off x="1161288" y="2606040"/>
            <a:ext cx="4754880" cy="27432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コンテキストエンジニアリング</a:t>
            </a:r>
            <a:endParaRPr lang="en-US" sz="1400" dirty="0"/>
          </a:p>
        </p:txBody>
      </p:sp>
      <p:sp>
        <p:nvSpPr>
          <p:cNvPr id="12" name="Text 10"/>
          <p:cNvSpPr txBox="1"/>
          <p:nvPr/>
        </p:nvSpPr>
        <p:spPr>
          <a:xfrm>
            <a:off x="1161288" y="2880360"/>
            <a:ext cx="4754880" cy="274320"/>
          </a:xfrm>
          <a:prstGeom prst="rect">
            <a:avLst/>
          </a:prstGeom>
          <a:noFill/>
          <a:ln/>
        </p:spPr>
        <p:txBody>
          <a:bodyPr wrap="square" lIns="0" tIns="0" rIns="0" bIns="0" rtlCol="0" anchor="ctr"/>
          <a:lstStyle/>
          <a:p>
            <a:pPr indent="0" marL="0">
              <a:buNone/>
            </a:pPr>
            <a:r>
              <a:rPr lang="en-US" sz="1050" dirty="0">
                <a:solidFill>
                  <a:srgbClr val="5C6166"/>
                </a:solidFill>
                <a:latin typeface="Calibri" pitchFamily="34" charset="0"/>
                <a:ea typeface="Calibri" pitchFamily="34" charset="-122"/>
                <a:cs typeface="Calibri" pitchFamily="34" charset="-120"/>
              </a:rPr>
              <a:t>何をどの順で見せるか。知識層・注入・圧縮への耐性</a:t>
            </a:r>
            <a:endParaRPr lang="en-US" sz="1050" dirty="0"/>
          </a:p>
        </p:txBody>
      </p:sp>
      <p:sp>
        <p:nvSpPr>
          <p:cNvPr id="13" name="Shape 11"/>
          <p:cNvSpPr/>
          <p:nvPr/>
        </p:nvSpPr>
        <p:spPr>
          <a:xfrm>
            <a:off x="1271016" y="3246120"/>
            <a:ext cx="4498848" cy="2240280"/>
          </a:xfrm>
          <a:prstGeom prst="roundRect">
            <a:avLst>
              <a:gd name="adj" fmla="val 2449"/>
            </a:avLst>
          </a:prstGeom>
          <a:solidFill>
            <a:srgbClr val="1C1C1C"/>
          </a:solidFill>
          <a:ln w="12700">
            <a:solidFill>
              <a:srgbClr val="1C1C1C"/>
            </a:solidFill>
            <a:prstDash val="solid"/>
          </a:ln>
        </p:spPr>
      </p:sp>
      <p:sp>
        <p:nvSpPr>
          <p:cNvPr id="14" name="Text 12"/>
          <p:cNvSpPr txBox="1"/>
          <p:nvPr/>
        </p:nvSpPr>
        <p:spPr>
          <a:xfrm>
            <a:off x="1545336" y="3383280"/>
            <a:ext cx="402336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プロンプトエンジニアリング</a:t>
            </a:r>
            <a:endParaRPr lang="en-US" sz="1400" dirty="0"/>
          </a:p>
        </p:txBody>
      </p:sp>
      <p:sp>
        <p:nvSpPr>
          <p:cNvPr id="15" name="Text 13"/>
          <p:cNvSpPr txBox="1"/>
          <p:nvPr/>
        </p:nvSpPr>
        <p:spPr>
          <a:xfrm>
            <a:off x="1545336" y="3675888"/>
            <a:ext cx="4023360" cy="1645920"/>
          </a:xfrm>
          <a:prstGeom prst="rect">
            <a:avLst/>
          </a:prstGeom>
          <a:noFill/>
          <a:ln/>
        </p:spPr>
        <p:txBody>
          <a:bodyPr wrap="square" lIns="0" tIns="0" rIns="0" bIns="0" rtlCol="0" anchor="t"/>
          <a:lstStyle/>
          <a:p>
            <a:pPr indent="0" marL="0">
              <a:lnSpc>
                <a:spcPts val="1400"/>
              </a:lnSpc>
              <a:buNone/>
            </a:pPr>
            <a:r>
              <a:rPr lang="en-US" sz="1050" dirty="0">
                <a:solidFill>
                  <a:srgbClr val="C9CCC8"/>
                </a:solidFill>
                <a:latin typeface="Calibri" pitchFamily="34" charset="0"/>
                <a:ea typeface="Calibri" pitchFamily="34" charset="-122"/>
                <a:cs typeface="Calibri" pitchFamily="34" charset="-120"/>
              </a:rPr>
              <a:t>一回の指示の書き方。ここだけを磨くのが最も一般的で、</a:t>
            </a:r>
            <a:endParaRPr lang="en-US" sz="1050" dirty="0"/>
          </a:p>
          <a:p>
            <a:pPr indent="0" marL="0">
              <a:lnSpc>
                <a:spcPts val="1400"/>
              </a:lnSpc>
              <a:buNone/>
            </a:pPr>
            <a:r>
              <a:rPr lang="en-US" sz="1050" dirty="0">
                <a:solidFill>
                  <a:srgbClr val="C9CCC8"/>
                </a:solidFill>
                <a:latin typeface="Calibri" pitchFamily="34" charset="0"/>
                <a:ea typeface="Calibri" pitchFamily="34" charset="-122"/>
                <a:cs typeface="Calibri" pitchFamily="34" charset="-120"/>
              </a:rPr>
              <a:t>ここだけでは面が変わると再現しない。</a:t>
            </a:r>
            <a:endParaRPr lang="en-US" sz="1050" dirty="0"/>
          </a:p>
          <a:p>
            <a:pPr indent="0" marL="0">
              <a:lnSpc>
                <a:spcPts val="1400"/>
              </a:lnSpc>
              <a:buNone/>
            </a:pPr>
            <a:endParaRPr lang="en-US" sz="1050" dirty="0"/>
          </a:p>
          <a:p>
            <a:pPr indent="0" marL="0">
              <a:lnSpc>
                <a:spcPts val="1400"/>
              </a:lnSpc>
              <a:buNone/>
            </a:pPr>
            <a:r>
              <a:rPr lang="en-US" sz="1050" dirty="0">
                <a:solidFill>
                  <a:srgbClr val="C9CCC8"/>
                </a:solidFill>
                <a:latin typeface="Calibri" pitchFamily="34" charset="0"/>
                <a:ea typeface="Calibri" pitchFamily="34" charset="-122"/>
                <a:cs typeface="Calibri" pitchFamily="34" charset="-120"/>
              </a:rPr>
              <a:t>rig ではプロンプト面（persona・instruction・recipe・wiki）は</a:t>
            </a:r>
            <a:endParaRPr lang="en-US" sz="1050" dirty="0"/>
          </a:p>
          <a:p>
            <a:pPr indent="0" marL="0">
              <a:lnSpc>
                <a:spcPts val="1400"/>
              </a:lnSpc>
              <a:buNone/>
            </a:pPr>
            <a:r>
              <a:rPr lang="en-US" sz="1050" dirty="0">
                <a:solidFill>
                  <a:srgbClr val="C9CCC8"/>
                </a:solidFill>
                <a:latin typeface="Calibri" pitchFamily="34" charset="0"/>
                <a:ea typeface="Calibri" pitchFamily="34" charset="-122"/>
                <a:cs typeface="Calibri" pitchFamily="34" charset="-120"/>
              </a:rPr>
              <a:t>コンパイラが一切検査しない部分として扱い、</a:t>
            </a:r>
            <a:endParaRPr lang="en-US" sz="1050" dirty="0"/>
          </a:p>
          <a:p>
            <a:pPr indent="0" marL="0">
              <a:lnSpc>
                <a:spcPts val="1400"/>
              </a:lnSpc>
              <a:buNone/>
            </a:pPr>
            <a:r>
              <a:rPr lang="en-US" sz="1050" dirty="0">
                <a:solidFill>
                  <a:srgbClr val="C9CCC8"/>
                </a:solidFill>
                <a:latin typeface="Calibri" pitchFamily="34" charset="0"/>
                <a:ea typeface="Calibri" pitchFamily="34" charset="-122"/>
                <a:cs typeface="Calibri" pitchFamily="34" charset="-120"/>
              </a:rPr>
              <a:t>変更には承認済みの評価ケースを要求する。</a:t>
            </a:r>
            <a:endParaRPr lang="en-US" sz="1050" dirty="0"/>
          </a:p>
        </p:txBody>
      </p:sp>
      <p:sp>
        <p:nvSpPr>
          <p:cNvPr id="16" name="Shape 14"/>
          <p:cNvSpPr/>
          <p:nvPr/>
        </p:nvSpPr>
        <p:spPr>
          <a:xfrm>
            <a:off x="6903720" y="1691640"/>
            <a:ext cx="4754880" cy="1965960"/>
          </a:xfrm>
          <a:prstGeom prst="roundRect">
            <a:avLst>
              <a:gd name="adj" fmla="val 2791"/>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7" name="Text 15"/>
          <p:cNvSpPr txBox="1"/>
          <p:nvPr/>
        </p:nvSpPr>
        <p:spPr>
          <a:xfrm>
            <a:off x="7159752" y="1874520"/>
            <a:ext cx="424281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ハーネスには二層ある</a:t>
            </a:r>
            <a:endParaRPr lang="en-US" sz="1400" dirty="0"/>
          </a:p>
        </p:txBody>
      </p:sp>
      <p:sp>
        <p:nvSpPr>
          <p:cNvPr id="18" name="Text 16"/>
          <p:cNvSpPr txBox="1"/>
          <p:nvPr/>
        </p:nvSpPr>
        <p:spPr>
          <a:xfrm>
            <a:off x="7159752" y="2258568"/>
            <a:ext cx="4242816" cy="1234440"/>
          </a:xfrm>
          <a:prstGeom prst="rect">
            <a:avLst/>
          </a:prstGeom>
          <a:noFill/>
          <a:ln/>
        </p:spPr>
        <p:txBody>
          <a:bodyPr wrap="square" lIns="0" tIns="0" rIns="0" bIns="0" rtlCol="0" anchor="t"/>
          <a:lstStyle/>
          <a:p>
            <a:pPr indent="0" marL="0">
              <a:lnSpc>
                <a:spcPts val="1600"/>
              </a:lnSpc>
              <a:buNone/>
            </a:pPr>
            <a:r>
              <a:rPr lang="en-US" sz="1150" dirty="0">
                <a:solidFill>
                  <a:srgbClr val="5C6166"/>
                </a:solidFill>
                <a:latin typeface="Calibri" pitchFamily="34" charset="0"/>
                <a:ea typeface="Calibri" pitchFamily="34" charset="-122"/>
                <a:cs typeface="Calibri" pitchFamily="34" charset="-120"/>
              </a:rPr>
              <a:t>エージェントハーネス（プロダクト内蔵＝Claude Code / Codex 側のループ・ツール・メモリ）と、ユーザーハーネス（使う側が組む＝CLAUDE.md・Skills・Hooks・MCP・テスト・lint・CI・recipe）。</a:t>
            </a:r>
            <a:endParaRPr lang="en-US" sz="1150" dirty="0"/>
          </a:p>
        </p:txBody>
      </p:sp>
      <p:sp>
        <p:nvSpPr>
          <p:cNvPr id="19" name="Shape 17"/>
          <p:cNvSpPr/>
          <p:nvPr/>
        </p:nvSpPr>
        <p:spPr>
          <a:xfrm>
            <a:off x="6903720" y="3794760"/>
            <a:ext cx="4754880" cy="1188720"/>
          </a:xfrm>
          <a:prstGeom prst="roundRect">
            <a:avLst>
              <a:gd name="adj" fmla="val 4615"/>
            </a:avLst>
          </a:prstGeom>
          <a:solidFill>
            <a:srgbClr val="E7EFEB"/>
          </a:solidFill>
          <a:ln w="6350">
            <a:solidFill>
              <a:srgbClr val="E7EFEB"/>
            </a:solidFill>
            <a:prstDash val="solid"/>
          </a:ln>
          <a:effectLst>
            <a:outerShdw sx="100000" sy="100000" kx="0" ky="0" algn="bl" rotWithShape="0" blurRad="101600" dist="12700" dir="5400000">
              <a:srgbClr val="000000">
                <a:alpha val="10000"/>
              </a:srgbClr>
            </a:outerShdw>
          </a:effectLst>
        </p:spPr>
      </p:sp>
      <p:sp>
        <p:nvSpPr>
          <p:cNvPr id="20" name="Text 18"/>
          <p:cNvSpPr txBox="1"/>
          <p:nvPr/>
        </p:nvSpPr>
        <p:spPr>
          <a:xfrm>
            <a:off x="7159752" y="3977640"/>
            <a:ext cx="424281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rig が作るのは、後者だけ</a:t>
            </a:r>
            <a:endParaRPr lang="en-US" sz="1400" dirty="0"/>
          </a:p>
        </p:txBody>
      </p:sp>
      <p:sp>
        <p:nvSpPr>
          <p:cNvPr id="21" name="Text 19"/>
          <p:cNvSpPr txBox="1"/>
          <p:nvPr/>
        </p:nvSpPr>
        <p:spPr>
          <a:xfrm>
            <a:off x="7159752" y="4361688"/>
            <a:ext cx="4242816" cy="457200"/>
          </a:xfrm>
          <a:prstGeom prst="rect">
            <a:avLst/>
          </a:prstGeom>
          <a:noFill/>
          <a:ln/>
        </p:spPr>
        <p:txBody>
          <a:bodyPr wrap="square" lIns="0" tIns="0" rIns="0" bIns="0" rtlCol="0" anchor="t"/>
          <a:lstStyle/>
          <a:p>
            <a:pPr indent="0" marL="0">
              <a:lnSpc>
                <a:spcPts val="1600"/>
              </a:lnSpc>
              <a:buNone/>
            </a:pPr>
            <a:r>
              <a:rPr lang="en-US" sz="1150" dirty="0">
                <a:solidFill>
                  <a:srgbClr val="5C6166"/>
                </a:solidFill>
                <a:latin typeface="Calibri" pitchFamily="34" charset="0"/>
                <a:ea typeface="Calibri" pitchFamily="34" charset="-122"/>
                <a:cs typeface="Calibri" pitchFamily="34" charset="-120"/>
              </a:rPr>
              <a:t>内蔵ループには手を入れない。その外側に、薄い品質・安全レイヤーとして乗る。</a:t>
            </a:r>
            <a:endParaRPr lang="en-US" sz="1150" dirty="0"/>
          </a:p>
        </p:txBody>
      </p:sp>
      <p:sp>
        <p:nvSpPr>
          <p:cNvPr id="22" name="Shape 20"/>
          <p:cNvSpPr/>
          <p:nvPr/>
        </p:nvSpPr>
        <p:spPr>
          <a:xfrm>
            <a:off x="6903720" y="5120640"/>
            <a:ext cx="4754880" cy="731520"/>
          </a:xfrm>
          <a:prstGeom prst="roundRect">
            <a:avLst>
              <a:gd name="adj" fmla="val 7500"/>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23" name="Text 21"/>
          <p:cNvSpPr txBox="1"/>
          <p:nvPr/>
        </p:nvSpPr>
        <p:spPr>
          <a:xfrm>
            <a:off x="7159752" y="5303520"/>
            <a:ext cx="424281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だから engine は不変</a:t>
            </a:r>
            <a:endParaRPr lang="en-US" sz="1400" dirty="0"/>
          </a:p>
        </p:txBody>
      </p:sp>
      <p:sp>
        <p:nvSpPr>
          <p:cNvPr id="24" name="Text 22"/>
          <p:cNvSpPr txBox="1"/>
          <p:nvPr/>
        </p:nvSpPr>
        <p:spPr>
          <a:xfrm>
            <a:off x="7159752" y="5687568"/>
            <a:ext cx="4242816" cy="0"/>
          </a:xfrm>
          <a:prstGeom prst="rect">
            <a:avLst/>
          </a:prstGeom>
          <a:noFill/>
          <a:ln/>
        </p:spPr>
        <p:txBody>
          <a:bodyPr wrap="square" lIns="0" tIns="0" rIns="0" bIns="0" rtlCol="0" anchor="t"/>
          <a:lstStyle/>
          <a:p>
            <a:pPr indent="0" marL="0">
              <a:lnSpc>
                <a:spcPts val="1600"/>
              </a:lnSpc>
              <a:buNone/>
            </a:pPr>
            <a:r>
              <a:rPr lang="en-US" sz="1150" dirty="0">
                <a:solidFill>
                  <a:srgbClr val="5C6166"/>
                </a:solidFill>
                <a:latin typeface="Calibri" pitchFamily="34" charset="0"/>
                <a:ea typeface="Calibri" pitchFamily="34" charset="-122"/>
                <a:cs typeface="Calibri" pitchFamily="34" charset="-120"/>
              </a:rPr>
              <a:t>拡張は pack として上に乗せる。エンジンを書き換えて対応しない。</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はじめに · 05</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ハーネスの 2×2 — 何が足りないかは、ここで見える</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7</a:t>
            </a:r>
            <a:endParaRPr lang="en-US" sz="900" dirty="0"/>
          </a:p>
        </p:txBody>
      </p:sp>
      <p:sp>
        <p:nvSpPr>
          <p:cNvPr id="6" name="Text 4"/>
          <p:cNvSpPr txBox="1"/>
          <p:nvPr/>
        </p:nvSpPr>
        <p:spPr>
          <a:xfrm>
            <a:off x="502920" y="1280160"/>
            <a:ext cx="11155680" cy="320040"/>
          </a:xfrm>
          <a:prstGeom prst="rect">
            <a:avLst/>
          </a:prstGeom>
          <a:noFill/>
          <a:ln/>
        </p:spPr>
        <p:txBody>
          <a:bodyPr wrap="square" lIns="0" tIns="0" rIns="0" bIns="0" rtlCol="0" anchor="ctr"/>
          <a:lstStyle/>
          <a:p>
            <a:pPr indent="0" marL="0">
              <a:buNone/>
            </a:pPr>
            <a:r>
              <a:rPr lang="en-US" sz="1200" dirty="0">
                <a:solidFill>
                  <a:srgbClr val="1C1C1C"/>
                </a:solidFill>
                <a:latin typeface="Calibri" pitchFamily="34" charset="0"/>
                <a:ea typeface="Calibri" pitchFamily="34" charset="-122"/>
                <a:cs typeface="Calibri" pitchFamily="34" charset="-120"/>
              </a:rPr>
              <a:t>二軸で分ける。① 計算的（決定論的・コードで判定）か、推論的（LLM の判断）か。② ガイド（先回りで方向づける）か、センサー（事後に検知する）か。</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7589520" cy="914400"/>
        </p:xfrm>
        <a:graphic>
          <a:graphicData uri="http://schemas.openxmlformats.org/drawingml/2006/table">
            <a:tbl>
              <a:tblPr/>
              <a:tblGrid>
                <a:gridCol w="1737360"/>
                <a:gridCol w="2926080"/>
                <a:gridCol w="2926080"/>
              </a:tblGrid>
              <a:tr h="960120">
                <a:tc>
                  <a:txBody>
                    <a:bodyPr/>
                    <a:lstStyle/>
                    <a:p>
                      <a:pPr indent="0" marL="0">
                        <a:buNone/>
                      </a:pPr>
                      <a:endParaRPr lang="en-US" sz="1050" dirty="0">
                        <a:latin typeface="Arial" charset="0"/>
                        <a:ea typeface="Arial" charset="0"/>
                        <a:cs typeface="Arial"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1C1C1C"/>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ガイド（先回り・方向づけ）</a:t>
                      </a:r>
                      <a:endParaRPr lang="en-US" sz="1050" dirty="0">
                        <a:latin typeface="Arial" charset="0"/>
                        <a:ea typeface="Arial" charset="0"/>
                        <a:cs typeface="Arial"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1C1C1C"/>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センサー（事後・検知）</a:t>
                      </a:r>
                      <a:endParaRPr lang="en-US" sz="1050" dirty="0">
                        <a:latin typeface="Arial" charset="0"/>
                        <a:ea typeface="Arial" charset="0"/>
                        <a:cs typeface="Arial"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1C1C1C"/>
                    </a:solidFill>
                  </a:tcPr>
                </a:tc>
              </a:tr>
              <a:tr h="960120">
                <a:tc>
                  <a:txBody>
                    <a:bodyPr/>
                    <a:lstStyle/>
                    <a:p>
                      <a:pPr indent="0" marL="0">
                        <a:buNone/>
                      </a:pPr>
                      <a:r>
                        <a:rPr lang="en-US" sz="1100" b="1" dirty="0">
                          <a:solidFill>
                            <a:srgbClr val="1C1C1C"/>
                          </a:solidFill>
                          <a:latin typeface="Calibri" pitchFamily="34" charset="0"/>
                          <a:ea typeface="Calibri" pitchFamily="34" charset="-122"/>
                          <a:cs typeface="Calibri" pitchFamily="34" charset="-120"/>
                        </a:rPr>
                        <a:t>計算的</a:t>
                      </a:r>
                      <a:endParaRPr lang="en-US" sz="1100" dirty="0">
                        <a:latin typeface="Calibri" charset="0"/>
                        <a:ea typeface="Calibri" charset="0"/>
                        <a:cs typeface="Calibri" charset="0"/>
                      </a:endParaRPr>
                    </a:p>
                    <a:p>
                      <a:pPr indent="0" marL="0">
                        <a:buNone/>
                      </a:pPr>
                      <a:r>
                        <a:rPr lang="en-US" sz="1100" b="1" dirty="0">
                          <a:solidFill>
                            <a:srgbClr val="1C1C1C"/>
                          </a:solidFill>
                          <a:latin typeface="Calibri" pitchFamily="34" charset="0"/>
                          <a:ea typeface="Calibri" pitchFamily="34" charset="-122"/>
                          <a:cs typeface="Calibri" pitchFamily="34" charset="-120"/>
                        </a:rPr>
                        <a:t>（決定論的）</a:t>
                      </a:r>
                      <a:endParaRPr lang="en-US" sz="110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100" dirty="0">
                          <a:solidFill>
                            <a:srgbClr val="5C6166"/>
                          </a:solidFill>
                          <a:latin typeface="Calibri" pitchFamily="34" charset="0"/>
                          <a:ea typeface="Calibri" pitchFamily="34" charset="-122"/>
                          <a:cs typeface="Calibri" pitchFamily="34" charset="-120"/>
                        </a:rPr>
                        <a:t>LSP・型・CLI・コードモッド</a:t>
                      </a:r>
                      <a:endParaRPr lang="en-US" sz="1100" dirty="0">
                        <a:latin typeface="Calibri" charset="0"/>
                        <a:ea typeface="Calibri" charset="0"/>
                        <a:cs typeface="Calibri" charset="0"/>
                      </a:endParaRPr>
                    </a:p>
                    <a:p>
                      <a:pPr indent="0" marL="0">
                        <a:buNone/>
                      </a:pPr>
                      <a:r>
                        <a:rPr lang="en-US" sz="1100" dirty="0">
                          <a:solidFill>
                            <a:srgbClr val="5C6166"/>
                          </a:solidFill>
                          <a:latin typeface="Calibri" pitchFamily="34" charset="0"/>
                          <a:ea typeface="Calibri" pitchFamily="34" charset="-122"/>
                          <a:cs typeface="Calibri" pitchFamily="34" charset="-120"/>
                        </a:rPr>
                        <a:t>scaffold・テンプレート</a:t>
                      </a:r>
                      <a:endParaRPr lang="en-US" sz="110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100" dirty="0">
                          <a:solidFill>
                            <a:srgbClr val="5C6166"/>
                          </a:solidFill>
                          <a:latin typeface="Calibri" pitchFamily="34" charset="0"/>
                          <a:ea typeface="Calibri" pitchFamily="34" charset="-122"/>
                          <a:cs typeface="Calibri" pitchFamily="34" charset="-120"/>
                        </a:rPr>
                        <a:t>lint・型チェック・テスト</a:t>
                      </a:r>
                      <a:endParaRPr lang="en-US" sz="1100" dirty="0">
                        <a:latin typeface="Calibri" charset="0"/>
                        <a:ea typeface="Calibri" charset="0"/>
                        <a:cs typeface="Calibri" charset="0"/>
                      </a:endParaRPr>
                    </a:p>
                    <a:p>
                      <a:pPr indent="0" marL="0">
                        <a:buNone/>
                      </a:pPr>
                      <a:r>
                        <a:rPr lang="en-US" sz="1100" dirty="0">
                          <a:solidFill>
                            <a:srgbClr val="5C6166"/>
                          </a:solidFill>
                          <a:latin typeface="Calibri" pitchFamily="34" charset="0"/>
                          <a:ea typeface="Calibri" pitchFamily="34" charset="-122"/>
                          <a:cs typeface="Calibri" pitchFamily="34" charset="-120"/>
                        </a:rPr>
                        <a:t>build・ArchUnit・CI</a:t>
                      </a:r>
                      <a:endParaRPr lang="en-US" sz="110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r>
              <a:tr h="960120">
                <a:tc>
                  <a:txBody>
                    <a:bodyPr/>
                    <a:lstStyle/>
                    <a:p>
                      <a:pPr indent="0" marL="0">
                        <a:buNone/>
                      </a:pPr>
                      <a:r>
                        <a:rPr lang="en-US" sz="1100" b="1" dirty="0">
                          <a:solidFill>
                            <a:srgbClr val="1C1C1C"/>
                          </a:solidFill>
                          <a:latin typeface="Calibri" pitchFamily="34" charset="0"/>
                          <a:ea typeface="Calibri" pitchFamily="34" charset="-122"/>
                          <a:cs typeface="Calibri" pitchFamily="34" charset="-120"/>
                        </a:rPr>
                        <a:t>推論的</a:t>
                      </a:r>
                      <a:endParaRPr lang="en-US" sz="1100" dirty="0">
                        <a:latin typeface="Calibri" charset="0"/>
                        <a:ea typeface="Calibri" charset="0"/>
                        <a:cs typeface="Calibri" charset="0"/>
                      </a:endParaRPr>
                    </a:p>
                    <a:p>
                      <a:pPr indent="0" marL="0">
                        <a:buNone/>
                      </a:pPr>
                      <a:r>
                        <a:rPr lang="en-US" sz="1100" b="1" dirty="0">
                          <a:solidFill>
                            <a:srgbClr val="1C1C1C"/>
                          </a:solidFill>
                          <a:latin typeface="Calibri" pitchFamily="34" charset="0"/>
                          <a:ea typeface="Calibri" pitchFamily="34" charset="-122"/>
                          <a:cs typeface="Calibri" pitchFamily="34" charset="-120"/>
                        </a:rPr>
                        <a:t>（LLM 判断）</a:t>
                      </a:r>
                      <a:endParaRPr lang="en-US" sz="110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100" dirty="0">
                          <a:solidFill>
                            <a:srgbClr val="5C6166"/>
                          </a:solidFill>
                          <a:latin typeface="Calibri" pitchFamily="34" charset="0"/>
                          <a:ea typeface="Calibri" pitchFamily="34" charset="-122"/>
                          <a:cs typeface="Calibri" pitchFamily="34" charset="-120"/>
                        </a:rPr>
                        <a:t>CLAUDE.md / AGENTS.md</a:t>
                      </a:r>
                      <a:endParaRPr lang="en-US" sz="1100" dirty="0">
                        <a:latin typeface="Calibri" charset="0"/>
                        <a:ea typeface="Calibri" charset="0"/>
                        <a:cs typeface="Calibri" charset="0"/>
                      </a:endParaRPr>
                    </a:p>
                    <a:p>
                      <a:pPr indent="0" marL="0">
                        <a:buNone/>
                      </a:pPr>
                      <a:r>
                        <a:rPr lang="en-US" sz="1100" dirty="0">
                          <a:solidFill>
                            <a:srgbClr val="5C6166"/>
                          </a:solidFill>
                          <a:latin typeface="Calibri" pitchFamily="34" charset="0"/>
                          <a:ea typeface="Calibri" pitchFamily="34" charset="-122"/>
                          <a:cs typeface="Calibri" pitchFamily="34" charset="-120"/>
                        </a:rPr>
                        <a:t>Skills・設計ドキュメント・persona</a:t>
                      </a:r>
                      <a:endParaRPr lang="en-US" sz="110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100" dirty="0">
                          <a:solidFill>
                            <a:srgbClr val="5C6166"/>
                          </a:solidFill>
                          <a:latin typeface="Calibri" pitchFamily="34" charset="0"/>
                          <a:ea typeface="Calibri" pitchFamily="34" charset="-122"/>
                          <a:cs typeface="Calibri" pitchFamily="34" charset="-120"/>
                        </a:rPr>
                        <a:t>AI コードレビュー</a:t>
                      </a:r>
                      <a:endParaRPr lang="en-US" sz="1100" dirty="0">
                        <a:latin typeface="Calibri" charset="0"/>
                        <a:ea typeface="Calibri" charset="0"/>
                        <a:cs typeface="Calibri" charset="0"/>
                      </a:endParaRPr>
                    </a:p>
                    <a:p>
                      <a:pPr indent="0" marL="0">
                        <a:buNone/>
                      </a:pPr>
                      <a:r>
                        <a:rPr lang="en-US" sz="1100" dirty="0">
                          <a:solidFill>
                            <a:srgbClr val="5C6166"/>
                          </a:solidFill>
                          <a:latin typeface="Calibri" pitchFamily="34" charset="0"/>
                          <a:ea typeface="Calibri" pitchFamily="34" charset="-122"/>
                          <a:cs typeface="Calibri" pitchFamily="34" charset="-120"/>
                        </a:rPr>
                        <a:t>LLM-as-judge・review-gate</a:t>
                      </a:r>
                      <a:endParaRPr lang="en-US" sz="110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r>
            </a:tbl>
          </a:graphicData>
        </a:graphic>
      </p:graphicFrame>
      <p:sp>
        <p:nvSpPr>
          <p:cNvPr id="8" name="Shape 5"/>
          <p:cNvSpPr/>
          <p:nvPr/>
        </p:nvSpPr>
        <p:spPr>
          <a:xfrm>
            <a:off x="8366760" y="1691640"/>
            <a:ext cx="3291840" cy="1417320"/>
          </a:xfrm>
          <a:prstGeom prst="roundRect">
            <a:avLst>
              <a:gd name="adj" fmla="val 3871"/>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9" name="Text 6"/>
          <p:cNvSpPr txBox="1"/>
          <p:nvPr/>
        </p:nvSpPr>
        <p:spPr>
          <a:xfrm>
            <a:off x="8622792" y="1874520"/>
            <a:ext cx="277977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四象限が揃って強い</a:t>
            </a:r>
            <a:endParaRPr lang="en-US" sz="1400" dirty="0"/>
          </a:p>
        </p:txBody>
      </p:sp>
      <p:sp>
        <p:nvSpPr>
          <p:cNvPr id="10" name="Text 7"/>
          <p:cNvSpPr txBox="1"/>
          <p:nvPr/>
        </p:nvSpPr>
        <p:spPr>
          <a:xfrm>
            <a:off x="8622792" y="2258568"/>
            <a:ext cx="2779776" cy="685800"/>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推論だけ（レビューはするがテストが無い）も、計算だけ（テストは通るが設計の妥当性を誰も見ない）も穴になる。</a:t>
            </a:r>
            <a:endParaRPr lang="en-US" sz="1100" dirty="0"/>
          </a:p>
        </p:txBody>
      </p:sp>
      <p:sp>
        <p:nvSpPr>
          <p:cNvPr id="11" name="Shape 8"/>
          <p:cNvSpPr/>
          <p:nvPr/>
        </p:nvSpPr>
        <p:spPr>
          <a:xfrm>
            <a:off x="8366760" y="3200400"/>
            <a:ext cx="3291840" cy="1417320"/>
          </a:xfrm>
          <a:prstGeom prst="roundRect">
            <a:avLst>
              <a:gd name="adj" fmla="val 3871"/>
            </a:avLst>
          </a:prstGeom>
          <a:solidFill>
            <a:srgbClr val="E7EFEB"/>
          </a:solidFill>
          <a:ln w="6350">
            <a:solidFill>
              <a:srgbClr val="E7EFEB"/>
            </a:solidFill>
            <a:prstDash val="solid"/>
          </a:ln>
          <a:effectLst>
            <a:outerShdw sx="100000" sy="100000" kx="0" ky="0" algn="bl" rotWithShape="0" blurRad="101600" dist="12700" dir="5400000">
              <a:srgbClr val="000000">
                <a:alpha val="10000"/>
              </a:srgbClr>
            </a:outerShdw>
          </a:effectLst>
        </p:spPr>
      </p:sp>
      <p:sp>
        <p:nvSpPr>
          <p:cNvPr id="12" name="Text 9"/>
          <p:cNvSpPr txBox="1"/>
          <p:nvPr/>
        </p:nvSpPr>
        <p:spPr>
          <a:xfrm>
            <a:off x="8622792" y="3383280"/>
            <a:ext cx="277977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計算的センサーが一次</a:t>
            </a:r>
            <a:endParaRPr lang="en-US" sz="1400" dirty="0"/>
          </a:p>
        </p:txBody>
      </p:sp>
      <p:sp>
        <p:nvSpPr>
          <p:cNvPr id="13" name="Text 10"/>
          <p:cNvSpPr txBox="1"/>
          <p:nvPr/>
        </p:nvSpPr>
        <p:spPr>
          <a:xfrm>
            <a:off x="8622792" y="3767328"/>
            <a:ext cx="2779776" cy="685800"/>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計算的センサーは sweet-talk できない。だから最強のバックプレッシャーになる。推論的センサーはその二次。</a:t>
            </a:r>
            <a:endParaRPr lang="en-US" sz="1100" dirty="0"/>
          </a:p>
        </p:txBody>
      </p:sp>
      <p:sp>
        <p:nvSpPr>
          <p:cNvPr id="14" name="Shape 11"/>
          <p:cNvSpPr/>
          <p:nvPr/>
        </p:nvSpPr>
        <p:spPr>
          <a:xfrm>
            <a:off x="8366760" y="4709160"/>
            <a:ext cx="3291840" cy="1325880"/>
          </a:xfrm>
          <a:prstGeom prst="roundRect">
            <a:avLst>
              <a:gd name="adj" fmla="val 4138"/>
            </a:avLst>
          </a:prstGeom>
          <a:solidFill>
            <a:srgbClr val="F3EAE6"/>
          </a:solidFill>
          <a:ln w="6350">
            <a:solidFill>
              <a:srgbClr val="F3EAE6"/>
            </a:solidFill>
            <a:prstDash val="solid"/>
          </a:ln>
          <a:effectLst>
            <a:outerShdw sx="100000" sy="100000" kx="0" ky="0" algn="bl" rotWithShape="0" blurRad="101600" dist="12700" dir="5400000">
              <a:srgbClr val="000000">
                <a:alpha val="10000"/>
              </a:srgbClr>
            </a:outerShdw>
          </a:effectLst>
        </p:spPr>
      </p:sp>
      <p:sp>
        <p:nvSpPr>
          <p:cNvPr id="15" name="Text 12"/>
          <p:cNvSpPr txBox="1"/>
          <p:nvPr/>
        </p:nvSpPr>
        <p:spPr>
          <a:xfrm>
            <a:off x="8622792" y="4892040"/>
            <a:ext cx="2779776" cy="320040"/>
          </a:xfrm>
          <a:prstGeom prst="rect">
            <a:avLst/>
          </a:prstGeom>
          <a:noFill/>
          <a:ln/>
        </p:spPr>
        <p:txBody>
          <a:bodyPr wrap="square" lIns="0" tIns="0" rIns="0" bIns="0" rtlCol="0" anchor="ctr"/>
          <a:lstStyle/>
          <a:p>
            <a:pPr indent="0" marL="0">
              <a:buNone/>
            </a:pPr>
            <a:r>
              <a:rPr lang="en-US" sz="1400" b="1" dirty="0">
                <a:solidFill>
                  <a:srgbClr val="A33A21"/>
                </a:solidFill>
                <a:latin typeface="Arial" pitchFamily="34" charset="0"/>
                <a:ea typeface="Arial" pitchFamily="34" charset="-122"/>
                <a:cs typeface="Arial" pitchFamily="34" charset="-120"/>
              </a:rPr>
              <a:t>「存在する」≠「効いている」</a:t>
            </a:r>
            <a:endParaRPr lang="en-US" sz="1400" dirty="0"/>
          </a:p>
        </p:txBody>
      </p:sp>
      <p:sp>
        <p:nvSpPr>
          <p:cNvPr id="16" name="Text 13"/>
          <p:cNvSpPr txBox="1"/>
          <p:nvPr/>
        </p:nvSpPr>
        <p:spPr>
          <a:xfrm>
            <a:off x="8622792" y="5276088"/>
            <a:ext cx="2779776" cy="594360"/>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どの hook にも acceptance gate にも繋がっていない lint は、ループに何の back pressure もかけない。</a:t>
            </a:r>
            <a:endParaRPr lang="en-US" sz="1100" dirty="0"/>
          </a:p>
        </p:txBody>
      </p:sp>
      <p:sp>
        <p:nvSpPr>
          <p:cNvPr id="17" name="Shape 14"/>
          <p:cNvSpPr/>
          <p:nvPr/>
        </p:nvSpPr>
        <p:spPr>
          <a:xfrm>
            <a:off x="502920" y="4709160"/>
            <a:ext cx="7589520" cy="1325880"/>
          </a:xfrm>
          <a:prstGeom prst="roundRect">
            <a:avLst>
              <a:gd name="adj" fmla="val 4138"/>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8" name="Text 15"/>
          <p:cNvSpPr txBox="1"/>
          <p:nvPr/>
        </p:nvSpPr>
        <p:spPr>
          <a:xfrm>
            <a:off x="758952" y="4892040"/>
            <a:ext cx="707745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この 2×2 は、自分のプロジェクトにも当てられる</a:t>
            </a:r>
            <a:endParaRPr lang="en-US" sz="1400" dirty="0"/>
          </a:p>
        </p:txBody>
      </p:sp>
      <p:sp>
        <p:nvSpPr>
          <p:cNvPr id="19" name="Text 16"/>
          <p:cNvSpPr txBox="1"/>
          <p:nvPr/>
        </p:nvSpPr>
        <p:spPr>
          <a:xfrm>
            <a:off x="758952" y="5276088"/>
            <a:ext cx="7077456" cy="594360"/>
          </a:xfrm>
          <a:prstGeom prst="rect">
            <a:avLst/>
          </a:prstGeom>
          <a:noFill/>
          <a:ln/>
        </p:spPr>
        <p:txBody>
          <a:bodyPr wrap="square" lIns="0" tIns="0" rIns="0" bIns="0" rtlCol="0" anchor="t"/>
          <a:lstStyle/>
          <a:p>
            <a:pPr indent="0" marL="0">
              <a:lnSpc>
                <a:spcPts val="1600"/>
              </a:lnSpc>
              <a:buNone/>
            </a:pPr>
            <a:r>
              <a:rPr lang="en-US" sz="1150" dirty="0">
                <a:solidFill>
                  <a:srgbClr val="5C6166"/>
                </a:solidFill>
                <a:latin typeface="Calibri" pitchFamily="34" charset="0"/>
                <a:ea typeface="Calibri" pitchFamily="34" charset="-122"/>
                <a:cs typeface="Calibri" pitchFamily="34" charset="-120"/>
              </a:rPr>
              <a:t>/rig:harness が read-only で棚卸しし、空いている象限と「あるのに効いていない資産」を名指しする。答えは「新しいルールを足す」ではなく、接続する・強制する・減らす。</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はじめに · 06</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それらへの一般的な対応と、その限界</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8</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6949440" cy="914400"/>
        </p:xfrm>
        <a:graphic>
          <a:graphicData uri="http://schemas.openxmlformats.org/drawingml/2006/table">
            <a:tbl>
              <a:tblPr/>
              <a:tblGrid>
                <a:gridCol w="2377440"/>
                <a:gridCol w="4572000"/>
              </a:tblGrid>
              <a:tr h="603504">
                <a:tc>
                  <a:txBody>
                    <a:bodyPr/>
                    <a:lstStyle/>
                    <a:p>
                      <a:pPr indent="0" marL="0">
                        <a:buNone/>
                      </a:pPr>
                      <a:r>
                        <a:rPr lang="en-US" sz="1050" b="1" dirty="0">
                          <a:solidFill>
                            <a:srgbClr val="FFFFFF"/>
                          </a:solidFill>
                          <a:latin typeface="Arial" pitchFamily="34" charset="0"/>
                          <a:ea typeface="Arial" pitchFamily="34" charset="-122"/>
                          <a:cs typeface="Arial" pitchFamily="34" charset="-120"/>
                        </a:rPr>
                        <a:t>よく採られる対応</a:t>
                      </a:r>
                      <a:endParaRPr lang="en-US" sz="1050" dirty="0">
                        <a:latin typeface="Arial" charset="0"/>
                        <a:ea typeface="Arial" charset="0"/>
                        <a:cs typeface="Arial"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1C1C1C"/>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どこで止まるか</a:t>
                      </a:r>
                      <a:endParaRPr lang="en-US" sz="1050" dirty="0">
                        <a:latin typeface="Arial" charset="0"/>
                        <a:ea typeface="Arial" charset="0"/>
                        <a:cs typeface="Arial"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1C1C1C"/>
                    </a:solidFill>
                  </a:tcPr>
                </a:tc>
              </a:tr>
              <a:tr h="603504">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プロンプトを磨く</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面が変わると再現しない。効果を測っていないので、良くなったかどうかも分からない</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r>
              <a:tr h="603504">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CLAUDE.md にルールを足す</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prose の依頼は守られないことがある。しかも足しすぎると文脈が濁って逆効果になる</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r>
              <a:tr h="603504">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lint / test / CI を用意する</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用意しただけでは、エージェントのループの外にある。人間の CI 待ちまで誰も見ない</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r>
              <a:tr h="603504">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AI レビューを足す</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生成者と同系統だと甘くなる。検出率が不明なので、通ったことに意味があるか分からない</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r>
              <a:tr h="603504">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人間のレビューを増やす</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スケールしない。ゴム印化しても、ゴム印になったこと自体を検知できない</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r>
            </a:tbl>
          </a:graphicData>
        </a:graphic>
      </p:graphicFrame>
      <p:sp>
        <p:nvSpPr>
          <p:cNvPr id="7" name="Text 4"/>
          <p:cNvSpPr txBox="1"/>
          <p:nvPr/>
        </p:nvSpPr>
        <p:spPr>
          <a:xfrm>
            <a:off x="7726680" y="1298448"/>
            <a:ext cx="4389120" cy="256032"/>
          </a:xfrm>
          <a:prstGeom prst="rect">
            <a:avLst/>
          </a:prstGeom>
          <a:noFill/>
          <a:ln/>
        </p:spPr>
        <p:txBody>
          <a:bodyPr wrap="square" lIns="0" tIns="0" rIns="0" bIns="0" rtlCol="0" anchor="ctr"/>
          <a:lstStyle/>
          <a:p>
            <a:pPr indent="0" marL="0">
              <a:buNone/>
            </a:pPr>
            <a:r>
              <a:rPr lang="en-US" sz="1200" b="1" spc="50" kern="0" dirty="0">
                <a:solidFill>
                  <a:srgbClr val="1F6F5C"/>
                </a:solidFill>
                <a:latin typeface="Arial" pitchFamily="34" charset="0"/>
                <a:ea typeface="Arial" pitchFamily="34" charset="-122"/>
                <a:cs typeface="Arial" pitchFamily="34" charset="-120"/>
              </a:rPr>
              <a:t>効く順序は、足すことではない</a:t>
            </a:r>
            <a:endParaRPr lang="en-US" sz="1200" dirty="0"/>
          </a:p>
        </p:txBody>
      </p:sp>
      <p:sp>
        <p:nvSpPr>
          <p:cNvPr id="8" name="Shape 5"/>
          <p:cNvSpPr/>
          <p:nvPr/>
        </p:nvSpPr>
        <p:spPr>
          <a:xfrm>
            <a:off x="7726680" y="1627632"/>
            <a:ext cx="4434840" cy="1051560"/>
          </a:xfrm>
          <a:prstGeom prst="roundRect">
            <a:avLst>
              <a:gd name="adj" fmla="val 5217"/>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9" name="Shape 6"/>
          <p:cNvSpPr/>
          <p:nvPr/>
        </p:nvSpPr>
        <p:spPr>
          <a:xfrm>
            <a:off x="7982712" y="1828800"/>
            <a:ext cx="384048" cy="384048"/>
          </a:xfrm>
          <a:prstGeom prst="ellipse">
            <a:avLst/>
          </a:prstGeom>
          <a:solidFill>
            <a:srgbClr val="1F6F5C"/>
          </a:solidFill>
          <a:ln w="12700">
            <a:solidFill>
              <a:srgbClr val="1F6F5C"/>
            </a:solidFill>
            <a:prstDash val="solid"/>
          </a:ln>
        </p:spPr>
      </p:sp>
      <p:sp>
        <p:nvSpPr>
          <p:cNvPr id="10" name="Text 7"/>
          <p:cNvSpPr txBox="1"/>
          <p:nvPr/>
        </p:nvSpPr>
        <p:spPr>
          <a:xfrm>
            <a:off x="7982712" y="1828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8513064" y="1847088"/>
            <a:ext cx="3392424" cy="320040"/>
          </a:xfrm>
          <a:prstGeom prst="rect">
            <a:avLst/>
          </a:prstGeom>
          <a:noFill/>
          <a:ln/>
        </p:spPr>
        <p:txBody>
          <a:bodyPr wrap="square" lIns="0" tIns="0" rIns="0" bIns="0" rtlCol="0" anchor="ctr"/>
          <a:lstStyle/>
          <a:p>
            <a:pPr indent="0" marL="0">
              <a:buNone/>
            </a:pPr>
            <a:r>
              <a:rPr lang="en-US" sz="1250" b="1" dirty="0">
                <a:solidFill>
                  <a:srgbClr val="1C1C1C"/>
                </a:solidFill>
                <a:latin typeface="Arial" pitchFamily="34" charset="0"/>
                <a:ea typeface="Arial" pitchFamily="34" charset="-122"/>
                <a:cs typeface="Arial" pitchFamily="34" charset="-120"/>
              </a:rPr>
              <a:t>接続する</a:t>
            </a:r>
            <a:endParaRPr lang="en-US" sz="1250" dirty="0"/>
          </a:p>
        </p:txBody>
      </p:sp>
      <p:sp>
        <p:nvSpPr>
          <p:cNvPr id="12" name="Text 9"/>
          <p:cNvSpPr txBox="1"/>
          <p:nvPr/>
        </p:nvSpPr>
        <p:spPr>
          <a:xfrm>
            <a:off x="8513064" y="2194560"/>
            <a:ext cx="3392424" cy="320040"/>
          </a:xfrm>
          <a:prstGeom prst="rect">
            <a:avLst/>
          </a:prstGeom>
          <a:noFill/>
          <a:ln/>
        </p:spPr>
        <p:txBody>
          <a:bodyPr wrap="square" lIns="0" tIns="0" rIns="0" bIns="0" rtlCol="0" anchor="t"/>
          <a:lstStyle/>
          <a:p>
            <a:pPr indent="0" marL="0">
              <a:lnSpc>
                <a:spcPts val="1300"/>
              </a:lnSpc>
              <a:buNone/>
            </a:pPr>
            <a:r>
              <a:rPr lang="en-US" sz="1050" dirty="0">
                <a:solidFill>
                  <a:srgbClr val="5C6166"/>
                </a:solidFill>
                <a:latin typeface="Calibri" pitchFamily="34" charset="0"/>
                <a:ea typeface="Calibri" pitchFamily="34" charset="-122"/>
                <a:cs typeface="Calibri" pitchFamily="34" charset="-120"/>
              </a:rPr>
              <a:t>既にある lint・型・テストを、hook と acceptance gate に繋いでループの中へ入れる</a:t>
            </a:r>
            <a:endParaRPr lang="en-US" sz="1050" dirty="0"/>
          </a:p>
        </p:txBody>
      </p:sp>
      <p:sp>
        <p:nvSpPr>
          <p:cNvPr id="13" name="Shape 10"/>
          <p:cNvSpPr/>
          <p:nvPr/>
        </p:nvSpPr>
        <p:spPr>
          <a:xfrm>
            <a:off x="7726680" y="2798064"/>
            <a:ext cx="4434840" cy="1051560"/>
          </a:xfrm>
          <a:prstGeom prst="roundRect">
            <a:avLst>
              <a:gd name="adj" fmla="val 5217"/>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4" name="Shape 11"/>
          <p:cNvSpPr/>
          <p:nvPr/>
        </p:nvSpPr>
        <p:spPr>
          <a:xfrm>
            <a:off x="7982712" y="2999232"/>
            <a:ext cx="384048" cy="384048"/>
          </a:xfrm>
          <a:prstGeom prst="ellipse">
            <a:avLst/>
          </a:prstGeom>
          <a:solidFill>
            <a:srgbClr val="1F6F5C"/>
          </a:solidFill>
          <a:ln w="12700">
            <a:solidFill>
              <a:srgbClr val="1F6F5C"/>
            </a:solidFill>
            <a:prstDash val="solid"/>
          </a:ln>
        </p:spPr>
      </p:sp>
      <p:sp>
        <p:nvSpPr>
          <p:cNvPr id="15" name="Text 12"/>
          <p:cNvSpPr txBox="1"/>
          <p:nvPr/>
        </p:nvSpPr>
        <p:spPr>
          <a:xfrm>
            <a:off x="7982712" y="29992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8513064" y="3017520"/>
            <a:ext cx="3392424" cy="320040"/>
          </a:xfrm>
          <a:prstGeom prst="rect">
            <a:avLst/>
          </a:prstGeom>
          <a:noFill/>
          <a:ln/>
        </p:spPr>
        <p:txBody>
          <a:bodyPr wrap="square" lIns="0" tIns="0" rIns="0" bIns="0" rtlCol="0" anchor="ctr"/>
          <a:lstStyle/>
          <a:p>
            <a:pPr indent="0" marL="0">
              <a:buNone/>
            </a:pPr>
            <a:r>
              <a:rPr lang="en-US" sz="1250" b="1" dirty="0">
                <a:solidFill>
                  <a:srgbClr val="1C1C1C"/>
                </a:solidFill>
                <a:latin typeface="Arial" pitchFamily="34" charset="0"/>
                <a:ea typeface="Arial" pitchFamily="34" charset="-122"/>
                <a:cs typeface="Arial" pitchFamily="34" charset="-120"/>
              </a:rPr>
              <a:t>強制する</a:t>
            </a:r>
            <a:endParaRPr lang="en-US" sz="1250" dirty="0"/>
          </a:p>
        </p:txBody>
      </p:sp>
      <p:sp>
        <p:nvSpPr>
          <p:cNvPr id="17" name="Text 14"/>
          <p:cNvSpPr txBox="1"/>
          <p:nvPr/>
        </p:nvSpPr>
        <p:spPr>
          <a:xfrm>
            <a:off x="8513064" y="3364992"/>
            <a:ext cx="3392424" cy="320040"/>
          </a:xfrm>
          <a:prstGeom prst="rect">
            <a:avLst/>
          </a:prstGeom>
          <a:noFill/>
          <a:ln/>
        </p:spPr>
        <p:txBody>
          <a:bodyPr wrap="square" lIns="0" tIns="0" rIns="0" bIns="0" rtlCol="0" anchor="t"/>
          <a:lstStyle/>
          <a:p>
            <a:pPr indent="0" marL="0">
              <a:lnSpc>
                <a:spcPts val="1300"/>
              </a:lnSpc>
              <a:buNone/>
            </a:pPr>
            <a:r>
              <a:rPr lang="en-US" sz="1050" dirty="0">
                <a:solidFill>
                  <a:srgbClr val="5C6166"/>
                </a:solidFill>
                <a:latin typeface="Calibri" pitchFamily="34" charset="0"/>
                <a:ea typeface="Calibri" pitchFamily="34" charset="-122"/>
                <a:cs typeface="Calibri" pitchFamily="34" charset="-120"/>
              </a:rPr>
              <a:t>重要なルールを prose から決定論的な強制へ移す</a:t>
            </a:r>
            <a:endParaRPr lang="en-US" sz="1050" dirty="0"/>
          </a:p>
        </p:txBody>
      </p:sp>
      <p:sp>
        <p:nvSpPr>
          <p:cNvPr id="18" name="Shape 15"/>
          <p:cNvSpPr/>
          <p:nvPr/>
        </p:nvSpPr>
        <p:spPr>
          <a:xfrm>
            <a:off x="7726680" y="3968496"/>
            <a:ext cx="4434840" cy="1051560"/>
          </a:xfrm>
          <a:prstGeom prst="roundRect">
            <a:avLst>
              <a:gd name="adj" fmla="val 5217"/>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9" name="Shape 16"/>
          <p:cNvSpPr/>
          <p:nvPr/>
        </p:nvSpPr>
        <p:spPr>
          <a:xfrm>
            <a:off x="7982712" y="4169664"/>
            <a:ext cx="384048" cy="384048"/>
          </a:xfrm>
          <a:prstGeom prst="ellipse">
            <a:avLst/>
          </a:prstGeom>
          <a:solidFill>
            <a:srgbClr val="1F6F5C"/>
          </a:solidFill>
          <a:ln w="12700">
            <a:solidFill>
              <a:srgbClr val="1F6F5C"/>
            </a:solidFill>
            <a:prstDash val="solid"/>
          </a:ln>
        </p:spPr>
      </p:sp>
      <p:sp>
        <p:nvSpPr>
          <p:cNvPr id="20" name="Text 17"/>
          <p:cNvSpPr txBox="1"/>
          <p:nvPr/>
        </p:nvSpPr>
        <p:spPr>
          <a:xfrm>
            <a:off x="7982712" y="41696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513064" y="4187952"/>
            <a:ext cx="3392424" cy="320040"/>
          </a:xfrm>
          <a:prstGeom prst="rect">
            <a:avLst/>
          </a:prstGeom>
          <a:noFill/>
          <a:ln/>
        </p:spPr>
        <p:txBody>
          <a:bodyPr wrap="square" lIns="0" tIns="0" rIns="0" bIns="0" rtlCol="0" anchor="ctr"/>
          <a:lstStyle/>
          <a:p>
            <a:pPr indent="0" marL="0">
              <a:buNone/>
            </a:pPr>
            <a:r>
              <a:rPr lang="en-US" sz="1250" b="1" dirty="0">
                <a:solidFill>
                  <a:srgbClr val="1C1C1C"/>
                </a:solidFill>
                <a:latin typeface="Arial" pitchFamily="34" charset="0"/>
                <a:ea typeface="Arial" pitchFamily="34" charset="-122"/>
                <a:cs typeface="Arial" pitchFamily="34" charset="-120"/>
              </a:rPr>
              <a:t>減らす</a:t>
            </a:r>
            <a:endParaRPr lang="en-US" sz="1250" dirty="0"/>
          </a:p>
        </p:txBody>
      </p:sp>
      <p:sp>
        <p:nvSpPr>
          <p:cNvPr id="22" name="Text 19"/>
          <p:cNvSpPr txBox="1"/>
          <p:nvPr/>
        </p:nvSpPr>
        <p:spPr>
          <a:xfrm>
            <a:off x="8513064" y="4535424"/>
            <a:ext cx="3392424" cy="320040"/>
          </a:xfrm>
          <a:prstGeom prst="rect">
            <a:avLst/>
          </a:prstGeom>
          <a:noFill/>
          <a:ln/>
        </p:spPr>
        <p:txBody>
          <a:bodyPr wrap="square" lIns="0" tIns="0" rIns="0" bIns="0" rtlCol="0" anchor="t"/>
          <a:lstStyle/>
          <a:p>
            <a:pPr indent="0" marL="0">
              <a:lnSpc>
                <a:spcPts val="1300"/>
              </a:lnSpc>
              <a:buNone/>
            </a:pPr>
            <a:r>
              <a:rPr lang="en-US" sz="1050" dirty="0">
                <a:solidFill>
                  <a:srgbClr val="5C6166"/>
                </a:solidFill>
                <a:latin typeface="Calibri" pitchFamily="34" charset="0"/>
                <a:ea typeface="Calibri" pitchFamily="34" charset="-122"/>
                <a:cs typeface="Calibri" pitchFamily="34" charset="-120"/>
              </a:rPr>
              <a:t>効いていないルールを落とす。足したら減らす候補も持つ</a:t>
            </a:r>
            <a:endParaRPr lang="en-US" sz="1050" dirty="0"/>
          </a:p>
        </p:txBody>
      </p:sp>
      <p:sp>
        <p:nvSpPr>
          <p:cNvPr id="23" name="Shape 20"/>
          <p:cNvSpPr/>
          <p:nvPr/>
        </p:nvSpPr>
        <p:spPr>
          <a:xfrm>
            <a:off x="502920" y="5029200"/>
            <a:ext cx="6949440" cy="868680"/>
          </a:xfrm>
          <a:prstGeom prst="roundRect">
            <a:avLst>
              <a:gd name="adj" fmla="val 6316"/>
            </a:avLst>
          </a:prstGeom>
          <a:solidFill>
            <a:srgbClr val="E7EFEB"/>
          </a:solidFill>
          <a:ln w="6350">
            <a:solidFill>
              <a:srgbClr val="E7EFEB"/>
            </a:solidFill>
            <a:prstDash val="solid"/>
          </a:ln>
          <a:effectLst>
            <a:outerShdw sx="100000" sy="100000" kx="0" ky="0" algn="bl" rotWithShape="0" blurRad="101600" dist="12700" dir="5400000">
              <a:srgbClr val="000000">
                <a:alpha val="10000"/>
              </a:srgbClr>
            </a:outerShdw>
          </a:effectLst>
        </p:spPr>
      </p:sp>
      <p:sp>
        <p:nvSpPr>
          <p:cNvPr id="24" name="Text 21"/>
          <p:cNvSpPr txBox="1"/>
          <p:nvPr/>
        </p:nvSpPr>
        <p:spPr>
          <a:xfrm>
            <a:off x="758952" y="5212080"/>
            <a:ext cx="643737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新しいルールを書くのは、最後</a:t>
            </a:r>
            <a:endParaRPr lang="en-US" sz="1400" dirty="0"/>
          </a:p>
        </p:txBody>
      </p:sp>
      <p:sp>
        <p:nvSpPr>
          <p:cNvPr id="25" name="Text 22"/>
          <p:cNvSpPr txBox="1"/>
          <p:nvPr/>
        </p:nvSpPr>
        <p:spPr>
          <a:xfrm>
            <a:off x="758952" y="5596128"/>
            <a:ext cx="6437376" cy="137160"/>
          </a:xfrm>
          <a:prstGeom prst="rect">
            <a:avLst/>
          </a:prstGeom>
          <a:noFill/>
          <a:ln/>
        </p:spPr>
        <p:txBody>
          <a:bodyPr wrap="square" lIns="0" tIns="0" rIns="0" bIns="0" rtlCol="0" anchor="t"/>
          <a:lstStyle/>
          <a:p>
            <a:pPr indent="0" marL="0">
              <a:lnSpc>
                <a:spcPts val="1500"/>
              </a:lnSpc>
              <a:buNone/>
            </a:pPr>
            <a:r>
              <a:rPr lang="en-US" sz="1150" dirty="0">
                <a:solidFill>
                  <a:srgbClr val="5C6166"/>
                </a:solidFill>
                <a:latin typeface="Calibri" pitchFamily="34" charset="0"/>
                <a:ea typeface="Calibri" pitchFamily="34" charset="-122"/>
                <a:cs typeface="Calibri" pitchFamily="34" charset="-120"/>
              </a:rPr>
              <a:t>善意のルール追加が事態を悪くすることがある。まず接続し、次に強制し、そのうえで減らす。</a:t>
            </a:r>
            <a:endParaRPr lang="en-US" sz="1150" dirty="0"/>
          </a:p>
        </p:txBody>
      </p:sp>
      <p:sp>
        <p:nvSpPr>
          <p:cNvPr id="26" name="Shape 23"/>
          <p:cNvSpPr/>
          <p:nvPr/>
        </p:nvSpPr>
        <p:spPr>
          <a:xfrm>
            <a:off x="7726680" y="5166360"/>
            <a:ext cx="4434840" cy="731520"/>
          </a:xfrm>
          <a:prstGeom prst="roundRect">
            <a:avLst>
              <a:gd name="adj" fmla="val 7500"/>
            </a:avLst>
          </a:prstGeom>
          <a:solidFill>
            <a:srgbClr val="F3EAE6"/>
          </a:solidFill>
          <a:ln w="6350">
            <a:solidFill>
              <a:srgbClr val="F3EAE6"/>
            </a:solidFill>
            <a:prstDash val="solid"/>
          </a:ln>
          <a:effectLst>
            <a:outerShdw sx="100000" sy="100000" kx="0" ky="0" algn="bl" rotWithShape="0" blurRad="101600" dist="12700" dir="5400000">
              <a:srgbClr val="000000">
                <a:alpha val="10000"/>
              </a:srgbClr>
            </a:outerShdw>
          </a:effectLst>
        </p:spPr>
      </p:sp>
      <p:sp>
        <p:nvSpPr>
          <p:cNvPr id="27" name="Text 24"/>
          <p:cNvSpPr txBox="1"/>
          <p:nvPr/>
        </p:nvSpPr>
        <p:spPr>
          <a:xfrm>
            <a:off x="7982712" y="5349240"/>
            <a:ext cx="3922776" cy="320040"/>
          </a:xfrm>
          <a:prstGeom prst="rect">
            <a:avLst/>
          </a:prstGeom>
          <a:noFill/>
          <a:ln/>
        </p:spPr>
        <p:txBody>
          <a:bodyPr wrap="square" lIns="0" tIns="0" rIns="0" bIns="0" rtlCol="0" anchor="ctr"/>
          <a:lstStyle/>
          <a:p>
            <a:pPr indent="0" marL="0">
              <a:buNone/>
            </a:pPr>
            <a:r>
              <a:rPr lang="en-US" sz="1400" b="1" dirty="0">
                <a:solidFill>
                  <a:srgbClr val="A33A21"/>
                </a:solidFill>
                <a:latin typeface="Arial" pitchFamily="34" charset="0"/>
                <a:ea typeface="Arial" pitchFamily="34" charset="-122"/>
                <a:cs typeface="Arial" pitchFamily="34" charset="-120"/>
              </a:rPr>
              <a:t>測っていないゲートは願望</a:t>
            </a:r>
            <a:endParaRPr lang="en-US" sz="1400" dirty="0"/>
          </a:p>
        </p:txBody>
      </p:sp>
      <p:sp>
        <p:nvSpPr>
          <p:cNvPr id="28" name="Text 25"/>
          <p:cNvSpPr txBox="1"/>
          <p:nvPr/>
        </p:nvSpPr>
        <p:spPr>
          <a:xfrm>
            <a:off x="7982712" y="5733288"/>
            <a:ext cx="3922776" cy="0"/>
          </a:xfrm>
          <a:prstGeom prst="rect">
            <a:avLst/>
          </a:prstGeom>
          <a:noFill/>
          <a:ln/>
        </p:spPr>
        <p:txBody>
          <a:bodyPr wrap="square" lIns="0" tIns="0" rIns="0" bIns="0" rtlCol="0" anchor="t"/>
          <a:lstStyle/>
          <a:p>
            <a:pPr indent="0" marL="0">
              <a:lnSpc>
                <a:spcPts val="1300"/>
              </a:lnSpc>
              <a:buNone/>
            </a:pPr>
            <a:r>
              <a:rPr lang="en-US" sz="1050" dirty="0">
                <a:solidFill>
                  <a:srgbClr val="5C6166"/>
                </a:solidFill>
                <a:latin typeface="Calibri" pitchFamily="34" charset="0"/>
                <a:ea typeface="Calibri" pitchFamily="34" charset="-122"/>
                <a:cs typeface="Calibri" pitchFamily="34" charset="-120"/>
              </a:rPr>
              <a:t>効果の計測が無いと、この順序自体を回せない。</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はじめに · 07</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rig の活用 — 四象限を、どう埋めるか</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9</a:t>
            </a:r>
            <a:endParaRPr lang="en-US" sz="900" dirty="0"/>
          </a:p>
        </p:txBody>
      </p:sp>
      <p:sp>
        <p:nvSpPr>
          <p:cNvPr id="6" name="Shape 4"/>
          <p:cNvSpPr/>
          <p:nvPr/>
        </p:nvSpPr>
        <p:spPr>
          <a:xfrm>
            <a:off x="502920" y="1298448"/>
            <a:ext cx="3703320" cy="1463040"/>
          </a:xfrm>
          <a:prstGeom prst="roundRect">
            <a:avLst>
              <a:gd name="adj" fmla="val 3750"/>
            </a:avLst>
          </a:prstGeom>
          <a:solidFill>
            <a:srgbClr val="F1F1EF"/>
          </a:solidFill>
          <a:ln w="6350">
            <a:solidFill>
              <a:srgbClr val="F1F1EF"/>
            </a:solidFill>
            <a:prstDash val="solid"/>
          </a:ln>
          <a:effectLst>
            <a:outerShdw sx="100000" sy="100000" kx="0" ky="0" algn="bl" rotWithShape="0" blurRad="101600" dist="12700" dir="5400000">
              <a:srgbClr val="000000">
                <a:alpha val="10000"/>
              </a:srgbClr>
            </a:outerShdw>
          </a:effectLst>
        </p:spPr>
      </p:sp>
      <p:sp>
        <p:nvSpPr>
          <p:cNvPr id="7" name="Text 5"/>
          <p:cNvSpPr txBox="1"/>
          <p:nvPr/>
        </p:nvSpPr>
        <p:spPr>
          <a:xfrm>
            <a:off x="758952" y="1481328"/>
            <a:ext cx="3191256" cy="320040"/>
          </a:xfrm>
          <a:prstGeom prst="rect">
            <a:avLst/>
          </a:prstGeom>
          <a:noFill/>
          <a:ln/>
        </p:spPr>
        <p:txBody>
          <a:bodyPr wrap="square" lIns="0" tIns="0" rIns="0" bIns="0" rtlCol="0" anchor="ctr"/>
          <a:lstStyle/>
          <a:p>
            <a:pPr indent="0" marL="0">
              <a:buNone/>
            </a:pPr>
            <a:r>
              <a:rPr lang="en-US" sz="1300" b="1" dirty="0">
                <a:solidFill>
                  <a:srgbClr val="1C1C1C"/>
                </a:solidFill>
                <a:latin typeface="Arial" pitchFamily="34" charset="0"/>
                <a:ea typeface="Arial" pitchFamily="34" charset="-122"/>
                <a:cs typeface="Arial" pitchFamily="34" charset="-120"/>
              </a:rPr>
              <a:t>計算的ガイド</a:t>
            </a:r>
            <a:endParaRPr lang="en-US" sz="1300" dirty="0"/>
          </a:p>
        </p:txBody>
      </p:sp>
      <p:sp>
        <p:nvSpPr>
          <p:cNvPr id="8" name="Text 6"/>
          <p:cNvSpPr txBox="1"/>
          <p:nvPr/>
        </p:nvSpPr>
        <p:spPr>
          <a:xfrm>
            <a:off x="758952" y="1865376"/>
            <a:ext cx="3191256" cy="731520"/>
          </a:xfrm>
          <a:prstGeom prst="rect">
            <a:avLst/>
          </a:prstGeom>
          <a:noFill/>
          <a:ln/>
        </p:spPr>
        <p:txBody>
          <a:bodyPr wrap="square" lIns="0" tIns="0" rIns="0" bIns="0" rtlCol="0" anchor="t"/>
          <a:lstStyle/>
          <a:p>
            <a:pPr indent="0" marL="0">
              <a:lnSpc>
                <a:spcPts val="1400"/>
              </a:lnSpc>
              <a:buNone/>
            </a:pPr>
            <a:r>
              <a:rPr lang="en-US" sz="1050" dirty="0">
                <a:solidFill>
                  <a:srgbClr val="5C6166"/>
                </a:solidFill>
                <a:latin typeface="Calibri" pitchFamily="34" charset="0"/>
                <a:ea typeface="Calibri" pitchFamily="34" charset="-122"/>
                <a:cs typeface="Calibri" pitchFamily="34" charset="-120"/>
              </a:rPr>
              <a:t>hook・manifest（.claude/rig.md）・recipe・scaffold。作業を始める前に、走らせ方と既定値を先回りで決める。</a:t>
            </a:r>
            <a:endParaRPr lang="en-US" sz="1050" dirty="0"/>
          </a:p>
        </p:txBody>
      </p:sp>
      <p:sp>
        <p:nvSpPr>
          <p:cNvPr id="9" name="Shape 7"/>
          <p:cNvSpPr/>
          <p:nvPr/>
        </p:nvSpPr>
        <p:spPr>
          <a:xfrm>
            <a:off x="4389120" y="1298448"/>
            <a:ext cx="3703320" cy="1463040"/>
          </a:xfrm>
          <a:prstGeom prst="roundRect">
            <a:avLst>
              <a:gd name="adj" fmla="val 3750"/>
            </a:avLst>
          </a:prstGeom>
          <a:solidFill>
            <a:srgbClr val="E7EFEB"/>
          </a:solidFill>
          <a:ln w="6350">
            <a:solidFill>
              <a:srgbClr val="E7EFEB"/>
            </a:solidFill>
            <a:prstDash val="solid"/>
          </a:ln>
          <a:effectLst>
            <a:outerShdw sx="100000" sy="100000" kx="0" ky="0" algn="bl" rotWithShape="0" blurRad="101600" dist="12700" dir="5400000">
              <a:srgbClr val="000000">
                <a:alpha val="10000"/>
              </a:srgbClr>
            </a:outerShdw>
          </a:effectLst>
        </p:spPr>
      </p:sp>
      <p:sp>
        <p:nvSpPr>
          <p:cNvPr id="10" name="Text 8"/>
          <p:cNvSpPr txBox="1"/>
          <p:nvPr/>
        </p:nvSpPr>
        <p:spPr>
          <a:xfrm>
            <a:off x="4645152" y="1481328"/>
            <a:ext cx="3191256" cy="320040"/>
          </a:xfrm>
          <a:prstGeom prst="rect">
            <a:avLst/>
          </a:prstGeom>
          <a:noFill/>
          <a:ln/>
        </p:spPr>
        <p:txBody>
          <a:bodyPr wrap="square" lIns="0" tIns="0" rIns="0" bIns="0" rtlCol="0" anchor="ctr"/>
          <a:lstStyle/>
          <a:p>
            <a:pPr indent="0" marL="0">
              <a:buNone/>
            </a:pPr>
            <a:r>
              <a:rPr lang="en-US" sz="1300" b="1" dirty="0">
                <a:solidFill>
                  <a:srgbClr val="1C1C1C"/>
                </a:solidFill>
                <a:latin typeface="Arial" pitchFamily="34" charset="0"/>
                <a:ea typeface="Arial" pitchFamily="34" charset="-122"/>
                <a:cs typeface="Arial" pitchFamily="34" charset="-120"/>
              </a:rPr>
              <a:t>計算的センサー</a:t>
            </a:r>
            <a:endParaRPr lang="en-US" sz="1300" dirty="0"/>
          </a:p>
        </p:txBody>
      </p:sp>
      <p:sp>
        <p:nvSpPr>
          <p:cNvPr id="11" name="Text 9"/>
          <p:cNvSpPr txBox="1"/>
          <p:nvPr/>
        </p:nvSpPr>
        <p:spPr>
          <a:xfrm>
            <a:off x="4645152" y="1865376"/>
            <a:ext cx="3191256" cy="731520"/>
          </a:xfrm>
          <a:prstGeom prst="rect">
            <a:avLst/>
          </a:prstGeom>
          <a:noFill/>
          <a:ln/>
        </p:spPr>
        <p:txBody>
          <a:bodyPr wrap="square" lIns="0" tIns="0" rIns="0" bIns="0" rtlCol="0" anchor="t"/>
          <a:lstStyle/>
          <a:p>
            <a:pPr indent="0" marL="0">
              <a:lnSpc>
                <a:spcPts val="1400"/>
              </a:lnSpc>
              <a:buNone/>
            </a:pPr>
            <a:r>
              <a:rPr lang="en-US" sz="1050" dirty="0">
                <a:solidFill>
                  <a:srgbClr val="5C6166"/>
                </a:solidFill>
                <a:latin typeface="Calibri" pitchFamily="34" charset="0"/>
                <a:ea typeface="Calibri" pitchFamily="34" charset="-122"/>
                <a:cs typeface="Calibri" pitchFamily="34" charset="-120"/>
              </a:rPr>
              <a:t>acceptance-gate の機械検証（build / lint / test / 型）＋ 決定論センサー（秘密情報・インジェクション・破壊的コマンド・ゲート改竄・schema-diff）。</a:t>
            </a:r>
            <a:endParaRPr lang="en-US" sz="1050" dirty="0"/>
          </a:p>
        </p:txBody>
      </p:sp>
      <p:sp>
        <p:nvSpPr>
          <p:cNvPr id="12" name="Shape 10"/>
          <p:cNvSpPr/>
          <p:nvPr/>
        </p:nvSpPr>
        <p:spPr>
          <a:xfrm>
            <a:off x="502920" y="2898648"/>
            <a:ext cx="3703320" cy="1463040"/>
          </a:xfrm>
          <a:prstGeom prst="roundRect">
            <a:avLst>
              <a:gd name="adj" fmla="val 3750"/>
            </a:avLst>
          </a:prstGeom>
          <a:solidFill>
            <a:srgbClr val="F1F1EF"/>
          </a:solidFill>
          <a:ln w="6350">
            <a:solidFill>
              <a:srgbClr val="F1F1EF"/>
            </a:solidFill>
            <a:prstDash val="solid"/>
          </a:ln>
          <a:effectLst>
            <a:outerShdw sx="100000" sy="100000" kx="0" ky="0" algn="bl" rotWithShape="0" blurRad="101600" dist="12700" dir="5400000">
              <a:srgbClr val="000000">
                <a:alpha val="10000"/>
              </a:srgbClr>
            </a:outerShdw>
          </a:effectLst>
        </p:spPr>
      </p:sp>
      <p:sp>
        <p:nvSpPr>
          <p:cNvPr id="13" name="Text 11"/>
          <p:cNvSpPr txBox="1"/>
          <p:nvPr/>
        </p:nvSpPr>
        <p:spPr>
          <a:xfrm>
            <a:off x="758952" y="3081528"/>
            <a:ext cx="3191256" cy="320040"/>
          </a:xfrm>
          <a:prstGeom prst="rect">
            <a:avLst/>
          </a:prstGeom>
          <a:noFill/>
          <a:ln/>
        </p:spPr>
        <p:txBody>
          <a:bodyPr wrap="square" lIns="0" tIns="0" rIns="0" bIns="0" rtlCol="0" anchor="ctr"/>
          <a:lstStyle/>
          <a:p>
            <a:pPr indent="0" marL="0">
              <a:buNone/>
            </a:pPr>
            <a:r>
              <a:rPr lang="en-US" sz="1300" b="1" dirty="0">
                <a:solidFill>
                  <a:srgbClr val="1C1C1C"/>
                </a:solidFill>
                <a:latin typeface="Arial" pitchFamily="34" charset="0"/>
                <a:ea typeface="Arial" pitchFamily="34" charset="-122"/>
                <a:cs typeface="Arial" pitchFamily="34" charset="-120"/>
              </a:rPr>
              <a:t>推論的ガイド</a:t>
            </a:r>
            <a:endParaRPr lang="en-US" sz="1300" dirty="0"/>
          </a:p>
        </p:txBody>
      </p:sp>
      <p:sp>
        <p:nvSpPr>
          <p:cNvPr id="14" name="Text 12"/>
          <p:cNvSpPr txBox="1"/>
          <p:nvPr/>
        </p:nvSpPr>
        <p:spPr>
          <a:xfrm>
            <a:off x="758952" y="3465576"/>
            <a:ext cx="3191256" cy="731520"/>
          </a:xfrm>
          <a:prstGeom prst="rect">
            <a:avLst/>
          </a:prstGeom>
          <a:noFill/>
          <a:ln/>
        </p:spPr>
        <p:txBody>
          <a:bodyPr wrap="square" lIns="0" tIns="0" rIns="0" bIns="0" rtlCol="0" anchor="t"/>
          <a:lstStyle/>
          <a:p>
            <a:pPr indent="0" marL="0">
              <a:lnSpc>
                <a:spcPts val="1400"/>
              </a:lnSpc>
              <a:buNone/>
            </a:pPr>
            <a:r>
              <a:rPr lang="en-US" sz="1050" dirty="0">
                <a:solidFill>
                  <a:srgbClr val="5C6166"/>
                </a:solidFill>
                <a:latin typeface="Calibri" pitchFamily="34" charset="0"/>
                <a:ea typeface="Calibri" pitchFamily="34" charset="-122"/>
                <a:cs typeface="Calibri" pitchFamily="34" charset="-120"/>
              </a:rPr>
              <a:t>persona・instruction・知識層の wiki。ドメインの前提を、判断する側に持たせる。</a:t>
            </a:r>
            <a:endParaRPr lang="en-US" sz="1050" dirty="0"/>
          </a:p>
        </p:txBody>
      </p:sp>
      <p:sp>
        <p:nvSpPr>
          <p:cNvPr id="15" name="Shape 13"/>
          <p:cNvSpPr/>
          <p:nvPr/>
        </p:nvSpPr>
        <p:spPr>
          <a:xfrm>
            <a:off x="4389120" y="2898648"/>
            <a:ext cx="3703320" cy="1463040"/>
          </a:xfrm>
          <a:prstGeom prst="roundRect">
            <a:avLst>
              <a:gd name="adj" fmla="val 3750"/>
            </a:avLst>
          </a:prstGeom>
          <a:solidFill>
            <a:srgbClr val="F1F1EF"/>
          </a:solidFill>
          <a:ln w="6350">
            <a:solidFill>
              <a:srgbClr val="F1F1EF"/>
            </a:solidFill>
            <a:prstDash val="solid"/>
          </a:ln>
          <a:effectLst>
            <a:outerShdw sx="100000" sy="100000" kx="0" ky="0" algn="bl" rotWithShape="0" blurRad="101600" dist="12700" dir="5400000">
              <a:srgbClr val="000000">
                <a:alpha val="10000"/>
              </a:srgbClr>
            </a:outerShdw>
          </a:effectLst>
        </p:spPr>
      </p:sp>
      <p:sp>
        <p:nvSpPr>
          <p:cNvPr id="16" name="Text 14"/>
          <p:cNvSpPr txBox="1"/>
          <p:nvPr/>
        </p:nvSpPr>
        <p:spPr>
          <a:xfrm>
            <a:off x="4645152" y="3081528"/>
            <a:ext cx="3191256" cy="320040"/>
          </a:xfrm>
          <a:prstGeom prst="rect">
            <a:avLst/>
          </a:prstGeom>
          <a:noFill/>
          <a:ln/>
        </p:spPr>
        <p:txBody>
          <a:bodyPr wrap="square" lIns="0" tIns="0" rIns="0" bIns="0" rtlCol="0" anchor="ctr"/>
          <a:lstStyle/>
          <a:p>
            <a:pPr indent="0" marL="0">
              <a:buNone/>
            </a:pPr>
            <a:r>
              <a:rPr lang="en-US" sz="1300" b="1" dirty="0">
                <a:solidFill>
                  <a:srgbClr val="1C1C1C"/>
                </a:solidFill>
                <a:latin typeface="Arial" pitchFamily="34" charset="0"/>
                <a:ea typeface="Arial" pitchFamily="34" charset="-122"/>
                <a:cs typeface="Arial" pitchFamily="34" charset="-120"/>
              </a:rPr>
              <a:t>推論的センサー</a:t>
            </a:r>
            <a:endParaRPr lang="en-US" sz="1300" dirty="0"/>
          </a:p>
        </p:txBody>
      </p:sp>
      <p:sp>
        <p:nvSpPr>
          <p:cNvPr id="17" name="Text 15"/>
          <p:cNvSpPr txBox="1"/>
          <p:nvPr/>
        </p:nvSpPr>
        <p:spPr>
          <a:xfrm>
            <a:off x="4645152" y="3465576"/>
            <a:ext cx="3191256" cy="731520"/>
          </a:xfrm>
          <a:prstGeom prst="rect">
            <a:avLst/>
          </a:prstGeom>
          <a:noFill/>
          <a:ln/>
        </p:spPr>
        <p:txBody>
          <a:bodyPr wrap="square" lIns="0" tIns="0" rIns="0" bIns="0" rtlCol="0" anchor="t"/>
          <a:lstStyle/>
          <a:p>
            <a:pPr indent="0" marL="0">
              <a:lnSpc>
                <a:spcPts val="1400"/>
              </a:lnSpc>
              <a:buNone/>
            </a:pPr>
            <a:r>
              <a:rPr lang="en-US" sz="1050" dirty="0">
                <a:solidFill>
                  <a:srgbClr val="5C6166"/>
                </a:solidFill>
                <a:latin typeface="Calibri" pitchFamily="34" charset="0"/>
                <a:ea typeface="Calibri" pitchFamily="34" charset="-122"/>
                <a:cs typeface="Calibri" pitchFamily="34" charset="-120"/>
              </a:rPr>
              <a:t>reviewer persona の並列レビュー。read-only をプロセスレベルで強制し、drill で検出率を実測する。</a:t>
            </a:r>
            <a:endParaRPr lang="en-US" sz="1050" dirty="0"/>
          </a:p>
        </p:txBody>
      </p:sp>
      <p:sp>
        <p:nvSpPr>
          <p:cNvPr id="18" name="Shape 16"/>
          <p:cNvSpPr/>
          <p:nvPr/>
        </p:nvSpPr>
        <p:spPr>
          <a:xfrm>
            <a:off x="502920" y="4526280"/>
            <a:ext cx="7589520" cy="1325880"/>
          </a:xfrm>
          <a:prstGeom prst="roundRect">
            <a:avLst>
              <a:gd name="adj" fmla="val 4138"/>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9" name="Text 17"/>
          <p:cNvSpPr txBox="1"/>
          <p:nvPr/>
        </p:nvSpPr>
        <p:spPr>
          <a:xfrm>
            <a:off x="758952" y="4709160"/>
            <a:ext cx="707745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そして 2×2 の外に、rig 固有のものが二つ</a:t>
            </a:r>
            <a:endParaRPr lang="en-US" sz="1400" dirty="0"/>
          </a:p>
        </p:txBody>
      </p:sp>
      <p:sp>
        <p:nvSpPr>
          <p:cNvPr id="20" name="Text 18"/>
          <p:cNvSpPr txBox="1"/>
          <p:nvPr/>
        </p:nvSpPr>
        <p:spPr>
          <a:xfrm>
            <a:off x="758952" y="5093208"/>
            <a:ext cx="7077456" cy="594360"/>
          </a:xfrm>
          <a:prstGeom prst="rect">
            <a:avLst/>
          </a:prstGeom>
          <a:noFill/>
          <a:ln/>
        </p:spPr>
        <p:txBody>
          <a:bodyPr wrap="square" lIns="0" tIns="0" rIns="0" bIns="0" rtlCol="0" anchor="t"/>
          <a:lstStyle/>
          <a:p>
            <a:pPr indent="0" marL="0">
              <a:lnSpc>
                <a:spcPts val="1600"/>
              </a:lnSpc>
              <a:buNone/>
            </a:pPr>
            <a:r>
              <a:rPr lang="en-US" sz="1150" dirty="0">
                <a:solidFill>
                  <a:srgbClr val="5C6166"/>
                </a:solidFill>
                <a:latin typeface="Calibri" pitchFamily="34" charset="0"/>
                <a:ea typeface="Calibri" pitchFamily="34" charset="-122"/>
                <a:cs typeface="Calibri" pitchFamily="34" charset="-120"/>
              </a:rPr>
              <a:t>① 隔離 — 判定が終わるまで、成果物は作業ツリーに触れない。② 記録 — 何を試み、どの基準で、なぜ受け入れた（拒否した）かが run log と監査証跡に残る。</a:t>
            </a:r>
            <a:endParaRPr lang="en-US" sz="1150" dirty="0"/>
          </a:p>
        </p:txBody>
      </p:sp>
      <p:sp>
        <p:nvSpPr>
          <p:cNvPr id="21" name="Shape 19"/>
          <p:cNvSpPr/>
          <p:nvPr/>
        </p:nvSpPr>
        <p:spPr>
          <a:xfrm>
            <a:off x="8366760" y="1298448"/>
            <a:ext cx="3291840" cy="3246120"/>
          </a:xfrm>
          <a:prstGeom prst="roundRect">
            <a:avLst>
              <a:gd name="adj" fmla="val 1690"/>
            </a:avLst>
          </a:prstGeom>
          <a:solidFill>
            <a:srgbClr val="F3EAE6"/>
          </a:solidFill>
          <a:ln w="6350">
            <a:solidFill>
              <a:srgbClr val="F3EAE6"/>
            </a:solidFill>
            <a:prstDash val="solid"/>
          </a:ln>
          <a:effectLst>
            <a:outerShdw sx="100000" sy="100000" kx="0" ky="0" algn="bl" rotWithShape="0" blurRad="101600" dist="12700" dir="5400000">
              <a:srgbClr val="000000">
                <a:alpha val="10000"/>
              </a:srgbClr>
            </a:outerShdw>
          </a:effectLst>
        </p:spPr>
      </p:sp>
      <p:sp>
        <p:nvSpPr>
          <p:cNvPr id="22" name="Text 20"/>
          <p:cNvSpPr txBox="1"/>
          <p:nvPr/>
        </p:nvSpPr>
        <p:spPr>
          <a:xfrm>
            <a:off x="8622792" y="1481328"/>
            <a:ext cx="2779776" cy="320040"/>
          </a:xfrm>
          <a:prstGeom prst="rect">
            <a:avLst/>
          </a:prstGeom>
          <a:noFill/>
          <a:ln/>
        </p:spPr>
        <p:txBody>
          <a:bodyPr wrap="square" lIns="0" tIns="0" rIns="0" bIns="0" rtlCol="0" anchor="ctr"/>
          <a:lstStyle/>
          <a:p>
            <a:pPr indent="0" marL="0">
              <a:buNone/>
            </a:pPr>
            <a:r>
              <a:rPr lang="en-US" sz="1400" b="1" dirty="0">
                <a:solidFill>
                  <a:srgbClr val="A33A21"/>
                </a:solidFill>
                <a:latin typeface="Arial" pitchFamily="34" charset="0"/>
                <a:ea typeface="Arial" pitchFamily="34" charset="-122"/>
                <a:cs typeface="Arial" pitchFamily="34" charset="-120"/>
              </a:rPr>
              <a:t>引き受けないこと</a:t>
            </a:r>
            <a:endParaRPr lang="en-US" sz="1400" dirty="0"/>
          </a:p>
        </p:txBody>
      </p:sp>
      <p:sp>
        <p:nvSpPr>
          <p:cNvPr id="23" name="Text 21"/>
          <p:cNvSpPr txBox="1"/>
          <p:nvPr/>
        </p:nvSpPr>
        <p:spPr>
          <a:xfrm>
            <a:off x="8622792" y="1865376"/>
            <a:ext cx="2779776" cy="2514600"/>
          </a:xfrm>
          <a:prstGeom prst="rect">
            <a:avLst/>
          </a:prstGeom>
          <a:noFill/>
          <a:ln/>
        </p:spPr>
        <p:txBody>
          <a:bodyPr wrap="square" lIns="0" tIns="0" rIns="0" bIns="0" rtlCol="0" anchor="t"/>
          <a:lstStyle/>
          <a:p>
            <a:pPr indent="0" marL="0">
              <a:lnSpc>
                <a:spcPts val="1600"/>
              </a:lnSpc>
              <a:buNone/>
            </a:pPr>
            <a:r>
              <a:rPr lang="en-US" sz="1100" dirty="0">
                <a:solidFill>
                  <a:srgbClr val="5C6166"/>
                </a:solidFill>
                <a:latin typeface="Calibri" pitchFamily="34" charset="0"/>
                <a:ea typeface="Calibri" pitchFamily="34" charset="-122"/>
                <a:cs typeface="Calibri" pitchFamily="34" charset="-120"/>
              </a:rPr>
              <a:t>・IDE や GUI の提供</a:t>
            </a:r>
            <a:endParaRPr lang="en-US" sz="1100" dirty="0"/>
          </a:p>
          <a:p>
            <a:pPr indent="0" marL="0">
              <a:lnSpc>
                <a:spcPts val="1600"/>
              </a:lnSpc>
              <a:buNone/>
            </a:pPr>
            <a:r>
              <a:rPr lang="en-US" sz="1100" dirty="0">
                <a:solidFill>
                  <a:srgbClr val="5C6166"/>
                </a:solidFill>
                <a:latin typeface="Calibri" pitchFamily="34" charset="0"/>
                <a:ea typeface="Calibri" pitchFamily="34" charset="-122"/>
                <a:cs typeface="Calibri" pitchFamily="34" charset="-120"/>
              </a:rPr>
              <a:t>・汎用エージェント群のプラットフォーム</a:t>
            </a:r>
            <a:endParaRPr lang="en-US" sz="1100" dirty="0"/>
          </a:p>
          <a:p>
            <a:pPr indent="0" marL="0">
              <a:lnSpc>
                <a:spcPts val="1600"/>
              </a:lnSpc>
              <a:buNone/>
            </a:pPr>
            <a:r>
              <a:rPr lang="en-US" sz="1100" dirty="0">
                <a:solidFill>
                  <a:srgbClr val="5C6166"/>
                </a:solidFill>
                <a:latin typeface="Calibri" pitchFamily="34" charset="0"/>
                <a:ea typeface="Calibri" pitchFamily="34" charset="-122"/>
                <a:cs typeface="Calibri" pitchFamily="34" charset="-120"/>
              </a:rPr>
              <a:t>・複数モデルの回答を混ぜて一つにすること</a:t>
            </a:r>
            <a:endParaRPr lang="en-US" sz="1100" dirty="0"/>
          </a:p>
          <a:p>
            <a:pPr indent="0" marL="0">
              <a:lnSpc>
                <a:spcPts val="1600"/>
              </a:lnSpc>
              <a:buNone/>
            </a:pPr>
            <a:r>
              <a:rPr lang="en-US" sz="1100" dirty="0">
                <a:solidFill>
                  <a:srgbClr val="5C6166"/>
                </a:solidFill>
                <a:latin typeface="Calibri" pitchFamily="34" charset="0"/>
                <a:ea typeface="Calibri" pitchFamily="34" charset="-122"/>
                <a:cs typeface="Calibri" pitchFamily="34" charset="-120"/>
              </a:rPr>
              <a:t>・ワークフロー DSL の表現力競争</a:t>
            </a:r>
            <a:endParaRPr lang="en-US" sz="1100" dirty="0"/>
          </a:p>
          <a:p>
            <a:pPr indent="0" marL="0">
              <a:lnSpc>
                <a:spcPts val="1600"/>
              </a:lnSpc>
              <a:buNone/>
            </a:pPr>
            <a:endParaRPr lang="en-US" sz="1100" dirty="0"/>
          </a:p>
          <a:p>
            <a:pPr indent="0" marL="0">
              <a:lnSpc>
                <a:spcPts val="1600"/>
              </a:lnSpc>
              <a:buNone/>
            </a:pPr>
            <a:r>
              <a:rPr lang="en-US" sz="1100" dirty="0">
                <a:solidFill>
                  <a:srgbClr val="5C6166"/>
                </a:solidFill>
                <a:latin typeface="Calibri" pitchFamily="34" charset="0"/>
                <a:ea typeface="Calibri" pitchFamily="34" charset="-122"/>
                <a:cs typeface="Calibri" pitchFamily="34" charset="-120"/>
              </a:rPr>
              <a:t>rig が複数モデルを使うのは、検証役を生成役から構造的に独立させるためであって、答えを合成するためではない。</a:t>
            </a:r>
            <a:endParaRPr lang="en-US" sz="1100" dirty="0"/>
          </a:p>
        </p:txBody>
      </p:sp>
      <p:sp>
        <p:nvSpPr>
          <p:cNvPr id="24" name="Shape 22"/>
          <p:cNvSpPr/>
          <p:nvPr/>
        </p:nvSpPr>
        <p:spPr>
          <a:xfrm>
            <a:off x="8366760" y="4709160"/>
            <a:ext cx="3291840" cy="1143000"/>
          </a:xfrm>
          <a:prstGeom prst="roundRect">
            <a:avLst>
              <a:gd name="adj" fmla="val 4800"/>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25" name="Text 23"/>
          <p:cNvSpPr txBox="1"/>
          <p:nvPr/>
        </p:nvSpPr>
        <p:spPr>
          <a:xfrm>
            <a:off x="8622792" y="4892040"/>
            <a:ext cx="277977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逆に、明確に目標なこと</a:t>
            </a:r>
            <a:endParaRPr lang="en-US" sz="1400" dirty="0"/>
          </a:p>
        </p:txBody>
      </p:sp>
      <p:sp>
        <p:nvSpPr>
          <p:cNvPr id="26" name="Text 24"/>
          <p:cNvSpPr txBox="1"/>
          <p:nvPr/>
        </p:nvSpPr>
        <p:spPr>
          <a:xfrm>
            <a:off x="8622792" y="5276088"/>
            <a:ext cx="2779776" cy="411480"/>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他のオーケストレータが作った成果物にも、同じ受け入れ契約を当てること（workbench.py import）。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C1C1C"/>
        </a:solidFill>
      </p:bgPr>
    </p:bg>
    <p:spTree>
      <p:nvGrpSpPr>
        <p:cNvPr id="1" name=""/>
        <p:cNvGrpSpPr/>
        <p:nvPr/>
      </p:nvGrpSpPr>
      <p:grpSpPr>
        <a:xfrm>
          <a:off x="0" y="0"/>
          <a:ext cx="0" cy="0"/>
          <a:chOff x="0" y="0"/>
          <a:chExt cx="0" cy="0"/>
        </a:xfrm>
      </p:grpSpPr>
      <p:sp>
        <p:nvSpPr>
          <p:cNvPr id="2" name="Text 0"/>
          <p:cNvSpPr txBox="1"/>
          <p:nvPr/>
        </p:nvSpPr>
        <p:spPr>
          <a:xfrm>
            <a:off x="822960" y="2011680"/>
            <a:ext cx="10515600" cy="1371600"/>
          </a:xfrm>
          <a:prstGeom prst="rect">
            <a:avLst/>
          </a:prstGeom>
          <a:noFill/>
          <a:ln/>
        </p:spPr>
        <p:txBody>
          <a:bodyPr wrap="square" lIns="0" tIns="0" rIns="0" bIns="0" rtlCol="0" anchor="ctr"/>
          <a:lstStyle/>
          <a:p>
            <a:pPr indent="0" marL="0">
              <a:buNone/>
            </a:pPr>
            <a:r>
              <a:rPr lang="en-US" sz="4600" b="1" dirty="0">
                <a:solidFill>
                  <a:srgbClr val="FFFFFF"/>
                </a:solidFill>
                <a:latin typeface="Arial" pitchFamily="34" charset="0"/>
                <a:ea typeface="Arial" pitchFamily="34" charset="-122"/>
                <a:cs typeface="Arial" pitchFamily="34" charset="-120"/>
              </a:rPr>
              <a:t>第一部　rig を知る</a:t>
            </a:r>
            <a:endParaRPr lang="en-US" sz="4600" dirty="0"/>
          </a:p>
        </p:txBody>
      </p:sp>
      <p:sp>
        <p:nvSpPr>
          <p:cNvPr id="3" name="Text 1"/>
          <p:cNvSpPr txBox="1"/>
          <p:nvPr/>
        </p:nvSpPr>
        <p:spPr>
          <a:xfrm>
            <a:off x="822960" y="3383280"/>
            <a:ext cx="8686800" cy="914400"/>
          </a:xfrm>
          <a:prstGeom prst="rect">
            <a:avLst/>
          </a:prstGeom>
          <a:noFill/>
          <a:ln/>
        </p:spPr>
        <p:txBody>
          <a:bodyPr wrap="square" lIns="0" tIns="0" rIns="0" bIns="0" rtlCol="0" anchor="ctr"/>
          <a:lstStyle/>
          <a:p>
            <a:pPr indent="0" marL="0">
              <a:lnSpc>
                <a:spcPts val="2600"/>
              </a:lnSpc>
              <a:buNone/>
            </a:pPr>
            <a:r>
              <a:rPr lang="en-US" sz="1700" dirty="0">
                <a:solidFill>
                  <a:srgbClr val="C9CCC8"/>
                </a:solidFill>
                <a:latin typeface="Calibri" pitchFamily="34" charset="0"/>
                <a:ea typeface="Calibri" pitchFamily="34" charset="-122"/>
                <a:cs typeface="Calibri" pitchFamily="34" charset="-120"/>
              </a:rPr>
              <a:t>ここからは、その仕組みが実際にどう動くか。</a:t>
            </a:r>
            <a:endParaRPr lang="en-US" sz="1700" dirty="0"/>
          </a:p>
          <a:p>
            <a:pPr indent="0" marL="0">
              <a:lnSpc>
                <a:spcPts val="2600"/>
              </a:lnSpc>
              <a:buNone/>
            </a:pPr>
            <a:r>
              <a:rPr lang="en-US" sz="1700" dirty="0">
                <a:solidFill>
                  <a:srgbClr val="C9CCC8"/>
                </a:solidFill>
                <a:latin typeface="Calibri" pitchFamily="34" charset="0"/>
                <a:ea typeface="Calibri" pitchFamily="34" charset="-122"/>
                <a:cs typeface="Calibri" pitchFamily="34" charset="-120"/>
              </a:rPr>
              <a:t>分類・隔離・ゲート・受け入れの四つを順に見る。</a:t>
            </a:r>
            <a:endParaRPr lang="en-US" sz="1700" dirty="0"/>
          </a:p>
        </p:txBody>
      </p:sp>
      <p:sp>
        <p:nvSpPr>
          <p:cNvPr id="4" name="Text 2"/>
          <p:cNvSpPr txBox="1"/>
          <p:nvPr/>
        </p:nvSpPr>
        <p:spPr>
          <a:xfrm>
            <a:off x="822960" y="5852160"/>
            <a:ext cx="10058400" cy="365760"/>
          </a:xfrm>
          <a:prstGeom prst="rect">
            <a:avLst/>
          </a:prstGeom>
          <a:noFill/>
          <a:ln/>
        </p:spPr>
        <p:txBody>
          <a:bodyPr wrap="square" lIns="0" tIns="0" rIns="0" bIns="0" rtlCol="0" anchor="ctr"/>
          <a:lstStyle/>
          <a:p>
            <a:pPr indent="0" marL="0">
              <a:buNone/>
            </a:pPr>
            <a:r>
              <a:rPr lang="en-US" sz="1100" dirty="0">
                <a:solidFill>
                  <a:srgbClr val="8A908C"/>
                </a:solidFill>
                <a:latin typeface="Calibri" pitchFamily="34" charset="0"/>
                <a:ea typeface="Calibri" pitchFamily="34" charset="-122"/>
                <a:cs typeface="Calibri" pitchFamily="34" charset="-120"/>
              </a:rPr>
              <a:t>README.ja.md §5〜§12</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N° 01</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rig とは何か</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11</a:t>
            </a:r>
            <a:endParaRPr lang="en-US" sz="900" dirty="0"/>
          </a:p>
        </p:txBody>
      </p:sp>
      <p:sp>
        <p:nvSpPr>
          <p:cNvPr id="6" name="Text 4"/>
          <p:cNvSpPr txBox="1"/>
          <p:nvPr/>
        </p:nvSpPr>
        <p:spPr>
          <a:xfrm>
            <a:off x="502920" y="1298448"/>
            <a:ext cx="11155680" cy="365760"/>
          </a:xfrm>
          <a:prstGeom prst="rect">
            <a:avLst/>
          </a:prstGeom>
          <a:noFill/>
          <a:ln/>
        </p:spPr>
        <p:txBody>
          <a:bodyPr wrap="square" lIns="0" tIns="0" rIns="0" bIns="0" rtlCol="0" anchor="ctr"/>
          <a:lstStyle/>
          <a:p>
            <a:pPr indent="0" marL="0">
              <a:buNone/>
            </a:pPr>
            <a:r>
              <a:rPr lang="en-US" sz="1500" b="1" dirty="0">
                <a:solidFill>
                  <a:srgbClr val="1C1C1C"/>
                </a:solidFill>
                <a:latin typeface="Arial" pitchFamily="34" charset="0"/>
                <a:ea typeface="Arial" pitchFamily="34" charset="-122"/>
                <a:cs typeface="Arial" pitchFamily="34" charset="-120"/>
              </a:rPr>
              <a:t>危ないのは、AI が間違えることではない。間違えたことに誰も気づかないまま、本体に混ざることだ。</a:t>
            </a:r>
            <a:endParaRPr lang="en-US" sz="1500" dirty="0"/>
          </a:p>
        </p:txBody>
      </p:sp>
      <p:sp>
        <p:nvSpPr>
          <p:cNvPr id="7" name="Shape 5"/>
          <p:cNvSpPr/>
          <p:nvPr/>
        </p:nvSpPr>
        <p:spPr>
          <a:xfrm>
            <a:off x="502920" y="1783080"/>
            <a:ext cx="2121408" cy="1508760"/>
          </a:xfrm>
          <a:prstGeom prst="roundRect">
            <a:avLst>
              <a:gd name="adj" fmla="val 3636"/>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8" name="Shape 6"/>
          <p:cNvSpPr/>
          <p:nvPr/>
        </p:nvSpPr>
        <p:spPr>
          <a:xfrm>
            <a:off x="758952" y="1984248"/>
            <a:ext cx="384048" cy="384048"/>
          </a:xfrm>
          <a:prstGeom prst="ellipse">
            <a:avLst/>
          </a:prstGeom>
          <a:solidFill>
            <a:srgbClr val="1F6F5C"/>
          </a:solidFill>
          <a:ln w="12700">
            <a:solidFill>
              <a:srgbClr val="1F6F5C"/>
            </a:solidFill>
            <a:prstDash val="solid"/>
          </a:ln>
        </p:spPr>
      </p:sp>
      <p:sp>
        <p:nvSpPr>
          <p:cNvPr id="9" name="Text 7"/>
          <p:cNvSpPr txBox="1"/>
          <p:nvPr/>
        </p:nvSpPr>
        <p:spPr>
          <a:xfrm>
            <a:off x="758952" y="19842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1289304" y="2002536"/>
            <a:ext cx="1078992" cy="320040"/>
          </a:xfrm>
          <a:prstGeom prst="rect">
            <a:avLst/>
          </a:prstGeom>
          <a:noFill/>
          <a:ln/>
        </p:spPr>
        <p:txBody>
          <a:bodyPr wrap="square" lIns="0" tIns="0" rIns="0" bIns="0" rtlCol="0" anchor="ctr"/>
          <a:lstStyle/>
          <a:p>
            <a:pPr indent="0" marL="0">
              <a:buNone/>
            </a:pPr>
            <a:r>
              <a:rPr lang="en-US" sz="1250" b="1" dirty="0">
                <a:solidFill>
                  <a:srgbClr val="1C1C1C"/>
                </a:solidFill>
                <a:latin typeface="Arial" pitchFamily="34" charset="0"/>
                <a:ea typeface="Arial" pitchFamily="34" charset="-122"/>
                <a:cs typeface="Arial" pitchFamily="34" charset="-120"/>
              </a:rPr>
              <a:t>分類</a:t>
            </a:r>
            <a:endParaRPr lang="en-US" sz="1250" dirty="0"/>
          </a:p>
        </p:txBody>
      </p:sp>
      <p:sp>
        <p:nvSpPr>
          <p:cNvPr id="11" name="Text 9"/>
          <p:cNvSpPr txBox="1"/>
          <p:nvPr/>
        </p:nvSpPr>
        <p:spPr>
          <a:xfrm>
            <a:off x="758952" y="2606040"/>
            <a:ext cx="1609344" cy="594360"/>
          </a:xfrm>
          <a:prstGeom prst="rect">
            <a:avLst/>
          </a:prstGeom>
          <a:noFill/>
          <a:ln/>
        </p:spPr>
        <p:txBody>
          <a:bodyPr wrap="square" lIns="0" tIns="0" rIns="0" bIns="0" rtlCol="0" anchor="ctr"/>
          <a:lstStyle/>
          <a:p>
            <a:pPr indent="0" marL="0">
              <a:lnSpc>
                <a:spcPts val="1300"/>
              </a:lnSpc>
              <a:buNone/>
            </a:pPr>
            <a:r>
              <a:rPr lang="en-US" sz="1000" dirty="0">
                <a:solidFill>
                  <a:srgbClr val="5C6166"/>
                </a:solidFill>
                <a:latin typeface="Calibri" pitchFamily="34" charset="0"/>
                <a:ea typeface="Calibri" pitchFamily="34" charset="-122"/>
                <a:cs typeface="Calibri" pitchFamily="34" charset="-120"/>
              </a:rPr>
              <a:t>bugfix / feature / refactor</a:t>
            </a:r>
            <a:endParaRPr lang="en-US" sz="1000" dirty="0"/>
          </a:p>
          <a:p>
            <a:pPr indent="0" marL="0">
              <a:lnSpc>
                <a:spcPts val="1300"/>
              </a:lnSpc>
              <a:buNone/>
            </a:pPr>
            <a:r>
              <a:rPr lang="en-US" sz="1000" dirty="0">
                <a:solidFill>
                  <a:srgbClr val="5C6166"/>
                </a:solidFill>
                <a:latin typeface="Calibri" pitchFamily="34" charset="0"/>
                <a:ea typeface="Calibri" pitchFamily="34" charset="-122"/>
                <a:cs typeface="Calibri" pitchFamily="34" charset="-120"/>
              </a:rPr>
              <a:t>/ review / documentation …</a:t>
            </a:r>
            <a:endParaRPr lang="en-US" sz="1000" dirty="0"/>
          </a:p>
        </p:txBody>
      </p:sp>
      <p:sp>
        <p:nvSpPr>
          <p:cNvPr id="12" name="Shape 10"/>
          <p:cNvSpPr/>
          <p:nvPr/>
        </p:nvSpPr>
        <p:spPr>
          <a:xfrm>
            <a:off x="2770632" y="1783080"/>
            <a:ext cx="2121408" cy="1508760"/>
          </a:xfrm>
          <a:prstGeom prst="roundRect">
            <a:avLst>
              <a:gd name="adj" fmla="val 3636"/>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3" name="Shape 11"/>
          <p:cNvSpPr/>
          <p:nvPr/>
        </p:nvSpPr>
        <p:spPr>
          <a:xfrm>
            <a:off x="3026664" y="1984248"/>
            <a:ext cx="384048" cy="384048"/>
          </a:xfrm>
          <a:prstGeom prst="ellipse">
            <a:avLst/>
          </a:prstGeom>
          <a:solidFill>
            <a:srgbClr val="1F6F5C"/>
          </a:solidFill>
          <a:ln w="12700">
            <a:solidFill>
              <a:srgbClr val="1F6F5C"/>
            </a:solidFill>
            <a:prstDash val="solid"/>
          </a:ln>
        </p:spPr>
      </p:sp>
      <p:sp>
        <p:nvSpPr>
          <p:cNvPr id="14" name="Text 12"/>
          <p:cNvSpPr txBox="1"/>
          <p:nvPr/>
        </p:nvSpPr>
        <p:spPr>
          <a:xfrm>
            <a:off x="3026664" y="19842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3557016" y="2002536"/>
            <a:ext cx="1078992" cy="320040"/>
          </a:xfrm>
          <a:prstGeom prst="rect">
            <a:avLst/>
          </a:prstGeom>
          <a:noFill/>
          <a:ln/>
        </p:spPr>
        <p:txBody>
          <a:bodyPr wrap="square" lIns="0" tIns="0" rIns="0" bIns="0" rtlCol="0" anchor="ctr"/>
          <a:lstStyle/>
          <a:p>
            <a:pPr indent="0" marL="0">
              <a:buNone/>
            </a:pPr>
            <a:r>
              <a:rPr lang="en-US" sz="1250" b="1" dirty="0">
                <a:solidFill>
                  <a:srgbClr val="1C1C1C"/>
                </a:solidFill>
                <a:latin typeface="Arial" pitchFamily="34" charset="0"/>
                <a:ea typeface="Arial" pitchFamily="34" charset="-122"/>
                <a:cs typeface="Arial" pitchFamily="34" charset="-120"/>
              </a:rPr>
              <a:t>recipe 選択</a:t>
            </a:r>
            <a:endParaRPr lang="en-US" sz="1250" dirty="0"/>
          </a:p>
        </p:txBody>
      </p:sp>
      <p:sp>
        <p:nvSpPr>
          <p:cNvPr id="16" name="Text 14"/>
          <p:cNvSpPr txBox="1"/>
          <p:nvPr/>
        </p:nvSpPr>
        <p:spPr>
          <a:xfrm>
            <a:off x="3026664" y="2606040"/>
            <a:ext cx="1609344" cy="594360"/>
          </a:xfrm>
          <a:prstGeom prst="rect">
            <a:avLst/>
          </a:prstGeom>
          <a:noFill/>
          <a:ln/>
        </p:spPr>
        <p:txBody>
          <a:bodyPr wrap="square" lIns="0" tIns="0" rIns="0" bIns="0" rtlCol="0" anchor="ctr"/>
          <a:lstStyle/>
          <a:p>
            <a:pPr indent="0" marL="0">
              <a:lnSpc>
                <a:spcPts val="1300"/>
              </a:lnSpc>
              <a:buNone/>
            </a:pPr>
            <a:r>
              <a:rPr lang="en-US" sz="1000" dirty="0">
                <a:solidFill>
                  <a:srgbClr val="5C6166"/>
                </a:solidFill>
                <a:latin typeface="Calibri" pitchFamily="34" charset="0"/>
                <a:ea typeface="Calibri" pitchFamily="34" charset="-122"/>
                <a:cs typeface="Calibri" pitchFamily="34" charset="-120"/>
              </a:rPr>
              <a:t>選択理由をバナーで</a:t>
            </a:r>
            <a:endParaRPr lang="en-US" sz="1000" dirty="0"/>
          </a:p>
          <a:p>
            <a:pPr indent="0" marL="0">
              <a:lnSpc>
                <a:spcPts val="1300"/>
              </a:lnSpc>
              <a:buNone/>
            </a:pPr>
            <a:r>
              <a:rPr lang="en-US" sz="1000" dirty="0">
                <a:solidFill>
                  <a:srgbClr val="5C6166"/>
                </a:solidFill>
                <a:latin typeface="Calibri" pitchFamily="34" charset="0"/>
                <a:ea typeface="Calibri" pitchFamily="34" charset="-122"/>
                <a:cs typeface="Calibri" pitchFamily="34" charset="-120"/>
              </a:rPr>
              <a:t>先に宣言する</a:t>
            </a:r>
            <a:endParaRPr lang="en-US" sz="1000" dirty="0"/>
          </a:p>
        </p:txBody>
      </p:sp>
      <p:sp>
        <p:nvSpPr>
          <p:cNvPr id="17" name="Shape 15"/>
          <p:cNvSpPr/>
          <p:nvPr/>
        </p:nvSpPr>
        <p:spPr>
          <a:xfrm>
            <a:off x="5038344" y="1783080"/>
            <a:ext cx="2121408" cy="1508760"/>
          </a:xfrm>
          <a:prstGeom prst="roundRect">
            <a:avLst>
              <a:gd name="adj" fmla="val 3636"/>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8" name="Shape 16"/>
          <p:cNvSpPr/>
          <p:nvPr/>
        </p:nvSpPr>
        <p:spPr>
          <a:xfrm>
            <a:off x="5294376" y="1984248"/>
            <a:ext cx="384048" cy="384048"/>
          </a:xfrm>
          <a:prstGeom prst="ellipse">
            <a:avLst/>
          </a:prstGeom>
          <a:solidFill>
            <a:srgbClr val="1F6F5C"/>
          </a:solidFill>
          <a:ln w="12700">
            <a:solidFill>
              <a:srgbClr val="1F6F5C"/>
            </a:solidFill>
            <a:prstDash val="solid"/>
          </a:ln>
        </p:spPr>
      </p:sp>
      <p:sp>
        <p:nvSpPr>
          <p:cNvPr id="19" name="Text 17"/>
          <p:cNvSpPr txBox="1"/>
          <p:nvPr/>
        </p:nvSpPr>
        <p:spPr>
          <a:xfrm>
            <a:off x="5294376" y="19842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5824728" y="2002536"/>
            <a:ext cx="1078992" cy="320040"/>
          </a:xfrm>
          <a:prstGeom prst="rect">
            <a:avLst/>
          </a:prstGeom>
          <a:noFill/>
          <a:ln/>
        </p:spPr>
        <p:txBody>
          <a:bodyPr wrap="square" lIns="0" tIns="0" rIns="0" bIns="0" rtlCol="0" anchor="ctr"/>
          <a:lstStyle/>
          <a:p>
            <a:pPr indent="0" marL="0">
              <a:buNone/>
            </a:pPr>
            <a:r>
              <a:rPr lang="en-US" sz="1250" b="1" dirty="0">
                <a:solidFill>
                  <a:srgbClr val="1C1C1C"/>
                </a:solidFill>
                <a:latin typeface="Arial" pitchFamily="34" charset="0"/>
                <a:ea typeface="Arial" pitchFamily="34" charset="-122"/>
                <a:cs typeface="Arial" pitchFamily="34" charset="-120"/>
              </a:rPr>
              <a:t>隔離 worktree</a:t>
            </a:r>
            <a:endParaRPr lang="en-US" sz="1250" dirty="0"/>
          </a:p>
        </p:txBody>
      </p:sp>
      <p:sp>
        <p:nvSpPr>
          <p:cNvPr id="21" name="Text 19"/>
          <p:cNvSpPr txBox="1"/>
          <p:nvPr/>
        </p:nvSpPr>
        <p:spPr>
          <a:xfrm>
            <a:off x="5294376" y="2606040"/>
            <a:ext cx="1609344" cy="594360"/>
          </a:xfrm>
          <a:prstGeom prst="rect">
            <a:avLst/>
          </a:prstGeom>
          <a:noFill/>
          <a:ln/>
        </p:spPr>
        <p:txBody>
          <a:bodyPr wrap="square" lIns="0" tIns="0" rIns="0" bIns="0" rtlCol="0" anchor="ctr"/>
          <a:lstStyle/>
          <a:p>
            <a:pPr indent="0" marL="0">
              <a:lnSpc>
                <a:spcPts val="1300"/>
              </a:lnSpc>
              <a:buNone/>
            </a:pPr>
            <a:r>
              <a:rPr lang="en-US" sz="1000" dirty="0">
                <a:solidFill>
                  <a:srgbClr val="5C6166"/>
                </a:solidFill>
                <a:latin typeface="Calibri" pitchFamily="34" charset="0"/>
                <a:ea typeface="Calibri" pitchFamily="34" charset="-122"/>
                <a:cs typeface="Calibri" pitchFamily="34" charset="-120"/>
              </a:rPr>
              <a:t>作業ツリーとは別の</a:t>
            </a:r>
            <a:endParaRPr lang="en-US" sz="1000" dirty="0"/>
          </a:p>
          <a:p>
            <a:pPr indent="0" marL="0">
              <a:lnSpc>
                <a:spcPts val="1300"/>
              </a:lnSpc>
              <a:buNone/>
            </a:pPr>
            <a:r>
              <a:rPr lang="en-US" sz="1000" dirty="0">
                <a:solidFill>
                  <a:srgbClr val="5C6166"/>
                </a:solidFill>
                <a:latin typeface="Calibri" pitchFamily="34" charset="0"/>
                <a:ea typeface="Calibri" pitchFamily="34" charset="-122"/>
                <a:cs typeface="Calibri" pitchFamily="34" charset="-120"/>
              </a:rPr>
              <a:t>使い捨てブランチ</a:t>
            </a:r>
            <a:endParaRPr lang="en-US" sz="1000" dirty="0"/>
          </a:p>
        </p:txBody>
      </p:sp>
      <p:sp>
        <p:nvSpPr>
          <p:cNvPr id="22" name="Shape 20"/>
          <p:cNvSpPr/>
          <p:nvPr/>
        </p:nvSpPr>
        <p:spPr>
          <a:xfrm>
            <a:off x="7306056" y="1783080"/>
            <a:ext cx="2121408" cy="1508760"/>
          </a:xfrm>
          <a:prstGeom prst="roundRect">
            <a:avLst>
              <a:gd name="adj" fmla="val 3636"/>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23" name="Shape 21"/>
          <p:cNvSpPr/>
          <p:nvPr/>
        </p:nvSpPr>
        <p:spPr>
          <a:xfrm>
            <a:off x="7562088" y="1984248"/>
            <a:ext cx="384048" cy="384048"/>
          </a:xfrm>
          <a:prstGeom prst="ellipse">
            <a:avLst/>
          </a:prstGeom>
          <a:solidFill>
            <a:srgbClr val="1F6F5C"/>
          </a:solidFill>
          <a:ln w="12700">
            <a:solidFill>
              <a:srgbClr val="1F6F5C"/>
            </a:solidFill>
            <a:prstDash val="solid"/>
          </a:ln>
        </p:spPr>
      </p:sp>
      <p:sp>
        <p:nvSpPr>
          <p:cNvPr id="24" name="Text 22"/>
          <p:cNvSpPr txBox="1"/>
          <p:nvPr/>
        </p:nvSpPr>
        <p:spPr>
          <a:xfrm>
            <a:off x="7562088" y="19842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8092440" y="2002536"/>
            <a:ext cx="1078992" cy="320040"/>
          </a:xfrm>
          <a:prstGeom prst="rect">
            <a:avLst/>
          </a:prstGeom>
          <a:noFill/>
          <a:ln/>
        </p:spPr>
        <p:txBody>
          <a:bodyPr wrap="square" lIns="0" tIns="0" rIns="0" bIns="0" rtlCol="0" anchor="ctr"/>
          <a:lstStyle/>
          <a:p>
            <a:pPr indent="0" marL="0">
              <a:buNone/>
            </a:pPr>
            <a:r>
              <a:rPr lang="en-US" sz="1250" b="1" dirty="0">
                <a:solidFill>
                  <a:srgbClr val="1C1C1C"/>
                </a:solidFill>
                <a:latin typeface="Arial" pitchFamily="34" charset="0"/>
                <a:ea typeface="Arial" pitchFamily="34" charset="-122"/>
                <a:cs typeface="Arial" pitchFamily="34" charset="-120"/>
              </a:rPr>
              <a:t>acceptance-gate</a:t>
            </a:r>
            <a:endParaRPr lang="en-US" sz="1250" dirty="0"/>
          </a:p>
        </p:txBody>
      </p:sp>
      <p:sp>
        <p:nvSpPr>
          <p:cNvPr id="26" name="Text 24"/>
          <p:cNvSpPr txBox="1"/>
          <p:nvPr/>
        </p:nvSpPr>
        <p:spPr>
          <a:xfrm>
            <a:off x="7562088" y="2606040"/>
            <a:ext cx="1609344" cy="594360"/>
          </a:xfrm>
          <a:prstGeom prst="rect">
            <a:avLst/>
          </a:prstGeom>
          <a:noFill/>
          <a:ln/>
        </p:spPr>
        <p:txBody>
          <a:bodyPr wrap="square" lIns="0" tIns="0" rIns="0" bIns="0" rtlCol="0" anchor="ctr"/>
          <a:lstStyle/>
          <a:p>
            <a:pPr indent="0" marL="0">
              <a:lnSpc>
                <a:spcPts val="1300"/>
              </a:lnSpc>
              <a:buNone/>
            </a:pPr>
            <a:r>
              <a:rPr lang="en-US" sz="1000" dirty="0">
                <a:solidFill>
                  <a:srgbClr val="5C6166"/>
                </a:solidFill>
                <a:latin typeface="Calibri" pitchFamily="34" charset="0"/>
                <a:ea typeface="Calibri" pitchFamily="34" charset="-122"/>
                <a:cs typeface="Calibri" pitchFamily="34" charset="-120"/>
              </a:rPr>
              <a:t>機械的な基準で</a:t>
            </a:r>
            <a:endParaRPr lang="en-US" sz="1000" dirty="0"/>
          </a:p>
          <a:p>
            <a:pPr indent="0" marL="0">
              <a:lnSpc>
                <a:spcPts val="1300"/>
              </a:lnSpc>
              <a:buNone/>
            </a:pPr>
            <a:r>
              <a:rPr lang="en-US" sz="1000" dirty="0">
                <a:solidFill>
                  <a:srgbClr val="5C6166"/>
                </a:solidFill>
                <a:latin typeface="Calibri" pitchFamily="34" charset="0"/>
                <a:ea typeface="Calibri" pitchFamily="34" charset="-122"/>
                <a:cs typeface="Calibri" pitchFamily="34" charset="-120"/>
              </a:rPr>
              <a:t>合否を判定</a:t>
            </a:r>
            <a:endParaRPr lang="en-US" sz="1000" dirty="0"/>
          </a:p>
        </p:txBody>
      </p:sp>
      <p:sp>
        <p:nvSpPr>
          <p:cNvPr id="27" name="Shape 25"/>
          <p:cNvSpPr/>
          <p:nvPr/>
        </p:nvSpPr>
        <p:spPr>
          <a:xfrm>
            <a:off x="9573768" y="1783080"/>
            <a:ext cx="2121408" cy="1508760"/>
          </a:xfrm>
          <a:prstGeom prst="roundRect">
            <a:avLst>
              <a:gd name="adj" fmla="val 3636"/>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28" name="Shape 26"/>
          <p:cNvSpPr/>
          <p:nvPr/>
        </p:nvSpPr>
        <p:spPr>
          <a:xfrm>
            <a:off x="9829800" y="1984248"/>
            <a:ext cx="384048" cy="384048"/>
          </a:xfrm>
          <a:prstGeom prst="ellipse">
            <a:avLst/>
          </a:prstGeom>
          <a:solidFill>
            <a:srgbClr val="1F6F5C"/>
          </a:solidFill>
          <a:ln w="12700">
            <a:solidFill>
              <a:srgbClr val="1F6F5C"/>
            </a:solidFill>
            <a:prstDash val="solid"/>
          </a:ln>
        </p:spPr>
      </p:sp>
      <p:sp>
        <p:nvSpPr>
          <p:cNvPr id="29" name="Text 27"/>
          <p:cNvSpPr txBox="1"/>
          <p:nvPr/>
        </p:nvSpPr>
        <p:spPr>
          <a:xfrm>
            <a:off x="9829800" y="19842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10360152" y="2002536"/>
            <a:ext cx="1078992" cy="320040"/>
          </a:xfrm>
          <a:prstGeom prst="rect">
            <a:avLst/>
          </a:prstGeom>
          <a:noFill/>
          <a:ln/>
        </p:spPr>
        <p:txBody>
          <a:bodyPr wrap="square" lIns="0" tIns="0" rIns="0" bIns="0" rtlCol="0" anchor="ctr"/>
          <a:lstStyle/>
          <a:p>
            <a:pPr indent="0" marL="0">
              <a:buNone/>
            </a:pPr>
            <a:r>
              <a:rPr lang="en-US" sz="1250" b="1" dirty="0">
                <a:solidFill>
                  <a:srgbClr val="1C1C1C"/>
                </a:solidFill>
                <a:latin typeface="Arial" pitchFamily="34" charset="0"/>
                <a:ea typeface="Arial" pitchFamily="34" charset="-122"/>
                <a:cs typeface="Arial" pitchFamily="34" charset="-120"/>
              </a:rPr>
              <a:t>accept / discard</a:t>
            </a:r>
            <a:endParaRPr lang="en-US" sz="1250" dirty="0"/>
          </a:p>
        </p:txBody>
      </p:sp>
      <p:sp>
        <p:nvSpPr>
          <p:cNvPr id="31" name="Text 29"/>
          <p:cNvSpPr txBox="1"/>
          <p:nvPr/>
        </p:nvSpPr>
        <p:spPr>
          <a:xfrm>
            <a:off x="9829800" y="2606040"/>
            <a:ext cx="1609344" cy="594360"/>
          </a:xfrm>
          <a:prstGeom prst="rect">
            <a:avLst/>
          </a:prstGeom>
          <a:noFill/>
          <a:ln/>
        </p:spPr>
        <p:txBody>
          <a:bodyPr wrap="square" lIns="0" tIns="0" rIns="0" bIns="0" rtlCol="0" anchor="ctr"/>
          <a:lstStyle/>
          <a:p>
            <a:pPr indent="0" marL="0">
              <a:lnSpc>
                <a:spcPts val="1300"/>
              </a:lnSpc>
              <a:buNone/>
            </a:pPr>
            <a:r>
              <a:rPr lang="en-US" sz="1000" dirty="0">
                <a:solidFill>
                  <a:srgbClr val="5C6166"/>
                </a:solidFill>
                <a:latin typeface="Calibri" pitchFamily="34" charset="0"/>
                <a:ea typeface="Calibri" pitchFamily="34" charset="-122"/>
                <a:cs typeface="Calibri" pitchFamily="34" charset="-120"/>
              </a:rPr>
              <a:t>反映は staged。</a:t>
            </a:r>
            <a:endParaRPr lang="en-US" sz="1000" dirty="0"/>
          </a:p>
          <a:p>
            <a:pPr indent="0" marL="0">
              <a:lnSpc>
                <a:spcPts val="1300"/>
              </a:lnSpc>
              <a:buNone/>
            </a:pPr>
            <a:r>
              <a:rPr lang="en-US" sz="1000" dirty="0">
                <a:solidFill>
                  <a:srgbClr val="5C6166"/>
                </a:solidFill>
                <a:latin typeface="Calibri" pitchFamily="34" charset="0"/>
                <a:ea typeface="Calibri" pitchFamily="34" charset="-122"/>
                <a:cs typeface="Calibri" pitchFamily="34" charset="-120"/>
              </a:rPr>
              <a:t>判断は常に人間</a:t>
            </a:r>
            <a:endParaRPr lang="en-US" sz="1000" dirty="0"/>
          </a:p>
        </p:txBody>
      </p:sp>
      <p:sp>
        <p:nvSpPr>
          <p:cNvPr id="32" name="Text 30"/>
          <p:cNvSpPr txBox="1"/>
          <p:nvPr/>
        </p:nvSpPr>
        <p:spPr>
          <a:xfrm>
            <a:off x="502920" y="3520440"/>
            <a:ext cx="5486400" cy="256032"/>
          </a:xfrm>
          <a:prstGeom prst="rect">
            <a:avLst/>
          </a:prstGeom>
          <a:noFill/>
          <a:ln/>
        </p:spPr>
        <p:txBody>
          <a:bodyPr wrap="square" lIns="0" tIns="0" rIns="0" bIns="0" rtlCol="0" anchor="ctr"/>
          <a:lstStyle/>
          <a:p>
            <a:pPr indent="0" marL="0">
              <a:buNone/>
            </a:pPr>
            <a:r>
              <a:rPr lang="en-US" sz="1200" b="1" spc="50" kern="0" dirty="0">
                <a:solidFill>
                  <a:srgbClr val="1F6F5C"/>
                </a:solidFill>
                <a:latin typeface="Arial" pitchFamily="34" charset="0"/>
                <a:ea typeface="Arial" pitchFamily="34" charset="-122"/>
                <a:cs typeface="Arial" pitchFamily="34" charset="-120"/>
              </a:rPr>
              <a:t>最初に外しておく誤解</a:t>
            </a:r>
            <a:endParaRPr lang="en-US" sz="1200" dirty="0"/>
          </a:p>
        </p:txBody>
      </p:sp>
      <p:sp>
        <p:nvSpPr>
          <p:cNvPr id="33" name="Shape 31"/>
          <p:cNvSpPr/>
          <p:nvPr/>
        </p:nvSpPr>
        <p:spPr>
          <a:xfrm>
            <a:off x="502920" y="3840480"/>
            <a:ext cx="3593592" cy="1737360"/>
          </a:xfrm>
          <a:prstGeom prst="roundRect">
            <a:avLst>
              <a:gd name="adj" fmla="val 3158"/>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34" name="Text 32"/>
          <p:cNvSpPr txBox="1"/>
          <p:nvPr/>
        </p:nvSpPr>
        <p:spPr>
          <a:xfrm>
            <a:off x="758952" y="4023360"/>
            <a:ext cx="3081528"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品質を自動で生む道具ではない</a:t>
            </a:r>
            <a:endParaRPr lang="en-US" sz="1400" dirty="0"/>
          </a:p>
        </p:txBody>
      </p:sp>
      <p:sp>
        <p:nvSpPr>
          <p:cNvPr id="35" name="Text 33"/>
          <p:cNvSpPr txBox="1"/>
          <p:nvPr/>
        </p:nvSpPr>
        <p:spPr>
          <a:xfrm>
            <a:off x="758952" y="4407408"/>
            <a:ext cx="3081528" cy="1005840"/>
          </a:xfrm>
          <a:prstGeom prst="rect">
            <a:avLst/>
          </a:prstGeom>
          <a:noFill/>
          <a:ln/>
        </p:spPr>
        <p:txBody>
          <a:bodyPr wrap="square" lIns="0" tIns="0" rIns="0" bIns="0" rtlCol="0" anchor="t"/>
          <a:lstStyle/>
          <a:p>
            <a:pPr indent="0" marL="0">
              <a:lnSpc>
                <a:spcPts val="1700"/>
              </a:lnSpc>
              <a:buNone/>
            </a:pPr>
            <a:r>
              <a:rPr lang="en-US" sz="1200" dirty="0">
                <a:solidFill>
                  <a:srgbClr val="5C6166"/>
                </a:solidFill>
                <a:latin typeface="Calibri" pitchFamily="34" charset="0"/>
                <a:ea typeface="Calibri" pitchFamily="34" charset="-122"/>
                <a:cs typeface="Calibri" pitchFamily="34" charset="-120"/>
              </a:rPr>
              <a:t>あなたが定義した品質基準を、AI に無視させないための道具。基準を作るのは人間の仕事のまま。rig の仕事は強制と測定。</a:t>
            </a:r>
            <a:endParaRPr lang="en-US" sz="1200" dirty="0"/>
          </a:p>
        </p:txBody>
      </p:sp>
      <p:sp>
        <p:nvSpPr>
          <p:cNvPr id="36" name="Shape 34"/>
          <p:cNvSpPr/>
          <p:nvPr/>
        </p:nvSpPr>
        <p:spPr>
          <a:xfrm>
            <a:off x="4279392" y="3840480"/>
            <a:ext cx="3593592" cy="1737360"/>
          </a:xfrm>
          <a:prstGeom prst="roundRect">
            <a:avLst>
              <a:gd name="adj" fmla="val 3158"/>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37" name="Text 35"/>
          <p:cNvSpPr txBox="1"/>
          <p:nvPr/>
        </p:nvSpPr>
        <p:spPr>
          <a:xfrm>
            <a:off x="4535424" y="4023360"/>
            <a:ext cx="3081528"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対価がある</a:t>
            </a:r>
            <a:endParaRPr lang="en-US" sz="1400" dirty="0"/>
          </a:p>
        </p:txBody>
      </p:sp>
      <p:sp>
        <p:nvSpPr>
          <p:cNvPr id="38" name="Text 36"/>
          <p:cNvSpPr txBox="1"/>
          <p:nvPr/>
        </p:nvSpPr>
        <p:spPr>
          <a:xfrm>
            <a:off x="4535424" y="4407408"/>
            <a:ext cx="3081528" cy="1005840"/>
          </a:xfrm>
          <a:prstGeom prst="rect">
            <a:avLst/>
          </a:prstGeom>
          <a:noFill/>
          <a:ln/>
        </p:spPr>
        <p:txBody>
          <a:bodyPr wrap="square" lIns="0" tIns="0" rIns="0" bIns="0" rtlCol="0" anchor="t"/>
          <a:lstStyle/>
          <a:p>
            <a:pPr indent="0" marL="0">
              <a:lnSpc>
                <a:spcPts val="1700"/>
              </a:lnSpc>
              <a:buNone/>
            </a:pPr>
            <a:r>
              <a:rPr lang="en-US" sz="1200" dirty="0">
                <a:solidFill>
                  <a:srgbClr val="5C6166"/>
                </a:solidFill>
                <a:latin typeface="Calibri" pitchFamily="34" charset="0"/>
                <a:ea typeface="Calibri" pitchFamily="34" charset="-122"/>
                <a:cs typeface="Calibri" pitchFamily="34" charset="-120"/>
              </a:rPr>
              <a:t>隔離・検証・記録のために、速度とトークンを意図的に払う。速く書かせたいだけなら、モデルに直接頼むほうが速い。</a:t>
            </a:r>
            <a:endParaRPr lang="en-US" sz="1200" dirty="0"/>
          </a:p>
        </p:txBody>
      </p:sp>
      <p:sp>
        <p:nvSpPr>
          <p:cNvPr id="39" name="Shape 37"/>
          <p:cNvSpPr/>
          <p:nvPr/>
        </p:nvSpPr>
        <p:spPr>
          <a:xfrm>
            <a:off x="8055864" y="3840480"/>
            <a:ext cx="3602736" cy="1737360"/>
          </a:xfrm>
          <a:prstGeom prst="roundRect">
            <a:avLst>
              <a:gd name="adj" fmla="val 3158"/>
            </a:avLst>
          </a:prstGeom>
          <a:solidFill>
            <a:srgbClr val="E7EFEB"/>
          </a:solidFill>
          <a:ln w="6350">
            <a:solidFill>
              <a:srgbClr val="E7EFEB"/>
            </a:solidFill>
            <a:prstDash val="solid"/>
          </a:ln>
          <a:effectLst>
            <a:outerShdw sx="100000" sy="100000" kx="0" ky="0" algn="bl" rotWithShape="0" blurRad="101600" dist="12700" dir="5400000">
              <a:srgbClr val="000000">
                <a:alpha val="10000"/>
              </a:srgbClr>
            </a:outerShdw>
          </a:effectLst>
        </p:spPr>
      </p:sp>
      <p:sp>
        <p:nvSpPr>
          <p:cNvPr id="40" name="Text 38"/>
          <p:cNvSpPr txBox="1"/>
          <p:nvPr/>
        </p:nvSpPr>
        <p:spPr>
          <a:xfrm>
            <a:off x="8311896" y="4023360"/>
            <a:ext cx="3090672"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効いてくる場面</a:t>
            </a:r>
            <a:endParaRPr lang="en-US" sz="1400" dirty="0"/>
          </a:p>
        </p:txBody>
      </p:sp>
      <p:sp>
        <p:nvSpPr>
          <p:cNvPr id="41" name="Text 39"/>
          <p:cNvSpPr txBox="1"/>
          <p:nvPr/>
        </p:nvSpPr>
        <p:spPr>
          <a:xfrm>
            <a:off x="8311896" y="4407408"/>
            <a:ext cx="3090672" cy="1005840"/>
          </a:xfrm>
          <a:prstGeom prst="rect">
            <a:avLst/>
          </a:prstGeom>
          <a:noFill/>
          <a:ln/>
        </p:spPr>
        <p:txBody>
          <a:bodyPr wrap="square" lIns="0" tIns="0" rIns="0" bIns="0" rtlCol="0" anchor="t"/>
          <a:lstStyle/>
          <a:p>
            <a:pPr indent="0" marL="0">
              <a:lnSpc>
                <a:spcPts val="1700"/>
              </a:lnSpc>
              <a:buNone/>
            </a:pPr>
            <a:r>
              <a:rPr lang="en-US" sz="1200" dirty="0">
                <a:solidFill>
                  <a:srgbClr val="5C6166"/>
                </a:solidFill>
                <a:latin typeface="Calibri" pitchFamily="34" charset="0"/>
                <a:ea typeface="Calibri" pitchFamily="34" charset="-122"/>
                <a:cs typeface="Calibri" pitchFamily="34" charset="-120"/>
              </a:rPr>
              <a:t>失敗したときのコストが、速度より高いとき。本番に触れるコード、他人が読むコード、あとで誰も検証しないコード。</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N° 02</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直接頼む場合と、何が違うか</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6949440" cy="914400"/>
        </p:xfrm>
        <a:graphic>
          <a:graphicData uri="http://schemas.openxmlformats.org/drawingml/2006/table">
            <a:tbl>
              <a:tblPr/>
              <a:tblGrid>
                <a:gridCol w="1737360"/>
                <a:gridCol w="2377440"/>
                <a:gridCol w="2834640"/>
              </a:tblGrid>
              <a:tr h="384048">
                <a:tc>
                  <a:txBody>
                    <a:bodyPr/>
                    <a:lstStyle/>
                    <a:p>
                      <a:pPr indent="0" marL="0">
                        <a:buNone/>
                      </a:pPr>
                      <a:r>
                        <a:rPr lang="en-US" sz="1050" b="1" dirty="0">
                          <a:solidFill>
                            <a:srgbClr val="FFFFFF"/>
                          </a:solidFill>
                          <a:latin typeface="Arial" pitchFamily="34" charset="0"/>
                          <a:ea typeface="Arial" pitchFamily="34" charset="-122"/>
                          <a:cs typeface="Arial" pitchFamily="34" charset="-120"/>
                        </a:rPr>
                        <a:t>観点</a:t>
                      </a:r>
                      <a:endParaRPr lang="en-US" sz="1050" dirty="0">
                        <a:latin typeface="Arial" charset="0"/>
                        <a:ea typeface="Arial" charset="0"/>
                        <a:cs typeface="Arial"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1C1C1C"/>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モデルに直接頼む</a:t>
                      </a:r>
                      <a:endParaRPr lang="en-US" sz="1050" dirty="0">
                        <a:latin typeface="Arial" charset="0"/>
                        <a:ea typeface="Arial" charset="0"/>
                        <a:cs typeface="Arial"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1C1C1C"/>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rig 経由</a:t>
                      </a:r>
                      <a:endParaRPr lang="en-US" sz="1050" dirty="0">
                        <a:latin typeface="Arial" charset="0"/>
                        <a:ea typeface="Arial" charset="0"/>
                        <a:cs typeface="Arial"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1C1C1C"/>
                    </a:solidFill>
                  </a:tcPr>
                </a:tc>
              </a:tr>
              <a:tr h="38404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失敗した変更</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作業ツリーに残る</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worktree ごと破棄、本体は無傷</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r>
              <a:tr h="38404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「できました」</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信じるしかない</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acceptance-gate の合否が根拠</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レビューの質</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不明</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検出率を drill で実測できる</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r>
              <a:tr h="38404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何が起きたか</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チャットログ</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run log・監査証跡・署名つき来歴</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並列実行</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同じツリーを取り合う</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task ごとに別 worktree／別 branch</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r>
              <a:tr h="38404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中断・圧縮</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静かに素の作業へ戻る</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状態ヘッダに再アンカーする</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r>
            </a:tbl>
          </a:graphicData>
        </a:graphic>
      </p:graphicFrame>
      <p:sp>
        <p:nvSpPr>
          <p:cNvPr id="7" name="Shape 4"/>
          <p:cNvSpPr/>
          <p:nvPr/>
        </p:nvSpPr>
        <p:spPr>
          <a:xfrm>
            <a:off x="7726680" y="1371600"/>
            <a:ext cx="3931920" cy="2194560"/>
          </a:xfrm>
          <a:prstGeom prst="roundRect">
            <a:avLst>
              <a:gd name="adj" fmla="val 2500"/>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8" name="Text 5"/>
          <p:cNvSpPr txBox="1"/>
          <p:nvPr/>
        </p:nvSpPr>
        <p:spPr>
          <a:xfrm>
            <a:off x="7982712" y="1554480"/>
            <a:ext cx="341985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rig の現在地</a:t>
            </a:r>
            <a:endParaRPr lang="en-US" sz="1400" dirty="0"/>
          </a:p>
        </p:txBody>
      </p:sp>
      <p:sp>
        <p:nvSpPr>
          <p:cNvPr id="9" name="Text 6"/>
          <p:cNvSpPr txBox="1"/>
          <p:nvPr/>
        </p:nvSpPr>
        <p:spPr>
          <a:xfrm>
            <a:off x="7982712" y="1938528"/>
            <a:ext cx="3419856" cy="1463040"/>
          </a:xfrm>
          <a:prstGeom prst="rect">
            <a:avLst/>
          </a:prstGeom>
          <a:noFill/>
          <a:ln/>
        </p:spPr>
        <p:txBody>
          <a:bodyPr wrap="square" lIns="0" tIns="0" rIns="0" bIns="0" rtlCol="0" anchor="t"/>
          <a:lstStyle/>
          <a:p>
            <a:pPr indent="0" marL="0">
              <a:lnSpc>
                <a:spcPts val="1600"/>
              </a:lnSpc>
              <a:buNone/>
            </a:pPr>
            <a:r>
              <a:rPr lang="en-US" sz="1150" dirty="0">
                <a:solidFill>
                  <a:srgbClr val="5C6166"/>
                </a:solidFill>
                <a:latin typeface="Calibri" pitchFamily="34" charset="0"/>
                <a:ea typeface="Calibri" pitchFamily="34" charset="-122"/>
                <a:cs typeface="Calibri" pitchFamily="34" charset="-120"/>
              </a:rPr>
              <a:t>安全性の核（分類・隔離・acceptance-gate・明示的な accept／discard）は実装済みで、リポジトリ自身のテストで裏づけがある。</a:t>
            </a:r>
            <a:endParaRPr lang="en-US" sz="1150" dirty="0"/>
          </a:p>
          <a:p>
            <a:pPr indent="0" marL="0">
              <a:lnSpc>
                <a:spcPts val="1600"/>
              </a:lnSpc>
              <a:buNone/>
            </a:pPr>
            <a:endParaRPr lang="en-US" sz="1150" dirty="0"/>
          </a:p>
          <a:p>
            <a:pPr indent="0" marL="0">
              <a:lnSpc>
                <a:spcPts val="1600"/>
              </a:lnSpc>
              <a:buNone/>
            </a:pPr>
            <a:r>
              <a:rPr lang="en-US" sz="1150" dirty="0">
                <a:solidFill>
                  <a:srgbClr val="5C6166"/>
                </a:solidFill>
                <a:latin typeface="Calibri" pitchFamily="34" charset="0"/>
                <a:ea typeface="Calibri" pitchFamily="34" charset="-122"/>
                <a:cs typeface="Calibri" pitchFamily="34" charset="-120"/>
              </a:rPr>
              <a:t>その上の観測系（drill・board・stats・GitHub 連携）は実用可能だが発展中。</a:t>
            </a:r>
            <a:endParaRPr lang="en-US" sz="1150" dirty="0"/>
          </a:p>
        </p:txBody>
      </p:sp>
      <p:sp>
        <p:nvSpPr>
          <p:cNvPr id="10" name="Shape 7"/>
          <p:cNvSpPr/>
          <p:nvPr/>
        </p:nvSpPr>
        <p:spPr>
          <a:xfrm>
            <a:off x="7726680" y="3703320"/>
            <a:ext cx="3931920" cy="1874520"/>
          </a:xfrm>
          <a:prstGeom prst="roundRect">
            <a:avLst>
              <a:gd name="adj" fmla="val 2927"/>
            </a:avLst>
          </a:prstGeom>
          <a:solidFill>
            <a:srgbClr val="F3EAE6"/>
          </a:solidFill>
          <a:ln w="6350">
            <a:solidFill>
              <a:srgbClr val="F3EAE6"/>
            </a:solidFill>
            <a:prstDash val="solid"/>
          </a:ln>
          <a:effectLst>
            <a:outerShdw sx="100000" sy="100000" kx="0" ky="0" algn="bl" rotWithShape="0" blurRad="101600" dist="12700" dir="5400000">
              <a:srgbClr val="000000">
                <a:alpha val="10000"/>
              </a:srgbClr>
            </a:outerShdw>
          </a:effectLst>
        </p:spPr>
      </p:sp>
      <p:sp>
        <p:nvSpPr>
          <p:cNvPr id="11" name="Text 8"/>
          <p:cNvSpPr txBox="1"/>
          <p:nvPr/>
        </p:nvSpPr>
        <p:spPr>
          <a:xfrm>
            <a:off x="7982712" y="3886200"/>
            <a:ext cx="3419856" cy="320040"/>
          </a:xfrm>
          <a:prstGeom prst="rect">
            <a:avLst/>
          </a:prstGeom>
          <a:noFill/>
          <a:ln/>
        </p:spPr>
        <p:txBody>
          <a:bodyPr wrap="square" lIns="0" tIns="0" rIns="0" bIns="0" rtlCol="0" anchor="ctr"/>
          <a:lstStyle/>
          <a:p>
            <a:pPr indent="0" marL="0">
              <a:buNone/>
            </a:pPr>
            <a:r>
              <a:rPr lang="en-US" sz="1400" b="1" dirty="0">
                <a:solidFill>
                  <a:srgbClr val="A33A21"/>
                </a:solidFill>
                <a:latin typeface="Arial" pitchFamily="34" charset="0"/>
                <a:ea typeface="Arial" pitchFamily="34" charset="-122"/>
                <a:cs typeface="Arial" pitchFamily="34" charset="-120"/>
              </a:rPr>
              <a:t>正直なスコープ</a:t>
            </a:r>
            <a:endParaRPr lang="en-US" sz="1400" dirty="0"/>
          </a:p>
        </p:txBody>
      </p:sp>
      <p:sp>
        <p:nvSpPr>
          <p:cNvPr id="12" name="Text 9"/>
          <p:cNvSpPr txBox="1"/>
          <p:nvPr/>
        </p:nvSpPr>
        <p:spPr>
          <a:xfrm>
            <a:off x="7982712" y="4270248"/>
            <a:ext cx="3419856" cy="1143000"/>
          </a:xfrm>
          <a:prstGeom prst="rect">
            <a:avLst/>
          </a:prstGeom>
          <a:noFill/>
          <a:ln/>
        </p:spPr>
        <p:txBody>
          <a:bodyPr wrap="square" lIns="0" tIns="0" rIns="0" bIns="0" rtlCol="0" anchor="t"/>
          <a:lstStyle/>
          <a:p>
            <a:pPr indent="0" marL="0">
              <a:lnSpc>
                <a:spcPts val="1600"/>
              </a:lnSpc>
              <a:buNone/>
            </a:pPr>
            <a:r>
              <a:rPr lang="en-US" sz="1150" dirty="0">
                <a:solidFill>
                  <a:srgbClr val="5C6166"/>
                </a:solidFill>
                <a:latin typeface="Calibri" pitchFamily="34" charset="0"/>
                <a:ea typeface="Calibri" pitchFamily="34" charset="-122"/>
                <a:cs typeface="Calibri" pitchFamily="34" charset="-120"/>
              </a:rPr>
              <a:t>「未出荷の機能を Planned として載せない」がこのプロジェクトの方針。表に無いコマンドは、まだ出荷されていない。</a:t>
            </a:r>
            <a:endParaRPr lang="en-US" sz="1150" dirty="0"/>
          </a:p>
        </p:txBody>
      </p:sp>
      <p:sp>
        <p:nvSpPr>
          <p:cNvPr id="13" name="Shape 10"/>
          <p:cNvSpPr/>
          <p:nvPr/>
        </p:nvSpPr>
        <p:spPr>
          <a:xfrm>
            <a:off x="502920" y="4251960"/>
            <a:ext cx="6949440" cy="1600200"/>
          </a:xfrm>
          <a:prstGeom prst="roundRect">
            <a:avLst>
              <a:gd name="adj" fmla="val 3429"/>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4" name="Text 11"/>
          <p:cNvSpPr txBox="1"/>
          <p:nvPr/>
        </p:nvSpPr>
        <p:spPr>
          <a:xfrm>
            <a:off x="758952" y="4434840"/>
            <a:ext cx="643737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隔離が task 単位で閉じている、ということ</a:t>
            </a:r>
            <a:endParaRPr lang="en-US" sz="1400" dirty="0"/>
          </a:p>
        </p:txBody>
      </p:sp>
      <p:sp>
        <p:nvSpPr>
          <p:cNvPr id="15" name="Text 12"/>
          <p:cNvSpPr txBox="1"/>
          <p:nvPr/>
        </p:nvSpPr>
        <p:spPr>
          <a:xfrm>
            <a:off x="758952" y="4818888"/>
            <a:ext cx="6437376" cy="868680"/>
          </a:xfrm>
          <a:prstGeom prst="rect">
            <a:avLst/>
          </a:prstGeom>
          <a:noFill/>
          <a:ln/>
        </p:spPr>
        <p:txBody>
          <a:bodyPr wrap="square" lIns="0" tIns="0" rIns="0" bIns="0" rtlCol="0" anchor="t"/>
          <a:lstStyle/>
          <a:p>
            <a:pPr indent="0" marL="0">
              <a:lnSpc>
                <a:spcPts val="1600"/>
              </a:lnSpc>
              <a:buNone/>
            </a:pPr>
            <a:r>
              <a:rPr lang="en-US" sz="1150" dirty="0">
                <a:solidFill>
                  <a:srgbClr val="5C6166"/>
                </a:solidFill>
                <a:latin typeface="Calibri" pitchFamily="34" charset="0"/>
                <a:ea typeface="Calibri" pitchFamily="34" charset="-122"/>
                <a:cs typeface="Calibri" pitchFamily="34" charset="-120"/>
              </a:rPr>
              <a:t>複数タスクを同時に走らせても構造的に安全（別 worktree・別 branch）。/rig:queue で積んで一括 GO しても、並列プロセス同士がファイルを取り合わない。完了後の確認場所は /rig:go board — どの端末・どのプロセスが起動したかに関わらず、全 task の状態が一つの表に出る。</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N° 03</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入口は二つ。中身は同じエンジン</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502920" y="1325880"/>
            <a:ext cx="5486400" cy="2148840"/>
          </a:xfrm>
          <a:prstGeom prst="roundRect">
            <a:avLst>
              <a:gd name="adj" fmla="val 2553"/>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7" name="Shape 5"/>
          <p:cNvSpPr/>
          <p:nvPr/>
        </p:nvSpPr>
        <p:spPr>
          <a:xfrm>
            <a:off x="758952" y="1527048"/>
            <a:ext cx="384048" cy="384048"/>
          </a:xfrm>
          <a:prstGeom prst="ellipse">
            <a:avLst/>
          </a:prstGeom>
          <a:solidFill>
            <a:srgbClr val="1F6F5C"/>
          </a:solidFill>
          <a:ln w="12700">
            <a:solidFill>
              <a:srgbClr val="1F6F5C"/>
            </a:solidFill>
            <a:prstDash val="solid"/>
          </a:ln>
        </p:spPr>
      </p:sp>
      <p:sp>
        <p:nvSpPr>
          <p:cNvPr id="8" name="Text 6"/>
          <p:cNvSpPr txBox="1"/>
          <p:nvPr/>
        </p:nvSpPr>
        <p:spPr>
          <a:xfrm>
            <a:off x="758952" y="1527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a:t>
            </a:r>
            <a:endParaRPr lang="en-US" sz="1300" dirty="0"/>
          </a:p>
        </p:txBody>
      </p:sp>
      <p:sp>
        <p:nvSpPr>
          <p:cNvPr id="9" name="Text 7"/>
          <p:cNvSpPr txBox="1"/>
          <p:nvPr/>
        </p:nvSpPr>
        <p:spPr>
          <a:xfrm>
            <a:off x="1289304" y="1545336"/>
            <a:ext cx="4443984"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Claude Code の中では、プラグイン</a:t>
            </a:r>
            <a:endParaRPr lang="en-US" sz="1400" dirty="0"/>
          </a:p>
        </p:txBody>
      </p:sp>
      <p:sp>
        <p:nvSpPr>
          <p:cNvPr id="10" name="Text 8"/>
          <p:cNvSpPr txBox="1"/>
          <p:nvPr/>
        </p:nvSpPr>
        <p:spPr>
          <a:xfrm>
            <a:off x="1289304" y="1892808"/>
            <a:ext cx="4443984" cy="1417320"/>
          </a:xfrm>
          <a:prstGeom prst="rect">
            <a:avLst/>
          </a:prstGeom>
          <a:noFill/>
          <a:ln/>
        </p:spPr>
        <p:txBody>
          <a:bodyPr wrap="square" lIns="0" tIns="0" rIns="0" bIns="0" rtlCol="0" anchor="t"/>
          <a:lstStyle/>
          <a:p>
            <a:pPr indent="0" marL="0">
              <a:lnSpc>
                <a:spcPts val="1700"/>
              </a:lnSpc>
              <a:buNone/>
            </a:pPr>
            <a:r>
              <a:rPr lang="en-US" sz="1150" dirty="0">
                <a:solidFill>
                  <a:srgbClr val="5C6166"/>
                </a:solidFill>
                <a:latin typeface="Calibri" pitchFamily="34" charset="0"/>
                <a:ea typeface="Calibri" pitchFamily="34" charset="-122"/>
                <a:cs typeface="Calibri" pitchFamily="34" charset="-120"/>
              </a:rPr>
              <a:t>スラッシュコマンドはここから来る。安全フローは一通りこれだけで動く。</a:t>
            </a:r>
            <a:endParaRPr lang="en-US" sz="1150" dirty="0"/>
          </a:p>
        </p:txBody>
      </p:sp>
      <p:sp>
        <p:nvSpPr>
          <p:cNvPr id="11" name="Shape 9"/>
          <p:cNvSpPr/>
          <p:nvPr/>
        </p:nvSpPr>
        <p:spPr>
          <a:xfrm>
            <a:off x="1289304" y="2542032"/>
            <a:ext cx="4572000" cy="713232"/>
          </a:xfrm>
          <a:prstGeom prst="roundRect">
            <a:avLst>
              <a:gd name="adj" fmla="val 6410"/>
            </a:avLst>
          </a:prstGeom>
          <a:solidFill>
            <a:srgbClr val="1C1C1C"/>
          </a:solidFill>
          <a:ln w="12700">
            <a:solidFill>
              <a:srgbClr val="1C1C1C"/>
            </a:solidFill>
            <a:prstDash val="solid"/>
          </a:ln>
          <a:effectLst>
            <a:outerShdw sx="100000" sy="100000" kx="0" ky="0" algn="bl" rotWithShape="0" blurRad="101600" dist="12700" dir="5400000">
              <a:srgbClr val="000000">
                <a:alpha val="10000"/>
              </a:srgbClr>
            </a:outerShdw>
          </a:effectLst>
        </p:spPr>
      </p:sp>
      <p:sp>
        <p:nvSpPr>
          <p:cNvPr id="12" name="Text 10"/>
          <p:cNvSpPr txBox="1"/>
          <p:nvPr/>
        </p:nvSpPr>
        <p:spPr>
          <a:xfrm>
            <a:off x="1490472" y="2688336"/>
            <a:ext cx="4169664" cy="420624"/>
          </a:xfrm>
          <a:prstGeom prst="rect">
            <a:avLst/>
          </a:prstGeom>
          <a:noFill/>
          <a:ln/>
        </p:spPr>
        <p:txBody>
          <a:bodyPr wrap="square" lIns="0" tIns="0" rIns="0" bIns="0" rtlCol="0" anchor="t"/>
          <a:lstStyle/>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/plugin marketplace add itoh-shun/sito-plugins</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/plugin install rig@sito-plugins</a:t>
            </a:r>
            <a:endParaRPr lang="en-US" sz="1000" dirty="0"/>
          </a:p>
        </p:txBody>
      </p:sp>
      <p:sp>
        <p:nvSpPr>
          <p:cNvPr id="13" name="Shape 11"/>
          <p:cNvSpPr/>
          <p:nvPr/>
        </p:nvSpPr>
        <p:spPr>
          <a:xfrm>
            <a:off x="6355080" y="1325880"/>
            <a:ext cx="5486400" cy="2148840"/>
          </a:xfrm>
          <a:prstGeom prst="roundRect">
            <a:avLst>
              <a:gd name="adj" fmla="val 2553"/>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4" name="Shape 12"/>
          <p:cNvSpPr/>
          <p:nvPr/>
        </p:nvSpPr>
        <p:spPr>
          <a:xfrm>
            <a:off x="6611112" y="1527048"/>
            <a:ext cx="384048" cy="384048"/>
          </a:xfrm>
          <a:prstGeom prst="ellipse">
            <a:avLst/>
          </a:prstGeom>
          <a:solidFill>
            <a:srgbClr val="1F6F5C"/>
          </a:solidFill>
          <a:ln w="12700">
            <a:solidFill>
              <a:srgbClr val="1F6F5C"/>
            </a:solidFill>
            <a:prstDash val="solid"/>
          </a:ln>
        </p:spPr>
      </p:sp>
      <p:sp>
        <p:nvSpPr>
          <p:cNvPr id="15" name="Text 13"/>
          <p:cNvSpPr txBox="1"/>
          <p:nvPr/>
        </p:nvSpPr>
        <p:spPr>
          <a:xfrm>
            <a:off x="6611112" y="1527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B</a:t>
            </a:r>
            <a:endParaRPr lang="en-US" sz="1300" dirty="0"/>
          </a:p>
        </p:txBody>
      </p:sp>
      <p:sp>
        <p:nvSpPr>
          <p:cNvPr id="16" name="Text 14"/>
          <p:cNvSpPr txBox="1"/>
          <p:nvPr/>
        </p:nvSpPr>
        <p:spPr>
          <a:xfrm>
            <a:off x="7141464" y="1545336"/>
            <a:ext cx="4443984"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それ以外の場所では、rig-wb CLI</a:t>
            </a:r>
            <a:endParaRPr lang="en-US" sz="1400" dirty="0"/>
          </a:p>
        </p:txBody>
      </p:sp>
      <p:sp>
        <p:nvSpPr>
          <p:cNvPr id="17" name="Text 15"/>
          <p:cNvSpPr txBox="1"/>
          <p:nvPr/>
        </p:nvSpPr>
        <p:spPr>
          <a:xfrm>
            <a:off x="7141464" y="1892808"/>
            <a:ext cx="4443984" cy="1417320"/>
          </a:xfrm>
          <a:prstGeom prst="rect">
            <a:avLst/>
          </a:prstGeom>
          <a:noFill/>
          <a:ln/>
        </p:spPr>
        <p:txBody>
          <a:bodyPr wrap="square" lIns="0" tIns="0" rIns="0" bIns="0" rtlCol="0" anchor="t"/>
          <a:lstStyle/>
          <a:p>
            <a:pPr indent="0" marL="0">
              <a:lnSpc>
                <a:spcPts val="1700"/>
              </a:lnSpc>
              <a:buNone/>
            </a:pPr>
            <a:r>
              <a:rPr lang="en-US" sz="1150" dirty="0">
                <a:solidFill>
                  <a:srgbClr val="5C6166"/>
                </a:solidFill>
                <a:latin typeface="Calibri" pitchFamily="34" charset="0"/>
                <a:ea typeface="Calibri" pitchFamily="34" charset="-122"/>
                <a:cs typeface="Calibri" pitchFamily="34" charset="-120"/>
              </a:rPr>
              <a:t>CI・スクリプト・別のアシスタント（Codex / Cursor）から同じ recipe とゲートを回す。</a:t>
            </a:r>
            <a:endParaRPr lang="en-US" sz="1150" dirty="0"/>
          </a:p>
        </p:txBody>
      </p:sp>
      <p:sp>
        <p:nvSpPr>
          <p:cNvPr id="18" name="Shape 16"/>
          <p:cNvSpPr/>
          <p:nvPr/>
        </p:nvSpPr>
        <p:spPr>
          <a:xfrm>
            <a:off x="7141464" y="2542032"/>
            <a:ext cx="4572000" cy="713232"/>
          </a:xfrm>
          <a:prstGeom prst="roundRect">
            <a:avLst>
              <a:gd name="adj" fmla="val 6410"/>
            </a:avLst>
          </a:prstGeom>
          <a:solidFill>
            <a:srgbClr val="1C1C1C"/>
          </a:solidFill>
          <a:ln w="12700">
            <a:solidFill>
              <a:srgbClr val="1C1C1C"/>
            </a:solidFill>
            <a:prstDash val="solid"/>
          </a:ln>
          <a:effectLst>
            <a:outerShdw sx="100000" sy="100000" kx="0" ky="0" algn="bl" rotWithShape="0" blurRad="101600" dist="12700" dir="5400000">
              <a:srgbClr val="000000">
                <a:alpha val="10000"/>
              </a:srgbClr>
            </a:outerShdw>
          </a:effectLst>
        </p:spPr>
      </p:sp>
      <p:sp>
        <p:nvSpPr>
          <p:cNvPr id="19" name="Text 17"/>
          <p:cNvSpPr txBox="1"/>
          <p:nvPr/>
        </p:nvSpPr>
        <p:spPr>
          <a:xfrm>
            <a:off x="7342632" y="2688336"/>
            <a:ext cx="4169664" cy="420624"/>
          </a:xfrm>
          <a:prstGeom prst="rect">
            <a:avLst/>
          </a:prstGeom>
          <a:noFill/>
          <a:ln/>
        </p:spPr>
        <p:txBody>
          <a:bodyPr wrap="square" lIns="0" tIns="0" rIns="0" bIns="0" rtlCol="0" anchor="t"/>
          <a:lstStyle/>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pipx install git+https://github.com/itoh-shun/rig.git</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rig-wb version</a:t>
            </a:r>
            <a:endParaRPr lang="en-US" sz="1000" dirty="0"/>
          </a:p>
        </p:txBody>
      </p:sp>
      <p:sp>
        <p:nvSpPr>
          <p:cNvPr id="20" name="Text 18"/>
          <p:cNvSpPr txBox="1"/>
          <p:nvPr/>
        </p:nvSpPr>
        <p:spPr>
          <a:xfrm>
            <a:off x="502920" y="3584448"/>
            <a:ext cx="11155680" cy="292608"/>
          </a:xfrm>
          <a:prstGeom prst="rect">
            <a:avLst/>
          </a:prstGeom>
          <a:noFill/>
          <a:ln/>
        </p:spPr>
        <p:txBody>
          <a:bodyPr wrap="square" lIns="0" tIns="0" rIns="0" bIns="0" rtlCol="0" anchor="ctr"/>
          <a:lstStyle/>
          <a:p>
            <a:pPr indent="0" marL="0">
              <a:buNone/>
            </a:pPr>
            <a:r>
              <a:rPr lang="en-US" sz="1100" dirty="0">
                <a:solidFill>
                  <a:srgbClr val="5C6166"/>
                </a:solidFill>
                <a:latin typeface="Calibri" pitchFamily="34" charset="0"/>
                <a:ea typeface="Calibri" pitchFamily="34" charset="-122"/>
                <a:cs typeface="Calibri" pitchFamily="34" charset="-120"/>
              </a:rPr>
              <a:t>両方は要らない。二つ目が必要なのは、Claude Code の外にあるものが同じ recipe とゲートに届く必要があるときだけ。/rig:setup が中から入れてくれる。</a:t>
            </a:r>
            <a:endParaRPr lang="en-US" sz="1100" dirty="0"/>
          </a:p>
        </p:txBody>
      </p:sp>
      <p:sp>
        <p:nvSpPr>
          <p:cNvPr id="21" name="Text 19"/>
          <p:cNvSpPr txBox="1"/>
          <p:nvPr/>
        </p:nvSpPr>
        <p:spPr>
          <a:xfrm>
            <a:off x="502920" y="3968496"/>
            <a:ext cx="7315200" cy="256032"/>
          </a:xfrm>
          <a:prstGeom prst="rect">
            <a:avLst/>
          </a:prstGeom>
          <a:noFill/>
          <a:ln/>
        </p:spPr>
        <p:txBody>
          <a:bodyPr wrap="square" lIns="0" tIns="0" rIns="0" bIns="0" rtlCol="0" anchor="ctr"/>
          <a:lstStyle/>
          <a:p>
            <a:pPr indent="0" marL="0">
              <a:buNone/>
            </a:pPr>
            <a:r>
              <a:rPr lang="en-US" sz="1200" b="1" spc="50" kern="0" dirty="0">
                <a:solidFill>
                  <a:srgbClr val="1F6F5C"/>
                </a:solidFill>
                <a:latin typeface="Arial" pitchFamily="34" charset="0"/>
                <a:ea typeface="Arial" pitchFamily="34" charset="-122"/>
                <a:cs typeface="Arial" pitchFamily="34" charset="-120"/>
              </a:rPr>
              <a:t>最初の三十秒 — 設定はゼロでいい</a:t>
            </a:r>
            <a:endParaRPr lang="en-US" sz="1200" dirty="0"/>
          </a:p>
        </p:txBody>
      </p:sp>
      <p:sp>
        <p:nvSpPr>
          <p:cNvPr id="22" name="Shape 20"/>
          <p:cNvSpPr/>
          <p:nvPr/>
        </p:nvSpPr>
        <p:spPr>
          <a:xfrm>
            <a:off x="502920" y="4261104"/>
            <a:ext cx="5486400" cy="1572768"/>
          </a:xfrm>
          <a:prstGeom prst="roundRect">
            <a:avLst>
              <a:gd name="adj" fmla="val 2907"/>
            </a:avLst>
          </a:prstGeom>
          <a:solidFill>
            <a:srgbClr val="1C1C1C"/>
          </a:solidFill>
          <a:ln w="12700">
            <a:solidFill>
              <a:srgbClr val="1C1C1C"/>
            </a:solidFill>
            <a:prstDash val="solid"/>
          </a:ln>
          <a:effectLst>
            <a:outerShdw sx="100000" sy="100000" kx="0" ky="0" algn="bl" rotWithShape="0" blurRad="101600" dist="12700" dir="5400000">
              <a:srgbClr val="000000">
                <a:alpha val="10000"/>
              </a:srgbClr>
            </a:outerShdw>
          </a:effectLst>
        </p:spPr>
      </p:sp>
      <p:sp>
        <p:nvSpPr>
          <p:cNvPr id="23" name="Text 21"/>
          <p:cNvSpPr txBox="1"/>
          <p:nvPr/>
        </p:nvSpPr>
        <p:spPr>
          <a:xfrm>
            <a:off x="704088" y="4407408"/>
            <a:ext cx="5084064" cy="1280160"/>
          </a:xfrm>
          <a:prstGeom prst="rect">
            <a:avLst/>
          </a:prstGeom>
          <a:noFill/>
          <a:ln/>
        </p:spPr>
        <p:txBody>
          <a:bodyPr wrap="square" lIns="0" tIns="0" rIns="0" bIns="0" rtlCol="0" anchor="t"/>
          <a:lstStyle/>
          <a:p>
            <a:pPr indent="0" marL="0">
              <a:lnSpc>
                <a:spcPts val="1600"/>
              </a:lnSpc>
              <a:buNone/>
            </a:pPr>
            <a:r>
              <a:rPr lang="en-US" sz="1050" dirty="0">
                <a:solidFill>
                  <a:srgbClr val="EDEDE8"/>
                </a:solidFill>
                <a:latin typeface="Courier New" pitchFamily="34" charset="0"/>
                <a:ea typeface="Courier New" pitchFamily="34" charset="-122"/>
                <a:cs typeface="Courier New" pitchFamily="34" charset="-120"/>
              </a:rPr>
              <a:t>/rig:go "ログインバグを直して"</a:t>
            </a:r>
            <a:endParaRPr lang="en-US" sz="1050" dirty="0"/>
          </a:p>
          <a:p>
            <a:pPr indent="0" marL="0">
              <a:lnSpc>
                <a:spcPts val="1600"/>
              </a:lnSpc>
              <a:buNone/>
            </a:pPr>
            <a:r>
              <a:rPr lang="en-US" sz="1050" dirty="0">
                <a:solidFill>
                  <a:srgbClr val="EDEDE8"/>
                </a:solidFill>
                <a:latin typeface="Courier New" pitchFamily="34" charset="0"/>
                <a:ea typeface="Courier New" pitchFamily="34" charset="-122"/>
                <a:cs typeface="Courier New" pitchFamily="34" charset="-120"/>
              </a:rPr>
              <a:t>/rig:go "このPRを厳しめにレビューして"</a:t>
            </a:r>
            <a:endParaRPr lang="en-US" sz="1050" dirty="0"/>
          </a:p>
          <a:p>
            <a:pPr indent="0" marL="0">
              <a:lnSpc>
                <a:spcPts val="1600"/>
              </a:lnSpc>
              <a:buNone/>
            </a:pPr>
            <a:r>
              <a:rPr lang="en-US" sz="1050" dirty="0">
                <a:solidFill>
                  <a:srgbClr val="EDEDE8"/>
                </a:solidFill>
                <a:latin typeface="Courier New" pitchFamily="34" charset="0"/>
                <a:ea typeface="Courier New" pitchFamily="34" charset="-122"/>
                <a:cs typeface="Courier New" pitchFamily="34" charset="-120"/>
              </a:rPr>
              <a:t>/rig:go "今の変更が安全か確認して"</a:t>
            </a:r>
            <a:endParaRPr lang="en-US" sz="1050" dirty="0"/>
          </a:p>
          <a:p>
            <a:pPr indent="0" marL="0">
              <a:lnSpc>
                <a:spcPts val="1600"/>
              </a:lnSpc>
              <a:buNone/>
            </a:pPr>
            <a:endParaRPr lang="en-US" sz="1050" dirty="0"/>
          </a:p>
          <a:p>
            <a:pPr indent="0" marL="0">
              <a:lnSpc>
                <a:spcPts val="1600"/>
              </a:lnSpc>
              <a:buNone/>
            </a:pPr>
            <a:r>
              <a:rPr lang="en-US" sz="1050" dirty="0">
                <a:solidFill>
                  <a:srgbClr val="EDEDE8"/>
                </a:solidFill>
                <a:latin typeface="Courier New" pitchFamily="34" charset="0"/>
                <a:ea typeface="Courier New" pitchFamily="34" charset="-122"/>
                <a:cs typeface="Courier New" pitchFamily="34" charset="-120"/>
              </a:rPr>
              <a:t>/rig:go diff      # 何が変わったか</a:t>
            </a:r>
            <a:endParaRPr lang="en-US" sz="1050" dirty="0"/>
          </a:p>
          <a:p>
            <a:pPr indent="0" marL="0">
              <a:lnSpc>
                <a:spcPts val="1600"/>
              </a:lnSpc>
              <a:buNone/>
            </a:pPr>
            <a:r>
              <a:rPr lang="en-US" sz="1050" dirty="0">
                <a:solidFill>
                  <a:srgbClr val="EDEDE8"/>
                </a:solidFill>
                <a:latin typeface="Courier New" pitchFamily="34" charset="0"/>
                <a:ea typeface="Courier New" pitchFamily="34" charset="-122"/>
                <a:cs typeface="Courier New" pitchFamily="34" charset="-120"/>
              </a:rPr>
              <a:t>/rig:go accept    # 反映（gate 未達なら拒否）</a:t>
            </a:r>
            <a:endParaRPr lang="en-US" sz="1050" dirty="0"/>
          </a:p>
          <a:p>
            <a:pPr indent="0" marL="0">
              <a:lnSpc>
                <a:spcPts val="1600"/>
              </a:lnSpc>
              <a:buNone/>
            </a:pPr>
            <a:r>
              <a:rPr lang="en-US" sz="1050" dirty="0">
                <a:solidFill>
                  <a:srgbClr val="EDEDE8"/>
                </a:solidFill>
                <a:latin typeface="Courier New" pitchFamily="34" charset="0"/>
                <a:ea typeface="Courier New" pitchFamily="34" charset="-122"/>
                <a:cs typeface="Courier New" pitchFamily="34" charset="-120"/>
              </a:rPr>
              <a:t>/rig:go discard   # 破棄</a:t>
            </a:r>
            <a:endParaRPr lang="en-US" sz="1050" dirty="0"/>
          </a:p>
        </p:txBody>
      </p:sp>
      <p:sp>
        <p:nvSpPr>
          <p:cNvPr id="24" name="Shape 22"/>
          <p:cNvSpPr/>
          <p:nvPr/>
        </p:nvSpPr>
        <p:spPr>
          <a:xfrm>
            <a:off x="6355080" y="4261104"/>
            <a:ext cx="5486400" cy="1572768"/>
          </a:xfrm>
          <a:prstGeom prst="roundRect">
            <a:avLst>
              <a:gd name="adj" fmla="val 2907"/>
            </a:avLst>
          </a:prstGeom>
          <a:solidFill>
            <a:srgbClr val="1C1C1C"/>
          </a:solidFill>
          <a:ln w="12700">
            <a:solidFill>
              <a:srgbClr val="1C1C1C"/>
            </a:solidFill>
            <a:prstDash val="solid"/>
          </a:ln>
          <a:effectLst>
            <a:outerShdw sx="100000" sy="100000" kx="0" ky="0" algn="bl" rotWithShape="0" blurRad="101600" dist="12700" dir="5400000">
              <a:srgbClr val="000000">
                <a:alpha val="10000"/>
              </a:srgbClr>
            </a:outerShdw>
          </a:effectLst>
        </p:spPr>
      </p:sp>
      <p:sp>
        <p:nvSpPr>
          <p:cNvPr id="25" name="Text 23"/>
          <p:cNvSpPr txBox="1"/>
          <p:nvPr/>
        </p:nvSpPr>
        <p:spPr>
          <a:xfrm>
            <a:off x="6556248" y="4407408"/>
            <a:ext cx="5084064" cy="1280160"/>
          </a:xfrm>
          <a:prstGeom prst="rect">
            <a:avLst/>
          </a:prstGeom>
          <a:noFill/>
          <a:ln/>
        </p:spPr>
        <p:txBody>
          <a:bodyPr wrap="square" lIns="0" tIns="0" rIns="0" bIns="0" rtlCol="0" anchor="t"/>
          <a:lstStyle/>
          <a:p>
            <a:pPr indent="0" marL="0">
              <a:lnSpc>
                <a:spcPts val="1600"/>
              </a:lnSpc>
              <a:buNone/>
            </a:pPr>
            <a:r>
              <a:rPr lang="en-US" sz="1050" dirty="0">
                <a:solidFill>
                  <a:srgbClr val="EDEDE8"/>
                </a:solidFill>
                <a:latin typeface="Courier New" pitchFamily="34" charset="0"/>
                <a:ea typeface="Courier New" pitchFamily="34" charset="-122"/>
                <a:cs typeface="Courier New" pitchFamily="34" charset="-120"/>
              </a:rPr>
              <a:t>▸ rig</a:t>
            </a:r>
            <a:endParaRPr lang="en-US" sz="1050" dirty="0"/>
          </a:p>
          <a:p>
            <a:pPr indent="0" marL="0">
              <a:lnSpc>
                <a:spcPts val="1600"/>
              </a:lnSpc>
              <a:buNone/>
            </a:pPr>
            <a:r>
              <a:rPr lang="en-US" sz="1050" dirty="0">
                <a:solidFill>
                  <a:srgbClr val="EDEDE8"/>
                </a:solidFill>
                <a:latin typeface="Courier New" pitchFamily="34" charset="0"/>
                <a:ea typeface="Courier New" pitchFamily="34" charset="-122"/>
                <a:cs typeface="Courier New" pitchFamily="34" charset="-120"/>
              </a:rPr>
              <a:t>task:     ログインバグを直して</a:t>
            </a:r>
            <a:endParaRPr lang="en-US" sz="1050" dirty="0"/>
          </a:p>
          <a:p>
            <a:pPr indent="0" marL="0">
              <a:lnSpc>
                <a:spcPts val="1600"/>
              </a:lnSpc>
              <a:buNone/>
            </a:pPr>
            <a:r>
              <a:rPr lang="en-US" sz="1050" dirty="0">
                <a:solidFill>
                  <a:srgbClr val="EDEDE8"/>
                </a:solidFill>
                <a:latin typeface="Courier New" pitchFamily="34" charset="0"/>
                <a:ea typeface="Courier New" pitchFamily="34" charset="-122"/>
                <a:cs typeface="Courier New" pitchFamily="34" charset="-120"/>
              </a:rPr>
              <a:t>detected: bugfix</a:t>
            </a:r>
            <a:endParaRPr lang="en-US" sz="1050" dirty="0"/>
          </a:p>
          <a:p>
            <a:pPr indent="0" marL="0">
              <a:lnSpc>
                <a:spcPts val="1600"/>
              </a:lnSpc>
              <a:buNone/>
            </a:pPr>
            <a:r>
              <a:rPr lang="en-US" sz="1050" dirty="0">
                <a:solidFill>
                  <a:srgbClr val="EDEDE8"/>
                </a:solidFill>
                <a:latin typeface="Courier New" pitchFamily="34" charset="0"/>
                <a:ea typeface="Courier New" pitchFamily="34" charset="-122"/>
                <a:cs typeface="Courier New" pitchFamily="34" charset="-120"/>
              </a:rPr>
              <a:t>recipe:   bugfix — 「バグ」「直して」を検出</a:t>
            </a:r>
            <a:endParaRPr lang="en-US" sz="1050" dirty="0"/>
          </a:p>
          <a:p>
            <a:pPr indent="0" marL="0">
              <a:lnSpc>
                <a:spcPts val="1600"/>
              </a:lnSpc>
              <a:buNone/>
            </a:pPr>
            <a:r>
              <a:rPr lang="en-US" sz="1050" dirty="0">
                <a:solidFill>
                  <a:srgbClr val="EDEDE8"/>
                </a:solidFill>
                <a:latin typeface="Courier New" pitchFamily="34" charset="0"/>
                <a:ea typeface="Courier New" pitchFamily="34" charset="-122"/>
                <a:cs typeface="Courier New" pitchFamily="34" charset="-120"/>
              </a:rPr>
              <a:t>mode:     isolated worktree</a:t>
            </a:r>
            <a:endParaRPr lang="en-US" sz="1050" dirty="0"/>
          </a:p>
          <a:p>
            <a:pPr indent="0" marL="0">
              <a:lnSpc>
                <a:spcPts val="1600"/>
              </a:lnSpc>
              <a:buNone/>
            </a:pPr>
            <a:r>
              <a:rPr lang="en-US" sz="1050" dirty="0">
                <a:solidFill>
                  <a:srgbClr val="EDEDE8"/>
                </a:solidFill>
                <a:latin typeface="Courier New" pitchFamily="34" charset="0"/>
                <a:ea typeface="Courier New" pitchFamily="34" charset="-122"/>
                <a:cs typeface="Courier New" pitchFamily="34" charset="-120"/>
              </a:rPr>
              <a:t>gate:     standard + bugfix</a:t>
            </a:r>
            <a:endParaRPr lang="en-US" sz="1050" dirty="0"/>
          </a:p>
        </p:txBody>
      </p:sp>
      <p:sp>
        <p:nvSpPr>
          <p:cNvPr id="26" name="Text 24"/>
          <p:cNvSpPr txBox="1"/>
          <p:nvPr/>
        </p:nvSpPr>
        <p:spPr>
          <a:xfrm>
            <a:off x="502920" y="5907024"/>
            <a:ext cx="5486400" cy="274320"/>
          </a:xfrm>
          <a:prstGeom prst="rect">
            <a:avLst/>
          </a:prstGeom>
          <a:noFill/>
          <a:ln/>
        </p:spPr>
        <p:txBody>
          <a:bodyPr wrap="square" lIns="0" tIns="0" rIns="0" bIns="0" rtlCol="0" anchor="ctr"/>
          <a:lstStyle/>
          <a:p>
            <a:pPr indent="0" marL="0">
              <a:buNone/>
            </a:pPr>
            <a:r>
              <a:rPr lang="en-US" sz="1000" dirty="0">
                <a:solidFill>
                  <a:srgbClr val="5C6166"/>
                </a:solidFill>
                <a:latin typeface="Calibri" pitchFamily="34" charset="0"/>
                <a:ea typeface="Calibri" pitchFamily="34" charset="-122"/>
                <a:cs typeface="Calibri" pitchFamily="34" charset="-120"/>
              </a:rPr>
              <a:t>manifest も gates.json も persona 設定も要らない（すべて後から足す opt-in）</a:t>
            </a:r>
            <a:endParaRPr lang="en-US" sz="1000" dirty="0"/>
          </a:p>
        </p:txBody>
      </p:sp>
      <p:sp>
        <p:nvSpPr>
          <p:cNvPr id="27" name="Text 25"/>
          <p:cNvSpPr txBox="1"/>
          <p:nvPr/>
        </p:nvSpPr>
        <p:spPr>
          <a:xfrm>
            <a:off x="6355080" y="5907024"/>
            <a:ext cx="5486400" cy="274320"/>
          </a:xfrm>
          <a:prstGeom prst="rect">
            <a:avLst/>
          </a:prstGeom>
          <a:noFill/>
          <a:ln/>
        </p:spPr>
        <p:txBody>
          <a:bodyPr wrap="square" lIns="0" tIns="0" rIns="0" bIns="0" rtlCol="0" anchor="ctr"/>
          <a:lstStyle/>
          <a:p>
            <a:pPr indent="0" marL="0">
              <a:buNone/>
            </a:pPr>
            <a:r>
              <a:rPr lang="en-US" sz="1000" dirty="0">
                <a:solidFill>
                  <a:srgbClr val="5C6166"/>
                </a:solidFill>
                <a:latin typeface="Calibri" pitchFamily="34" charset="0"/>
                <a:ea typeface="Calibri" pitchFamily="34" charset="-122"/>
                <a:cs typeface="Calibri" pitchFamily="34" charset="-120"/>
              </a:rPr>
              <a:t>なぜその段取りになったかを、走り出す前に一行で宣言する</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N° 04</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「安全です」は主張にすぎない — 四本柱</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14</a:t>
            </a:r>
            <a:endParaRPr lang="en-US" sz="900" dirty="0"/>
          </a:p>
        </p:txBody>
      </p:sp>
      <p:sp>
        <p:nvSpPr>
          <p:cNvPr id="6" name="Text 4"/>
          <p:cNvSpPr txBox="1"/>
          <p:nvPr/>
        </p:nvSpPr>
        <p:spPr>
          <a:xfrm>
            <a:off x="502920" y="1280160"/>
            <a:ext cx="10058400" cy="274320"/>
          </a:xfrm>
          <a:prstGeom prst="rect">
            <a:avLst/>
          </a:prstGeom>
          <a:noFill/>
          <a:ln/>
        </p:spPr>
        <p:txBody>
          <a:bodyPr wrap="square" lIns="0" tIns="0" rIns="0" bIns="0" rtlCol="0" anchor="ctr"/>
          <a:lstStyle/>
          <a:p>
            <a:pPr indent="0" marL="0">
              <a:buNone/>
            </a:pPr>
            <a:r>
              <a:rPr lang="en-US" sz="1250" dirty="0">
                <a:solidFill>
                  <a:srgbClr val="1C1C1C"/>
                </a:solidFill>
                <a:latin typeface="Calibri" pitchFamily="34" charset="0"/>
                <a:ea typeface="Calibri" pitchFamily="34" charset="-122"/>
                <a:cs typeface="Calibri" pitchFamily="34" charset="-120"/>
              </a:rPr>
              <a:t>rig が安全なのは、次の四つが文章ではなく配線として入っているから。</a:t>
            </a:r>
            <a:endParaRPr lang="en-US" sz="1250" dirty="0"/>
          </a:p>
        </p:txBody>
      </p:sp>
      <p:sp>
        <p:nvSpPr>
          <p:cNvPr id="7" name="Shape 5"/>
          <p:cNvSpPr/>
          <p:nvPr/>
        </p:nvSpPr>
        <p:spPr>
          <a:xfrm>
            <a:off x="502920" y="1691640"/>
            <a:ext cx="5486400" cy="1874520"/>
          </a:xfrm>
          <a:prstGeom prst="roundRect">
            <a:avLst>
              <a:gd name="adj" fmla="val 2927"/>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8" name="Shape 6"/>
          <p:cNvSpPr/>
          <p:nvPr/>
        </p:nvSpPr>
        <p:spPr>
          <a:xfrm>
            <a:off x="758952" y="1892808"/>
            <a:ext cx="384048" cy="384048"/>
          </a:xfrm>
          <a:prstGeom prst="ellipse">
            <a:avLst/>
          </a:prstGeom>
          <a:solidFill>
            <a:srgbClr val="1F6F5C"/>
          </a:solidFill>
          <a:ln w="12700">
            <a:solidFill>
              <a:srgbClr val="1F6F5C"/>
            </a:solidFill>
            <a:prstDash val="solid"/>
          </a:ln>
        </p:spPr>
      </p:sp>
      <p:sp>
        <p:nvSpPr>
          <p:cNvPr id="9" name="Text 7"/>
          <p:cNvSpPr txBox="1"/>
          <p:nvPr/>
        </p:nvSpPr>
        <p:spPr>
          <a:xfrm>
            <a:off x="758952" y="1892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1289304" y="1911096"/>
            <a:ext cx="4443984"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隔離された worktree</a:t>
            </a:r>
            <a:endParaRPr lang="en-US" sz="1400" dirty="0"/>
          </a:p>
        </p:txBody>
      </p:sp>
      <p:sp>
        <p:nvSpPr>
          <p:cNvPr id="11" name="Text 9"/>
          <p:cNvSpPr txBox="1"/>
          <p:nvPr/>
        </p:nvSpPr>
        <p:spPr>
          <a:xfrm>
            <a:off x="1289304" y="2258568"/>
            <a:ext cx="4443984" cy="1143000"/>
          </a:xfrm>
          <a:prstGeom prst="rect">
            <a:avLst/>
          </a:prstGeom>
          <a:noFill/>
          <a:ln/>
        </p:spPr>
        <p:txBody>
          <a:bodyPr wrap="square" lIns="0" tIns="0" rIns="0" bIns="0" rtlCol="0" anchor="t"/>
          <a:lstStyle/>
          <a:p>
            <a:pPr indent="0" marL="0">
              <a:lnSpc>
                <a:spcPts val="1600"/>
              </a:lnSpc>
              <a:buNone/>
            </a:pPr>
            <a:r>
              <a:rPr lang="en-US" sz="1150" dirty="0">
                <a:solidFill>
                  <a:srgbClr val="5C6166"/>
                </a:solidFill>
                <a:latin typeface="Calibri" pitchFamily="34" charset="0"/>
                <a:ea typeface="Calibri" pitchFamily="34" charset="-122"/>
                <a:cs typeface="Calibri" pitchFamily="34" charset="-120"/>
              </a:rPr>
              <a:t>タスクごとに専用の worktree と使い捨てブランチ。rig はあなたの作業ツリーに直接書き込まない。失敗しても中断しても、手元は汚れない。隔離が task 単位で閉じているので、複数タスクの同時実行が構造的に安全。</a:t>
            </a:r>
            <a:endParaRPr lang="en-US" sz="1150" dirty="0"/>
          </a:p>
        </p:txBody>
      </p:sp>
      <p:sp>
        <p:nvSpPr>
          <p:cNvPr id="12" name="Shape 10"/>
          <p:cNvSpPr/>
          <p:nvPr/>
        </p:nvSpPr>
        <p:spPr>
          <a:xfrm>
            <a:off x="6355080" y="1691640"/>
            <a:ext cx="5486400" cy="1874520"/>
          </a:xfrm>
          <a:prstGeom prst="roundRect">
            <a:avLst>
              <a:gd name="adj" fmla="val 2927"/>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3" name="Shape 11"/>
          <p:cNvSpPr/>
          <p:nvPr/>
        </p:nvSpPr>
        <p:spPr>
          <a:xfrm>
            <a:off x="6611112" y="1892808"/>
            <a:ext cx="384048" cy="384048"/>
          </a:xfrm>
          <a:prstGeom prst="ellipse">
            <a:avLst/>
          </a:prstGeom>
          <a:solidFill>
            <a:srgbClr val="1F6F5C"/>
          </a:solidFill>
          <a:ln w="12700">
            <a:solidFill>
              <a:srgbClr val="1F6F5C"/>
            </a:solidFill>
            <a:prstDash val="solid"/>
          </a:ln>
        </p:spPr>
      </p:sp>
      <p:sp>
        <p:nvSpPr>
          <p:cNvPr id="14" name="Text 12"/>
          <p:cNvSpPr txBox="1"/>
          <p:nvPr/>
        </p:nvSpPr>
        <p:spPr>
          <a:xfrm>
            <a:off x="6611112" y="1892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7141464" y="1911096"/>
            <a:ext cx="4443984"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acceptance-gate</a:t>
            </a:r>
            <a:endParaRPr lang="en-US" sz="1400" dirty="0"/>
          </a:p>
        </p:txBody>
      </p:sp>
      <p:sp>
        <p:nvSpPr>
          <p:cNvPr id="16" name="Text 14"/>
          <p:cNvSpPr txBox="1"/>
          <p:nvPr/>
        </p:nvSpPr>
        <p:spPr>
          <a:xfrm>
            <a:off x="7141464" y="2258568"/>
            <a:ext cx="4443984" cy="1143000"/>
          </a:xfrm>
          <a:prstGeom prst="rect">
            <a:avLst/>
          </a:prstGeom>
          <a:noFill/>
          <a:ln/>
        </p:spPr>
        <p:txBody>
          <a:bodyPr wrap="square" lIns="0" tIns="0" rIns="0" bIns="0" rtlCol="0" anchor="t"/>
          <a:lstStyle/>
          <a:p>
            <a:pPr indent="0" marL="0">
              <a:lnSpc>
                <a:spcPts val="1600"/>
              </a:lnSpc>
              <a:buNone/>
            </a:pPr>
            <a:r>
              <a:rPr lang="en-US" sz="1150" dirty="0">
                <a:solidFill>
                  <a:srgbClr val="5C6166"/>
                </a:solidFill>
                <a:latin typeface="Calibri" pitchFamily="34" charset="0"/>
                <a:ea typeface="Calibri" pitchFamily="34" charset="-122"/>
                <a:cs typeface="Calibri" pitchFamily="34" charset="-120"/>
              </a:rPr>
              <a:t>「完了しました」では完了にならない。無関係な差分・テスト・型・リスク記述・秘密情報を機械的に確認して初めて反映候補になる。failed か pending が一件でも残れば accept は拒否される（exit 1）。</a:t>
            </a:r>
            <a:endParaRPr lang="en-US" sz="1150" dirty="0"/>
          </a:p>
        </p:txBody>
      </p:sp>
      <p:sp>
        <p:nvSpPr>
          <p:cNvPr id="17" name="Shape 15"/>
          <p:cNvSpPr/>
          <p:nvPr/>
        </p:nvSpPr>
        <p:spPr>
          <a:xfrm>
            <a:off x="502920" y="3749040"/>
            <a:ext cx="5486400" cy="1874520"/>
          </a:xfrm>
          <a:prstGeom prst="roundRect">
            <a:avLst>
              <a:gd name="adj" fmla="val 2927"/>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8" name="Shape 16"/>
          <p:cNvSpPr/>
          <p:nvPr/>
        </p:nvSpPr>
        <p:spPr>
          <a:xfrm>
            <a:off x="758952" y="3950208"/>
            <a:ext cx="384048" cy="384048"/>
          </a:xfrm>
          <a:prstGeom prst="ellipse">
            <a:avLst/>
          </a:prstGeom>
          <a:solidFill>
            <a:srgbClr val="1F6F5C"/>
          </a:solidFill>
          <a:ln w="12700">
            <a:solidFill>
              <a:srgbClr val="1F6F5C"/>
            </a:solidFill>
            <a:prstDash val="solid"/>
          </a:ln>
        </p:spPr>
      </p:sp>
      <p:sp>
        <p:nvSpPr>
          <p:cNvPr id="19" name="Text 17"/>
          <p:cNvSpPr txBox="1"/>
          <p:nvPr/>
        </p:nvSpPr>
        <p:spPr>
          <a:xfrm>
            <a:off x="758952" y="3950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1289304" y="3968496"/>
            <a:ext cx="4443984"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read-only な検証役</a:t>
            </a:r>
            <a:endParaRPr lang="en-US" sz="1400" dirty="0"/>
          </a:p>
        </p:txBody>
      </p:sp>
      <p:sp>
        <p:nvSpPr>
          <p:cNvPr id="21" name="Text 19"/>
          <p:cNvSpPr txBox="1"/>
          <p:nvPr/>
        </p:nvSpPr>
        <p:spPr>
          <a:xfrm>
            <a:off x="1289304" y="4315968"/>
            <a:ext cx="4443984" cy="1143000"/>
          </a:xfrm>
          <a:prstGeom prst="rect">
            <a:avLst/>
          </a:prstGeom>
          <a:noFill/>
          <a:ln/>
        </p:spPr>
        <p:txBody>
          <a:bodyPr wrap="square" lIns="0" tIns="0" rIns="0" bIns="0" rtlCol="0" anchor="t"/>
          <a:lstStyle/>
          <a:p>
            <a:pPr indent="0" marL="0">
              <a:lnSpc>
                <a:spcPts val="1600"/>
              </a:lnSpc>
              <a:buNone/>
            </a:pPr>
            <a:r>
              <a:rPr lang="en-US" sz="1150" dirty="0">
                <a:solidFill>
                  <a:srgbClr val="5C6166"/>
                </a:solidFill>
                <a:latin typeface="Calibri" pitchFamily="34" charset="0"/>
                <a:ea typeface="Calibri" pitchFamily="34" charset="-122"/>
                <a:cs typeface="Calibri" pitchFamily="34" charset="-120"/>
              </a:rPr>
              <a:t>実装する AI と検証する AI を分離し、検証側はプロセスレベルで読み取り専用に固定する。お願いではなく強制として。判定の一次証拠は自己申告レポートではなく、worktree の実際の git diff。</a:t>
            </a:r>
            <a:endParaRPr lang="en-US" sz="1150" dirty="0"/>
          </a:p>
        </p:txBody>
      </p:sp>
      <p:sp>
        <p:nvSpPr>
          <p:cNvPr id="22" name="Shape 20"/>
          <p:cNvSpPr/>
          <p:nvPr/>
        </p:nvSpPr>
        <p:spPr>
          <a:xfrm>
            <a:off x="6355080" y="3749040"/>
            <a:ext cx="5486400" cy="1874520"/>
          </a:xfrm>
          <a:prstGeom prst="roundRect">
            <a:avLst>
              <a:gd name="adj" fmla="val 2927"/>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23" name="Shape 21"/>
          <p:cNvSpPr/>
          <p:nvPr/>
        </p:nvSpPr>
        <p:spPr>
          <a:xfrm>
            <a:off x="6611112" y="3950208"/>
            <a:ext cx="384048" cy="384048"/>
          </a:xfrm>
          <a:prstGeom prst="ellipse">
            <a:avLst/>
          </a:prstGeom>
          <a:solidFill>
            <a:srgbClr val="1F6F5C"/>
          </a:solidFill>
          <a:ln w="12700">
            <a:solidFill>
              <a:srgbClr val="1F6F5C"/>
            </a:solidFill>
            <a:prstDash val="solid"/>
          </a:ln>
        </p:spPr>
      </p:sp>
      <p:sp>
        <p:nvSpPr>
          <p:cNvPr id="24" name="Text 22"/>
          <p:cNvSpPr txBox="1"/>
          <p:nvPr/>
        </p:nvSpPr>
        <p:spPr>
          <a:xfrm>
            <a:off x="6611112" y="3950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7141464" y="3968496"/>
            <a:ext cx="4443984"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明示的な accept と、消えない記録</a:t>
            </a:r>
            <a:endParaRPr lang="en-US" sz="1400" dirty="0"/>
          </a:p>
        </p:txBody>
      </p:sp>
      <p:sp>
        <p:nvSpPr>
          <p:cNvPr id="26" name="Text 24"/>
          <p:cNvSpPr txBox="1"/>
          <p:nvPr/>
        </p:nvSpPr>
        <p:spPr>
          <a:xfrm>
            <a:off x="7141464" y="4315968"/>
            <a:ext cx="4443984" cy="1143000"/>
          </a:xfrm>
          <a:prstGeom prst="rect">
            <a:avLst/>
          </a:prstGeom>
          <a:noFill/>
          <a:ln/>
        </p:spPr>
        <p:txBody>
          <a:bodyPr wrap="square" lIns="0" tIns="0" rIns="0" bIns="0" rtlCol="0" anchor="t"/>
          <a:lstStyle/>
          <a:p>
            <a:pPr indent="0" marL="0">
              <a:lnSpc>
                <a:spcPts val="1600"/>
              </a:lnSpc>
              <a:buNone/>
            </a:pPr>
            <a:r>
              <a:rPr lang="en-US" sz="1150" dirty="0">
                <a:solidFill>
                  <a:srgbClr val="5C6166"/>
                </a:solidFill>
                <a:latin typeface="Calibri" pitchFamily="34" charset="0"/>
                <a:ea typeface="Calibri" pitchFamily="34" charset="-122"/>
                <a:cs typeface="Calibri" pitchFamily="34" charset="-120"/>
              </a:rPr>
              <a:t>accept は squash merge で staged（未コミット）まで。コミットは常に人間が打つ。discard しても run log は残り、何を試みてなぜ捨てたかを辿れる。構造的な前提は --force でも通らない。</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N° 05</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柱 ① 隔離された worktree</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15</a:t>
            </a:r>
            <a:endParaRPr lang="en-US" sz="900" dirty="0"/>
          </a:p>
        </p:txBody>
      </p:sp>
      <p:sp>
        <p:nvSpPr>
          <p:cNvPr id="6" name="Text 4"/>
          <p:cNvSpPr txBox="1"/>
          <p:nvPr/>
        </p:nvSpPr>
        <p:spPr>
          <a:xfrm>
            <a:off x="502920" y="1325880"/>
            <a:ext cx="5394960" cy="2103120"/>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250" dirty="0">
                <a:solidFill>
                  <a:srgbClr val="1C1C1C"/>
                </a:solidFill>
                <a:latin typeface="Calibri" pitchFamily="34" charset="0"/>
                <a:ea typeface="Calibri" pitchFamily="34" charset="-122"/>
                <a:cs typeface="Calibri" pitchFamily="34" charset="-120"/>
              </a:rPr>
              <a:t>タスクごとに専用の git worktree ＋ 使い捨てブランチを作る</a:t>
            </a:r>
            <a:endParaRPr lang="en-US" sz="1250" dirty="0"/>
          </a:p>
          <a:p>
            <a:pPr marL="342900" indent="-342900">
              <a:lnSpc>
                <a:spcPts val="1700"/>
              </a:lnSpc>
              <a:spcAft>
                <a:spcPts val="700"/>
              </a:spcAft>
              <a:buSzPct val="100000"/>
              <a:buChar char="•"/>
            </a:pPr>
            <a:r>
              <a:rPr lang="en-US" sz="1250" dirty="0">
                <a:solidFill>
                  <a:srgbClr val="1C1C1C"/>
                </a:solidFill>
                <a:latin typeface="Calibri" pitchFamily="34" charset="0"/>
                <a:ea typeface="Calibri" pitchFamily="34" charset="-122"/>
                <a:cs typeface="Calibri" pitchFamily="34" charset="-120"/>
              </a:rPr>
              <a:t>読み取り専用のタスク（レビュー・調査）は --no-worktree で worktree ごと省略できる</a:t>
            </a:r>
            <a:endParaRPr lang="en-US" sz="1250" dirty="0"/>
          </a:p>
          <a:p>
            <a:pPr marL="342900" indent="-342900">
              <a:lnSpc>
                <a:spcPts val="1700"/>
              </a:lnSpc>
              <a:spcAft>
                <a:spcPts val="700"/>
              </a:spcAft>
              <a:buSzPct val="100000"/>
              <a:buChar char="•"/>
            </a:pPr>
            <a:r>
              <a:rPr lang="en-US" sz="1250" dirty="0">
                <a:solidFill>
                  <a:srgbClr val="1C1C1C"/>
                </a:solidFill>
                <a:latin typeface="Calibri" pitchFamily="34" charset="0"/>
                <a:ea typeface="Calibri" pitchFamily="34" charset="-122"/>
                <a:cs typeface="Calibri" pitchFamily="34" charset="-120"/>
              </a:rPr>
              <a:t>discard は worktree と branch を消すが、run log（.rig/runs/）は残る</a:t>
            </a:r>
            <a:endParaRPr lang="en-US" sz="1250" dirty="0"/>
          </a:p>
          <a:p>
            <a:pPr marL="342900" indent="-342900">
              <a:lnSpc>
                <a:spcPts val="1700"/>
              </a:lnSpc>
              <a:spcAft>
                <a:spcPts val="700"/>
              </a:spcAft>
              <a:buSzPct val="100000"/>
              <a:buChar char="•"/>
            </a:pPr>
            <a:r>
              <a:rPr lang="en-US" sz="1250" dirty="0">
                <a:solidFill>
                  <a:srgbClr val="1C1C1C"/>
                </a:solidFill>
                <a:latin typeface="Calibri" pitchFamily="34" charset="0"/>
                <a:ea typeface="Calibri" pitchFamily="34" charset="-122"/>
                <a:cs typeface="Calibri" pitchFamily="34" charset="-120"/>
              </a:rPr>
              <a:t>並列実行しても別 worktree・別 branch なので、プロセス同士がファイルを取り合わない</a:t>
            </a:r>
            <a:endParaRPr lang="en-US" sz="1250" dirty="0"/>
          </a:p>
        </p:txBody>
      </p:sp>
      <p:sp>
        <p:nvSpPr>
          <p:cNvPr id="7" name="Shape 5"/>
          <p:cNvSpPr/>
          <p:nvPr/>
        </p:nvSpPr>
        <p:spPr>
          <a:xfrm>
            <a:off x="6172200" y="1325880"/>
            <a:ext cx="5669280" cy="2331720"/>
          </a:xfrm>
          <a:prstGeom prst="roundRect">
            <a:avLst>
              <a:gd name="adj" fmla="val 1961"/>
            </a:avLst>
          </a:prstGeom>
          <a:solidFill>
            <a:srgbClr val="1C1C1C"/>
          </a:solidFill>
          <a:ln w="12700">
            <a:solidFill>
              <a:srgbClr val="1C1C1C"/>
            </a:solidFill>
            <a:prstDash val="solid"/>
          </a:ln>
          <a:effectLst>
            <a:outerShdw sx="100000" sy="100000" kx="0" ky="0" algn="bl" rotWithShape="0" blurRad="101600" dist="12700" dir="5400000">
              <a:srgbClr val="000000">
                <a:alpha val="10000"/>
              </a:srgbClr>
            </a:outerShdw>
          </a:effectLst>
        </p:spPr>
      </p:sp>
      <p:sp>
        <p:nvSpPr>
          <p:cNvPr id="8" name="Text 6"/>
          <p:cNvSpPr txBox="1"/>
          <p:nvPr/>
        </p:nvSpPr>
        <p:spPr>
          <a:xfrm>
            <a:off x="6373368" y="1472184"/>
            <a:ext cx="5266944" cy="2039112"/>
          </a:xfrm>
          <a:prstGeom prst="rect">
            <a:avLst/>
          </a:prstGeom>
          <a:noFill/>
          <a:ln/>
        </p:spPr>
        <p:txBody>
          <a:bodyPr wrap="square" lIns="0" tIns="0" rIns="0" bIns="0" rtlCol="0" anchor="t"/>
          <a:lstStyle/>
          <a:p>
            <a:pPr indent="0" marL="0">
              <a:lnSpc>
                <a:spcPts val="1400"/>
              </a:lnSpc>
              <a:buNone/>
            </a:pPr>
            <a:r>
              <a:rPr lang="en-US" sz="1000" dirty="0">
                <a:solidFill>
                  <a:srgbClr val="EDEDE8"/>
                </a:solidFill>
                <a:latin typeface="Courier New" pitchFamily="34" charset="0"/>
                <a:ea typeface="Courier New" pitchFamily="34" charset="-122"/>
                <a:cs typeface="Courier New" pitchFamily="34" charset="-120"/>
              </a:rPr>
              <a:t>&lt;repoの親&gt;/rig-worktrees/&lt;repo名&gt;/</a:t>
            </a:r>
            <a:endParaRPr lang="en-US" sz="1000" dirty="0"/>
          </a:p>
          <a:p>
            <a:pPr indent="0" marL="0">
              <a:lnSpc>
                <a:spcPts val="1400"/>
              </a:lnSpc>
              <a:buNone/>
            </a:pPr>
            <a:r>
              <a:rPr lang="en-US" sz="1000" dirty="0">
                <a:solidFill>
                  <a:srgbClr val="EDEDE8"/>
                </a:solidFill>
                <a:latin typeface="Courier New" pitchFamily="34" charset="0"/>
                <a:ea typeface="Courier New" pitchFamily="34" charset="-122"/>
                <a:cs typeface="Courier New" pitchFamily="34" charset="-120"/>
              </a:rPr>
              <a:t>    rig-20260704-153012-login-fix/   ← 使い捨て</a:t>
            </a:r>
            <a:endParaRPr lang="en-US" sz="1000" dirty="0"/>
          </a:p>
          <a:p>
            <a:pPr indent="0" marL="0">
              <a:lnSpc>
                <a:spcPts val="1400"/>
              </a:lnSpc>
              <a:buNone/>
            </a:pPr>
            <a:endParaRPr lang="en-US" sz="1000" dirty="0"/>
          </a:p>
          <a:p>
            <a:pPr indent="0" marL="0">
              <a:lnSpc>
                <a:spcPts val="1400"/>
              </a:lnSpc>
              <a:buNone/>
            </a:pPr>
            <a:r>
              <a:rPr lang="en-US" sz="1000" dirty="0">
                <a:solidFill>
                  <a:srgbClr val="EDEDE8"/>
                </a:solidFill>
                <a:latin typeface="Courier New" pitchFamily="34" charset="0"/>
                <a:ea typeface="Courier New" pitchFamily="34" charset="-122"/>
                <a:cs typeface="Courier New" pitchFamily="34" charset="-120"/>
              </a:rPr>
              <a:t>&lt;repo&gt;/.rig/runs/rig-20260704-153012-login-fix/</a:t>
            </a:r>
            <a:endParaRPr lang="en-US" sz="1000" dirty="0"/>
          </a:p>
          <a:p>
            <a:pPr indent="0" marL="0">
              <a:lnSpc>
                <a:spcPts val="1400"/>
              </a:lnSpc>
              <a:buNone/>
            </a:pPr>
            <a:r>
              <a:rPr lang="en-US" sz="1000" dirty="0">
                <a:solidFill>
                  <a:srgbClr val="EDEDE8"/>
                </a:solidFill>
                <a:latin typeface="Courier New" pitchFamily="34" charset="0"/>
                <a:ea typeface="Courier New" pitchFamily="34" charset="-122"/>
                <a:cs typeface="Courier New" pitchFamily="34" charset="-120"/>
              </a:rPr>
              <a:t>    task.json        入力 / recipe / base branch</a:t>
            </a:r>
            <a:endParaRPr lang="en-US" sz="1000" dirty="0"/>
          </a:p>
          <a:p>
            <a:pPr indent="0" marL="0">
              <a:lnSpc>
                <a:spcPts val="1400"/>
              </a:lnSpc>
              <a:buNone/>
            </a:pPr>
            <a:r>
              <a:rPr lang="en-US" sz="1000" dirty="0">
                <a:solidFill>
                  <a:srgbClr val="EDEDE8"/>
                </a:solidFill>
                <a:latin typeface="Courier New" pitchFamily="34" charset="0"/>
                <a:ea typeface="Courier New" pitchFamily="34" charset="-122"/>
                <a:cs typeface="Courier New" pitchFamily="34" charset="-120"/>
              </a:rPr>
              <a:t>    steps.json       step ごとの進行状態</a:t>
            </a:r>
            <a:endParaRPr lang="en-US" sz="1000" dirty="0"/>
          </a:p>
          <a:p>
            <a:pPr indent="0" marL="0">
              <a:lnSpc>
                <a:spcPts val="1400"/>
              </a:lnSpc>
              <a:buNone/>
            </a:pPr>
            <a:r>
              <a:rPr lang="en-US" sz="1000" dirty="0">
                <a:solidFill>
                  <a:srgbClr val="EDEDE8"/>
                </a:solidFill>
                <a:latin typeface="Courier New" pitchFamily="34" charset="0"/>
                <a:ea typeface="Courier New" pitchFamily="34" charset="-122"/>
                <a:cs typeface="Courier New" pitchFamily="34" charset="-120"/>
              </a:rPr>
              <a:t>    acceptance.json  基準ごとの合否と根拠</a:t>
            </a:r>
            <a:endParaRPr lang="en-US" sz="1000" dirty="0"/>
          </a:p>
          <a:p>
            <a:pPr indent="0" marL="0">
              <a:lnSpc>
                <a:spcPts val="1400"/>
              </a:lnSpc>
              <a:buNone/>
            </a:pPr>
            <a:r>
              <a:rPr lang="en-US" sz="1000" dirty="0">
                <a:solidFill>
                  <a:srgbClr val="EDEDE8"/>
                </a:solidFill>
                <a:latin typeface="Courier New" pitchFamily="34" charset="0"/>
                <a:ea typeface="Courier New" pitchFamily="34" charset="-122"/>
                <a:cs typeface="Courier New" pitchFamily="34" charset="-120"/>
              </a:rPr>
              <a:t>    diff.md          Summary / Risk / Tests</a:t>
            </a:r>
            <a:endParaRPr lang="en-US" sz="1000" dirty="0"/>
          </a:p>
        </p:txBody>
      </p:sp>
      <p:sp>
        <p:nvSpPr>
          <p:cNvPr id="9" name="Text 7"/>
          <p:cNvSpPr txBox="1"/>
          <p:nvPr/>
        </p:nvSpPr>
        <p:spPr>
          <a:xfrm>
            <a:off x="502920" y="3794760"/>
            <a:ext cx="7315200" cy="256032"/>
          </a:xfrm>
          <a:prstGeom prst="rect">
            <a:avLst/>
          </a:prstGeom>
          <a:noFill/>
          <a:ln/>
        </p:spPr>
        <p:txBody>
          <a:bodyPr wrap="square" lIns="0" tIns="0" rIns="0" bIns="0" rtlCol="0" anchor="ctr"/>
          <a:lstStyle/>
          <a:p>
            <a:pPr indent="0" marL="0">
              <a:buNone/>
            </a:pPr>
            <a:r>
              <a:rPr lang="en-US" sz="1200" b="1" spc="50" kern="0" dirty="0">
                <a:solidFill>
                  <a:srgbClr val="1F6F5C"/>
                </a:solidFill>
                <a:latin typeface="Arial" pitchFamily="34" charset="0"/>
                <a:ea typeface="Arial" pitchFamily="34" charset="-122"/>
                <a:cs typeface="Arial" pitchFamily="34" charset="-120"/>
              </a:rPr>
              <a:t>複数タスクを同時に走らせる</a:t>
            </a:r>
            <a:endParaRPr lang="en-US" sz="1200" dirty="0"/>
          </a:p>
        </p:txBody>
      </p:sp>
      <p:sp>
        <p:nvSpPr>
          <p:cNvPr id="10" name="Shape 8"/>
          <p:cNvSpPr/>
          <p:nvPr/>
        </p:nvSpPr>
        <p:spPr>
          <a:xfrm>
            <a:off x="502920" y="4114800"/>
            <a:ext cx="6309360" cy="1463040"/>
          </a:xfrm>
          <a:prstGeom prst="roundRect">
            <a:avLst>
              <a:gd name="adj" fmla="val 3125"/>
            </a:avLst>
          </a:prstGeom>
          <a:solidFill>
            <a:srgbClr val="1C1C1C"/>
          </a:solidFill>
          <a:ln w="12700">
            <a:solidFill>
              <a:srgbClr val="1C1C1C"/>
            </a:solidFill>
            <a:prstDash val="solid"/>
          </a:ln>
          <a:effectLst>
            <a:outerShdw sx="100000" sy="100000" kx="0" ky="0" algn="bl" rotWithShape="0" blurRad="101600" dist="12700" dir="5400000">
              <a:srgbClr val="000000">
                <a:alpha val="10000"/>
              </a:srgbClr>
            </a:outerShdw>
          </a:effectLst>
        </p:spPr>
      </p:sp>
      <p:sp>
        <p:nvSpPr>
          <p:cNvPr id="11" name="Text 9"/>
          <p:cNvSpPr txBox="1"/>
          <p:nvPr/>
        </p:nvSpPr>
        <p:spPr>
          <a:xfrm>
            <a:off x="704088" y="4261104"/>
            <a:ext cx="5907024" cy="1170432"/>
          </a:xfrm>
          <a:prstGeom prst="rect">
            <a:avLst/>
          </a:prstGeom>
          <a:noFill/>
          <a:ln/>
        </p:spPr>
        <p:txBody>
          <a:bodyPr wrap="square" lIns="0" tIns="0" rIns="0" bIns="0" rtlCol="0" anchor="t"/>
          <a:lstStyle/>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/rig:queue add "ログイン画面のバグを直して"</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/rig:queue add "在庫一覧に検索機能を追加して"</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/rig:queue go --provider rig --max-parallel 3</a:t>
            </a:r>
            <a:endParaRPr lang="en-US" sz="1000" dirty="0"/>
          </a:p>
        </p:txBody>
      </p:sp>
      <p:sp>
        <p:nvSpPr>
          <p:cNvPr id="12" name="Shape 10"/>
          <p:cNvSpPr/>
          <p:nvPr/>
        </p:nvSpPr>
        <p:spPr>
          <a:xfrm>
            <a:off x="7086600" y="4114800"/>
            <a:ext cx="4754880" cy="1463040"/>
          </a:xfrm>
          <a:prstGeom prst="roundRect">
            <a:avLst>
              <a:gd name="adj" fmla="val 3750"/>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3" name="Text 11"/>
          <p:cNvSpPr txBox="1"/>
          <p:nvPr/>
        </p:nvSpPr>
        <p:spPr>
          <a:xfrm>
            <a:off x="7342632" y="4297680"/>
            <a:ext cx="424281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queue は accept しない</a:t>
            </a:r>
            <a:endParaRPr lang="en-US" sz="1400" dirty="0"/>
          </a:p>
        </p:txBody>
      </p:sp>
      <p:sp>
        <p:nvSpPr>
          <p:cNvPr id="14" name="Text 12"/>
          <p:cNvSpPr txBox="1"/>
          <p:nvPr/>
        </p:nvSpPr>
        <p:spPr>
          <a:xfrm>
            <a:off x="7342632" y="4681728"/>
            <a:ext cx="4242816" cy="731520"/>
          </a:xfrm>
          <a:prstGeom prst="rect">
            <a:avLst/>
          </a:prstGeom>
          <a:noFill/>
          <a:ln/>
        </p:spPr>
        <p:txBody>
          <a:bodyPr wrap="square" lIns="0" tIns="0" rIns="0" bIns="0" rtlCol="0" anchor="t"/>
          <a:lstStyle/>
          <a:p>
            <a:pPr indent="0" marL="0">
              <a:lnSpc>
                <a:spcPts val="1600"/>
              </a:lnSpc>
              <a:buNone/>
            </a:pPr>
            <a:r>
              <a:rPr lang="en-US" sz="1150" dirty="0">
                <a:solidFill>
                  <a:srgbClr val="5C6166"/>
                </a:solidFill>
                <a:latin typeface="Calibri" pitchFamily="34" charset="0"/>
                <a:ea typeface="Calibri" pitchFamily="34" charset="-122"/>
                <a:cs typeface="Calibri" pitchFamily="34" charset="-120"/>
              </a:rPr>
              <a:t>queue の verifier が見るのは「gate が確定したか」「worktree 内で完結し本体に書いていないか」だけ。反映の判断は人間に残る。完了後の確認場所は /rig:go board。</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N° 06</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柱 ② acceptance-gate — standard ＋ 種別プリセット</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16</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7589520" cy="914400"/>
        </p:xfrm>
        <a:graphic>
          <a:graphicData uri="http://schemas.openxmlformats.org/drawingml/2006/table">
            <a:tbl>
              <a:tblPr/>
              <a:tblGrid>
                <a:gridCol w="1234440"/>
                <a:gridCol w="6355080"/>
              </a:tblGrid>
              <a:tr h="566928">
                <a:tc>
                  <a:txBody>
                    <a:bodyPr/>
                    <a:lstStyle/>
                    <a:p>
                      <a:pPr indent="0" marL="0">
                        <a:buNone/>
                      </a:pPr>
                      <a:r>
                        <a:rPr lang="en-US" sz="1050" b="1" dirty="0">
                          <a:solidFill>
                            <a:srgbClr val="FFFFFF"/>
                          </a:solidFill>
                          <a:latin typeface="Arial" pitchFamily="34" charset="0"/>
                          <a:ea typeface="Arial" pitchFamily="34" charset="-122"/>
                          <a:cs typeface="Arial" pitchFamily="34" charset="-120"/>
                        </a:rPr>
                        <a:t>preset</a:t>
                      </a:r>
                      <a:endParaRPr lang="en-US" sz="1050" dirty="0">
                        <a:latin typeface="Arial" charset="0"/>
                        <a:ea typeface="Arial" charset="0"/>
                        <a:cs typeface="Arial"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1C1C1C"/>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基準の例</a:t>
                      </a:r>
                      <a:endParaRPr lang="en-US" sz="1050" dirty="0">
                        <a:latin typeface="Arial" charset="0"/>
                        <a:ea typeface="Arial" charset="0"/>
                        <a:cs typeface="Arial"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1C1C1C"/>
                    </a:solidFill>
                  </a:tcPr>
                </a:tc>
              </a:tr>
              <a:tr h="566928">
                <a:tc>
                  <a:txBody>
                    <a:bodyPr/>
                    <a:lstStyle/>
                    <a:p>
                      <a:pPr indent="0" marL="0">
                        <a:buNone/>
                      </a:pPr>
                      <a:r>
                        <a:rPr lang="en-US" sz="950" b="1" dirty="0">
                          <a:solidFill>
                            <a:srgbClr val="1C1C1C"/>
                          </a:solidFill>
                          <a:latin typeface="Courier New" pitchFamily="34" charset="0"/>
                          <a:ea typeface="Courier New" pitchFamily="34" charset="-122"/>
                          <a:cs typeface="Courier New" pitchFamily="34" charset="-120"/>
                        </a:rPr>
                        <a:t>standard</a:t>
                      </a:r>
                      <a:endParaRPr lang="en-US" sz="950" dirty="0">
                        <a:latin typeface="Courier New" charset="0"/>
                        <a:ea typeface="Courier New" charset="0"/>
                        <a:cs typeface="Courier New"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950" dirty="0">
                          <a:solidFill>
                            <a:srgbClr val="5C6166"/>
                          </a:solidFill>
                          <a:latin typeface="Calibri" pitchFamily="34" charset="0"/>
                          <a:ea typeface="Calibri" pitchFamily="34" charset="-122"/>
                          <a:cs typeface="Calibri" pitchFamily="34" charset="-120"/>
                        </a:rPr>
                        <a:t>task_intent_satisfied / no_unrelated_diff / diff_summary_written / risk_summary_written /</a:t>
                      </a:r>
                      <a:endParaRPr lang="en-US" sz="950" dirty="0">
                        <a:latin typeface="Calibri" charset="0"/>
                        <a:ea typeface="Calibri" charset="0"/>
                        <a:cs typeface="Calibri" charset="0"/>
                      </a:endParaRPr>
                    </a:p>
                    <a:p>
                      <a:pPr indent="0" marL="0">
                        <a:buNone/>
                      </a:pPr>
                      <a:r>
                        <a:rPr lang="en-US" sz="950" dirty="0">
                          <a:solidFill>
                            <a:srgbClr val="5C6166"/>
                          </a:solidFill>
                          <a:latin typeface="Calibri" pitchFamily="34" charset="0"/>
                          <a:ea typeface="Calibri" pitchFamily="34" charset="-122"/>
                          <a:cs typeface="Calibri" pitchFamily="34" charset="-120"/>
                        </a:rPr>
                        <a:t>tests_pass_or_explained / no_secret_leak / no_gate_tampering / no_injection_markers</a:t>
                      </a:r>
                      <a:endParaRPr lang="en-US" sz="9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r>
              <a:tr h="566928">
                <a:tc>
                  <a:txBody>
                    <a:bodyPr/>
                    <a:lstStyle/>
                    <a:p>
                      <a:pPr indent="0" marL="0">
                        <a:buNone/>
                      </a:pPr>
                      <a:r>
                        <a:rPr lang="en-US" sz="950" b="1" dirty="0">
                          <a:solidFill>
                            <a:srgbClr val="1C1C1C"/>
                          </a:solidFill>
                          <a:latin typeface="Courier New" pitchFamily="34" charset="0"/>
                          <a:ea typeface="Courier New" pitchFamily="34" charset="-122"/>
                          <a:cs typeface="Courier New" pitchFamily="34" charset="-120"/>
                        </a:rPr>
                        <a:t>bugfix</a:t>
                      </a:r>
                      <a:endParaRPr lang="en-US" sz="950" dirty="0">
                        <a:latin typeface="Courier New" charset="0"/>
                        <a:ea typeface="Courier New" charset="0"/>
                        <a:cs typeface="Courier New"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950" dirty="0">
                          <a:solidFill>
                            <a:srgbClr val="5C6166"/>
                          </a:solidFill>
                          <a:latin typeface="Calibri" pitchFamily="34" charset="0"/>
                          <a:ea typeface="Calibri" pitchFamily="34" charset="-122"/>
                          <a:cs typeface="Calibri" pitchFamily="34" charset="-120"/>
                        </a:rPr>
                        <a:t>bug_cause_identified / fix_is_minimal / regression_test_added_or_explained /</a:t>
                      </a:r>
                      <a:endParaRPr lang="en-US" sz="950" dirty="0">
                        <a:latin typeface="Calibri" charset="0"/>
                        <a:ea typeface="Calibri" charset="0"/>
                        <a:cs typeface="Calibri" charset="0"/>
                      </a:endParaRPr>
                    </a:p>
                    <a:p>
                      <a:pPr indent="0" marL="0">
                        <a:buNone/>
                      </a:pPr>
                      <a:r>
                        <a:rPr lang="en-US" sz="950" dirty="0">
                          <a:solidFill>
                            <a:srgbClr val="5C6166"/>
                          </a:solidFill>
                          <a:latin typeface="Calibri" pitchFamily="34" charset="0"/>
                          <a:ea typeface="Calibri" pitchFamily="34" charset="-122"/>
                          <a:cs typeface="Calibri" pitchFamily="34" charset="-120"/>
                        </a:rPr>
                        <a:t>existing_behavior_preserved / no_unrelated_refactor</a:t>
                      </a:r>
                      <a:endParaRPr lang="en-US" sz="9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C1C1C"/>
                          </a:solidFill>
                          <a:latin typeface="Courier New" pitchFamily="34" charset="0"/>
                          <a:ea typeface="Courier New" pitchFamily="34" charset="-122"/>
                          <a:cs typeface="Courier New" pitchFamily="34" charset="-120"/>
                        </a:rPr>
                        <a:t>feature</a:t>
                      </a:r>
                      <a:endParaRPr lang="en-US" sz="950" dirty="0">
                        <a:latin typeface="Courier New" charset="0"/>
                        <a:ea typeface="Courier New" charset="0"/>
                        <a:cs typeface="Courier New"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950" dirty="0">
                          <a:solidFill>
                            <a:srgbClr val="5C6166"/>
                          </a:solidFill>
                          <a:latin typeface="Calibri" pitchFamily="34" charset="0"/>
                          <a:ea typeface="Calibri" pitchFamily="34" charset="-122"/>
                          <a:cs typeface="Calibri" pitchFamily="34" charset="-120"/>
                        </a:rPr>
                        <a:t>requirement_summary_written / implementation_matches_requirement /</a:t>
                      </a:r>
                      <a:endParaRPr lang="en-US" sz="950" dirty="0">
                        <a:latin typeface="Calibri" charset="0"/>
                        <a:ea typeface="Calibri" charset="0"/>
                        <a:cs typeface="Calibri" charset="0"/>
                      </a:endParaRPr>
                    </a:p>
                    <a:p>
                      <a:pPr indent="0" marL="0">
                        <a:buNone/>
                      </a:pPr>
                      <a:r>
                        <a:rPr lang="en-US" sz="950" dirty="0">
                          <a:solidFill>
                            <a:srgbClr val="5C6166"/>
                          </a:solidFill>
                          <a:latin typeface="Calibri" pitchFamily="34" charset="0"/>
                          <a:ea typeface="Calibri" pitchFamily="34" charset="-122"/>
                          <a:cs typeface="Calibri" pitchFamily="34" charset="-120"/>
                        </a:rPr>
                        <a:t>tests_added_or_explained / public_api_changes_documented</a:t>
                      </a:r>
                      <a:endParaRPr lang="en-US" sz="9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r>
              <a:tr h="566928">
                <a:tc>
                  <a:txBody>
                    <a:bodyPr/>
                    <a:lstStyle/>
                    <a:p>
                      <a:pPr indent="0" marL="0">
                        <a:buNone/>
                      </a:pPr>
                      <a:r>
                        <a:rPr lang="en-US" sz="950" b="1" dirty="0">
                          <a:solidFill>
                            <a:srgbClr val="1C1C1C"/>
                          </a:solidFill>
                          <a:latin typeface="Courier New" pitchFamily="34" charset="0"/>
                          <a:ea typeface="Courier New" pitchFamily="34" charset="-122"/>
                          <a:cs typeface="Courier New" pitchFamily="34" charset="-120"/>
                        </a:rPr>
                        <a:t>refactor</a:t>
                      </a:r>
                      <a:endParaRPr lang="en-US" sz="950" dirty="0">
                        <a:latin typeface="Courier New" charset="0"/>
                        <a:ea typeface="Courier New" charset="0"/>
                        <a:cs typeface="Courier New"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950" dirty="0">
                          <a:solidFill>
                            <a:srgbClr val="5C6166"/>
                          </a:solidFill>
                          <a:latin typeface="Calibri" pitchFamily="34" charset="0"/>
                          <a:ea typeface="Calibri" pitchFamily="34" charset="-122"/>
                          <a:cs typeface="Calibri" pitchFamily="34" charset="-120"/>
                        </a:rPr>
                        <a:t>behavior_boundaries_identified / no_unintended_behavior_change /</a:t>
                      </a:r>
                      <a:endParaRPr lang="en-US" sz="950" dirty="0">
                        <a:latin typeface="Calibri" charset="0"/>
                        <a:ea typeface="Calibri" charset="0"/>
                        <a:cs typeface="Calibri" charset="0"/>
                      </a:endParaRPr>
                    </a:p>
                    <a:p>
                      <a:pPr indent="0" marL="0">
                        <a:buNone/>
                      </a:pPr>
                      <a:r>
                        <a:rPr lang="en-US" sz="950" dirty="0">
                          <a:solidFill>
                            <a:srgbClr val="5C6166"/>
                          </a:solidFill>
                          <a:latin typeface="Calibri" pitchFamily="34" charset="0"/>
                          <a:ea typeface="Calibri" pitchFamily="34" charset="-122"/>
                          <a:cs typeface="Calibri" pitchFamily="34" charset="-120"/>
                        </a:rPr>
                        <a:t>tests_confirm_behavior_preserved</a:t>
                      </a:r>
                      <a:endParaRPr lang="en-US" sz="9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C1C1C"/>
                          </a:solidFill>
                          <a:latin typeface="Courier New" pitchFamily="34" charset="0"/>
                          <a:ea typeface="Courier New" pitchFamily="34" charset="-122"/>
                          <a:cs typeface="Courier New" pitchFamily="34" charset="-120"/>
                        </a:rPr>
                        <a:t>review</a:t>
                      </a:r>
                      <a:endParaRPr lang="en-US" sz="950" dirty="0">
                        <a:latin typeface="Courier New" charset="0"/>
                        <a:ea typeface="Courier New" charset="0"/>
                        <a:cs typeface="Courier New"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950" dirty="0">
                          <a:solidFill>
                            <a:srgbClr val="5C6166"/>
                          </a:solidFill>
                          <a:latin typeface="Calibri" pitchFamily="34" charset="0"/>
                          <a:ea typeface="Calibri" pitchFamily="34" charset="-122"/>
                          <a:cs typeface="Calibri" pitchFamily="34" charset="-120"/>
                        </a:rPr>
                        <a:t>findings_are_concrete / severity_labeled / file_references_included /</a:t>
                      </a:r>
                      <a:endParaRPr lang="en-US" sz="950" dirty="0">
                        <a:latin typeface="Calibri" charset="0"/>
                        <a:ea typeface="Calibri" charset="0"/>
                        <a:cs typeface="Calibri" charset="0"/>
                      </a:endParaRPr>
                    </a:p>
                    <a:p>
                      <a:pPr indent="0" marL="0">
                        <a:buNone/>
                      </a:pPr>
                      <a:r>
                        <a:rPr lang="en-US" sz="950" dirty="0">
                          <a:solidFill>
                            <a:srgbClr val="5C6166"/>
                          </a:solidFill>
                          <a:latin typeface="Calibri" pitchFamily="34" charset="0"/>
                          <a:ea typeface="Calibri" pitchFamily="34" charset="-122"/>
                          <a:cs typeface="Calibri" pitchFamily="34" charset="-120"/>
                        </a:rPr>
                        <a:t>false_positive_risk_considered</a:t>
                      </a:r>
                      <a:endParaRPr lang="en-US" sz="9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r>
              <a:tr h="566928">
                <a:tc>
                  <a:txBody>
                    <a:bodyPr/>
                    <a:lstStyle/>
                    <a:p>
                      <a:pPr indent="0" marL="0">
                        <a:buNone/>
                      </a:pPr>
                      <a:r>
                        <a:rPr lang="en-US" sz="950" b="1" dirty="0">
                          <a:solidFill>
                            <a:srgbClr val="1C1C1C"/>
                          </a:solidFill>
                          <a:latin typeface="Courier New" pitchFamily="34" charset="0"/>
                          <a:ea typeface="Courier New" pitchFamily="34" charset="-122"/>
                          <a:cs typeface="Courier New" pitchFamily="34" charset="-120"/>
                        </a:rPr>
                        <a:t>security</a:t>
                      </a:r>
                      <a:endParaRPr lang="en-US" sz="950" dirty="0">
                        <a:latin typeface="Courier New" charset="0"/>
                        <a:ea typeface="Courier New" charset="0"/>
                        <a:cs typeface="Courier New"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950" dirty="0">
                          <a:solidFill>
                            <a:srgbClr val="5C6166"/>
                          </a:solidFill>
                          <a:latin typeface="Calibri" pitchFamily="34" charset="0"/>
                          <a:ea typeface="Calibri" pitchFamily="34" charset="-122"/>
                          <a:cs typeface="Calibri" pitchFamily="34" charset="-120"/>
                        </a:rPr>
                        <a:t>authn_authz_impact_checked / user_input_flow_checked / secret_exposure_checked /</a:t>
                      </a:r>
                      <a:endParaRPr lang="en-US" sz="950" dirty="0">
                        <a:latin typeface="Calibri" charset="0"/>
                        <a:ea typeface="Calibri" charset="0"/>
                        <a:cs typeface="Calibri" charset="0"/>
                      </a:endParaRPr>
                    </a:p>
                    <a:p>
                      <a:pPr indent="0" marL="0">
                        <a:buNone/>
                      </a:pPr>
                      <a:r>
                        <a:rPr lang="en-US" sz="950" dirty="0">
                          <a:solidFill>
                            <a:srgbClr val="5C6166"/>
                          </a:solidFill>
                          <a:latin typeface="Calibri" pitchFamily="34" charset="0"/>
                          <a:ea typeface="Calibri" pitchFamily="34" charset="-122"/>
                          <a:cs typeface="Calibri" pitchFamily="34" charset="-120"/>
                        </a:rPr>
                        <a:t>dependency_risk_checked</a:t>
                      </a:r>
                      <a:endParaRPr lang="en-US" sz="9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r>
            </a:tbl>
          </a:graphicData>
        </a:graphic>
      </p:graphicFrame>
      <p:sp>
        <p:nvSpPr>
          <p:cNvPr id="7" name="Shape 4"/>
          <p:cNvSpPr/>
          <p:nvPr/>
        </p:nvSpPr>
        <p:spPr>
          <a:xfrm>
            <a:off x="8366760" y="1298448"/>
            <a:ext cx="3291840" cy="1965960"/>
          </a:xfrm>
          <a:prstGeom prst="roundRect">
            <a:avLst>
              <a:gd name="adj" fmla="val 2791"/>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8" name="Text 5"/>
          <p:cNvSpPr txBox="1"/>
          <p:nvPr/>
        </p:nvSpPr>
        <p:spPr>
          <a:xfrm>
            <a:off x="8622792" y="1481328"/>
            <a:ext cx="277977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四つの状態</a:t>
            </a:r>
            <a:endParaRPr lang="en-US" sz="1400" dirty="0"/>
          </a:p>
        </p:txBody>
      </p:sp>
      <p:sp>
        <p:nvSpPr>
          <p:cNvPr id="9" name="Text 6"/>
          <p:cNvSpPr txBox="1"/>
          <p:nvPr/>
        </p:nvSpPr>
        <p:spPr>
          <a:xfrm>
            <a:off x="8622792" y="1865376"/>
            <a:ext cx="2779776" cy="1234440"/>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各基準は根拠つきで passed / failed / warning / skipped として記録され、全体は passed / passed_with_warnings / failed / pending に集約される。</a:t>
            </a:r>
            <a:endParaRPr lang="en-US" sz="1100" dirty="0"/>
          </a:p>
        </p:txBody>
      </p:sp>
      <p:sp>
        <p:nvSpPr>
          <p:cNvPr id="10" name="Shape 7"/>
          <p:cNvSpPr/>
          <p:nvPr/>
        </p:nvSpPr>
        <p:spPr>
          <a:xfrm>
            <a:off x="8366760" y="3383280"/>
            <a:ext cx="3291840" cy="2286000"/>
          </a:xfrm>
          <a:prstGeom prst="roundRect">
            <a:avLst>
              <a:gd name="adj" fmla="val 2400"/>
            </a:avLst>
          </a:prstGeom>
          <a:solidFill>
            <a:srgbClr val="F3EAE6"/>
          </a:solidFill>
          <a:ln w="6350">
            <a:solidFill>
              <a:srgbClr val="F3EAE6"/>
            </a:solidFill>
            <a:prstDash val="solid"/>
          </a:ln>
          <a:effectLst>
            <a:outerShdw sx="100000" sy="100000" kx="0" ky="0" algn="bl" rotWithShape="0" blurRad="101600" dist="12700" dir="5400000">
              <a:srgbClr val="000000">
                <a:alpha val="10000"/>
              </a:srgbClr>
            </a:outerShdw>
          </a:effectLst>
        </p:spPr>
      </p:sp>
      <p:sp>
        <p:nvSpPr>
          <p:cNvPr id="11" name="Text 8"/>
          <p:cNvSpPr txBox="1"/>
          <p:nvPr/>
        </p:nvSpPr>
        <p:spPr>
          <a:xfrm>
            <a:off x="8622792" y="3566160"/>
            <a:ext cx="2779776" cy="320040"/>
          </a:xfrm>
          <a:prstGeom prst="rect">
            <a:avLst/>
          </a:prstGeom>
          <a:noFill/>
          <a:ln/>
        </p:spPr>
        <p:txBody>
          <a:bodyPr wrap="square" lIns="0" tIns="0" rIns="0" bIns="0" rtlCol="0" anchor="ctr"/>
          <a:lstStyle/>
          <a:p>
            <a:pPr indent="0" marL="0">
              <a:buNone/>
            </a:pPr>
            <a:r>
              <a:rPr lang="en-US" sz="1400" b="1" dirty="0">
                <a:solidFill>
                  <a:srgbClr val="A33A21"/>
                </a:solidFill>
                <a:latin typeface="Arial" pitchFamily="34" charset="0"/>
                <a:ea typeface="Arial" pitchFamily="34" charset="-122"/>
                <a:cs typeface="Arial" pitchFamily="34" charset="-120"/>
              </a:rPr>
              <a:t>accept を止めるもの</a:t>
            </a:r>
            <a:endParaRPr lang="en-US" sz="1400" dirty="0"/>
          </a:p>
        </p:txBody>
      </p:sp>
      <p:sp>
        <p:nvSpPr>
          <p:cNvPr id="12" name="Text 9"/>
          <p:cNvSpPr txBox="1"/>
          <p:nvPr/>
        </p:nvSpPr>
        <p:spPr>
          <a:xfrm>
            <a:off x="8622792" y="3950208"/>
            <a:ext cx="2779776" cy="1554480"/>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failed か pending が一件でも残っていれば accept は機械的に拒否される（exit 1）。</a:t>
            </a:r>
            <a:endParaRPr lang="en-US" sz="1100" dirty="0"/>
          </a:p>
          <a:p>
            <a:pPr indent="0" marL="0">
              <a:lnSpc>
                <a:spcPts val="1500"/>
              </a:lnSpc>
              <a:buNone/>
            </a:pPr>
            <a:endParaRPr lang="en-US" sz="1100" dirty="0"/>
          </a:p>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warning は accept を止めないが、常に提示され、黙って握りつぶされることはない。</a:t>
            </a:r>
            <a:endParaRPr lang="en-US" sz="1100" dirty="0"/>
          </a:p>
        </p:txBody>
      </p:sp>
      <p:sp>
        <p:nvSpPr>
          <p:cNvPr id="13" name="Text 10"/>
          <p:cNvSpPr txBox="1"/>
          <p:nvPr/>
        </p:nvSpPr>
        <p:spPr>
          <a:xfrm>
            <a:off x="502920" y="5806440"/>
            <a:ext cx="7589520" cy="274320"/>
          </a:xfrm>
          <a:prstGeom prst="rect">
            <a:avLst/>
          </a:prstGeom>
          <a:noFill/>
          <a:ln/>
        </p:spPr>
        <p:txBody>
          <a:bodyPr wrap="square" lIns="0" tIns="0" rIns="0" bIns="0" rtlCol="0" anchor="ctr"/>
          <a:lstStyle/>
          <a:p>
            <a:pPr indent="0" marL="0">
              <a:buNone/>
            </a:pPr>
            <a:r>
              <a:rPr lang="en-US" sz="1000" dirty="0">
                <a:solidFill>
                  <a:srgbClr val="5C6166"/>
                </a:solidFill>
                <a:latin typeface="Calibri" pitchFamily="34" charset="0"/>
                <a:ea typeface="Calibri" pitchFamily="34" charset="-122"/>
                <a:cs typeface="Calibri" pitchFamily="34" charset="-120"/>
              </a:rPr>
              <a:t>正本は scripts/workbench.py gates。プロジェクトは .rig/gates.json の extra_criteria で基準を足せる。</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N° 07</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基準は自己申告ではない — 機械センサーが裏づける</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502920" y="1298448"/>
            <a:ext cx="5486400" cy="1078992"/>
          </a:xfrm>
          <a:prstGeom prst="roundRect">
            <a:avLst>
              <a:gd name="adj" fmla="val 5085"/>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7" name="Text 5"/>
          <p:cNvSpPr txBox="1"/>
          <p:nvPr/>
        </p:nvSpPr>
        <p:spPr>
          <a:xfrm>
            <a:off x="758952" y="1481328"/>
            <a:ext cx="4974336" cy="320040"/>
          </a:xfrm>
          <a:prstGeom prst="rect">
            <a:avLst/>
          </a:prstGeom>
          <a:noFill/>
          <a:ln/>
        </p:spPr>
        <p:txBody>
          <a:bodyPr wrap="square" lIns="0" tIns="0" rIns="0" bIns="0" rtlCol="0" anchor="ctr"/>
          <a:lstStyle/>
          <a:p>
            <a:pPr indent="0" marL="0">
              <a:buNone/>
            </a:pPr>
            <a:r>
              <a:rPr lang="en-US" sz="1150" b="1" dirty="0">
                <a:solidFill>
                  <a:srgbClr val="1C1C1C"/>
                </a:solidFill>
                <a:latin typeface="Arial" pitchFamily="34" charset="0"/>
                <a:ea typeface="Arial" pitchFamily="34" charset="-122"/>
                <a:cs typeface="Arial" pitchFamily="34" charset="-120"/>
              </a:rPr>
              <a:t>no_secret_leak</a:t>
            </a:r>
            <a:endParaRPr lang="en-US" sz="1150" dirty="0"/>
          </a:p>
        </p:txBody>
      </p:sp>
      <p:sp>
        <p:nvSpPr>
          <p:cNvPr id="8" name="Text 6"/>
          <p:cNvSpPr txBox="1"/>
          <p:nvPr/>
        </p:nvSpPr>
        <p:spPr>
          <a:xfrm>
            <a:off x="758952" y="1865376"/>
            <a:ext cx="4974336" cy="347472"/>
          </a:xfrm>
          <a:prstGeom prst="rect">
            <a:avLst/>
          </a:prstGeom>
          <a:noFill/>
          <a:ln/>
        </p:spPr>
        <p:txBody>
          <a:bodyPr wrap="square" lIns="0" tIns="0" rIns="0" bIns="0" rtlCol="0" anchor="t"/>
          <a:lstStyle/>
          <a:p>
            <a:pPr indent="0" marL="0">
              <a:lnSpc>
                <a:spcPts val="1400"/>
              </a:lnSpc>
              <a:buNone/>
            </a:pPr>
            <a:r>
              <a:rPr lang="en-US" sz="1050" dirty="0">
                <a:solidFill>
                  <a:srgbClr val="5C6166"/>
                </a:solidFill>
                <a:latin typeface="Calibri" pitchFamily="34" charset="0"/>
                <a:ea typeface="Calibri" pitchFamily="34" charset="-122"/>
                <a:cs typeface="Calibri" pitchFamily="34" charset="-120"/>
              </a:rPr>
              <a:t>task diff への決定論シークレットスキャン。検出があれば failed。抜粋は常にマスク済み。</a:t>
            </a:r>
            <a:endParaRPr lang="en-US" sz="1050" dirty="0"/>
          </a:p>
        </p:txBody>
      </p:sp>
      <p:sp>
        <p:nvSpPr>
          <p:cNvPr id="9" name="Shape 7"/>
          <p:cNvSpPr/>
          <p:nvPr/>
        </p:nvSpPr>
        <p:spPr>
          <a:xfrm>
            <a:off x="6355080" y="1298448"/>
            <a:ext cx="5486400" cy="1078992"/>
          </a:xfrm>
          <a:prstGeom prst="roundRect">
            <a:avLst>
              <a:gd name="adj" fmla="val 5085"/>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0" name="Text 8"/>
          <p:cNvSpPr txBox="1"/>
          <p:nvPr/>
        </p:nvSpPr>
        <p:spPr>
          <a:xfrm>
            <a:off x="6611112" y="1481328"/>
            <a:ext cx="4974336" cy="320040"/>
          </a:xfrm>
          <a:prstGeom prst="rect">
            <a:avLst/>
          </a:prstGeom>
          <a:noFill/>
          <a:ln/>
        </p:spPr>
        <p:txBody>
          <a:bodyPr wrap="square" lIns="0" tIns="0" rIns="0" bIns="0" rtlCol="0" anchor="ctr"/>
          <a:lstStyle/>
          <a:p>
            <a:pPr indent="0" marL="0">
              <a:buNone/>
            </a:pPr>
            <a:r>
              <a:rPr lang="en-US" sz="1150" b="1" dirty="0">
                <a:solidFill>
                  <a:srgbClr val="1C1C1C"/>
                </a:solidFill>
                <a:latin typeface="Arial" pitchFamily="34" charset="0"/>
                <a:ea typeface="Arial" pitchFamily="34" charset="-122"/>
                <a:cs typeface="Arial" pitchFamily="34" charset="-120"/>
              </a:rPr>
              <a:t>no_injection_markers</a:t>
            </a:r>
            <a:endParaRPr lang="en-US" sz="1150" dirty="0"/>
          </a:p>
        </p:txBody>
      </p:sp>
      <p:sp>
        <p:nvSpPr>
          <p:cNvPr id="11" name="Text 9"/>
          <p:cNvSpPr txBox="1"/>
          <p:nvPr/>
        </p:nvSpPr>
        <p:spPr>
          <a:xfrm>
            <a:off x="6611112" y="1865376"/>
            <a:ext cx="4974336" cy="347472"/>
          </a:xfrm>
          <a:prstGeom prst="rect">
            <a:avLst/>
          </a:prstGeom>
          <a:noFill/>
          <a:ln/>
        </p:spPr>
        <p:txBody>
          <a:bodyPr wrap="square" lIns="0" tIns="0" rIns="0" bIns="0" rtlCol="0" anchor="t"/>
          <a:lstStyle/>
          <a:p>
            <a:pPr indent="0" marL="0">
              <a:lnSpc>
                <a:spcPts val="1400"/>
              </a:lnSpc>
              <a:buNone/>
            </a:pPr>
            <a:r>
              <a:rPr lang="en-US" sz="1050" dirty="0">
                <a:solidFill>
                  <a:srgbClr val="5C6166"/>
                </a:solidFill>
                <a:latin typeface="Calibri" pitchFamily="34" charset="0"/>
                <a:ea typeface="Calibri" pitchFamily="34" charset="-122"/>
                <a:cs typeface="Calibri" pitchFamily="34" charset="-120"/>
              </a:rPr>
              <a:t>prose 面へのインジェクション・マーカー検出。不可視／bidi Unicode は fail、指示上書き句は warning。</a:t>
            </a:r>
            <a:endParaRPr lang="en-US" sz="1050" dirty="0"/>
          </a:p>
        </p:txBody>
      </p:sp>
      <p:sp>
        <p:nvSpPr>
          <p:cNvPr id="12" name="Shape 10"/>
          <p:cNvSpPr/>
          <p:nvPr/>
        </p:nvSpPr>
        <p:spPr>
          <a:xfrm>
            <a:off x="502920" y="2532888"/>
            <a:ext cx="5486400" cy="1078992"/>
          </a:xfrm>
          <a:prstGeom prst="roundRect">
            <a:avLst>
              <a:gd name="adj" fmla="val 5085"/>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3" name="Text 11"/>
          <p:cNvSpPr txBox="1"/>
          <p:nvPr/>
        </p:nvSpPr>
        <p:spPr>
          <a:xfrm>
            <a:off x="758952" y="2715768"/>
            <a:ext cx="4974336" cy="320040"/>
          </a:xfrm>
          <a:prstGeom prst="rect">
            <a:avLst/>
          </a:prstGeom>
          <a:noFill/>
          <a:ln/>
        </p:spPr>
        <p:txBody>
          <a:bodyPr wrap="square" lIns="0" tIns="0" rIns="0" bIns="0" rtlCol="0" anchor="ctr"/>
          <a:lstStyle/>
          <a:p>
            <a:pPr indent="0" marL="0">
              <a:buNone/>
            </a:pPr>
            <a:r>
              <a:rPr lang="en-US" sz="1150" b="1" dirty="0">
                <a:solidFill>
                  <a:srgbClr val="1C1C1C"/>
                </a:solidFill>
                <a:latin typeface="Arial" pitchFamily="34" charset="0"/>
                <a:ea typeface="Arial" pitchFamily="34" charset="-122"/>
                <a:cs typeface="Arial" pitchFamily="34" charset="-120"/>
              </a:rPr>
              <a:t>no_destructive_operation</a:t>
            </a:r>
            <a:endParaRPr lang="en-US" sz="1150" dirty="0"/>
          </a:p>
        </p:txBody>
      </p:sp>
      <p:sp>
        <p:nvSpPr>
          <p:cNvPr id="14" name="Text 12"/>
          <p:cNvSpPr txBox="1"/>
          <p:nvPr/>
        </p:nvSpPr>
        <p:spPr>
          <a:xfrm>
            <a:off x="758952" y="3099816"/>
            <a:ext cx="4974336" cy="347472"/>
          </a:xfrm>
          <a:prstGeom prst="rect">
            <a:avLst/>
          </a:prstGeom>
          <a:noFill/>
          <a:ln/>
        </p:spPr>
        <p:txBody>
          <a:bodyPr wrap="square" lIns="0" tIns="0" rIns="0" bIns="0" rtlCol="0" anchor="t"/>
          <a:lstStyle/>
          <a:p>
            <a:pPr indent="0" marL="0">
              <a:lnSpc>
                <a:spcPts val="1400"/>
              </a:lnSpc>
              <a:buNone/>
            </a:pPr>
            <a:r>
              <a:rPr lang="en-US" sz="1050" dirty="0">
                <a:solidFill>
                  <a:srgbClr val="5C6166"/>
                </a:solidFill>
                <a:latin typeface="Calibri" pitchFamily="34" charset="0"/>
                <a:ea typeface="Calibri" pitchFamily="34" charset="-122"/>
                <a:cs typeface="Calibri" pitchFamily="34" charset="-120"/>
              </a:rPr>
              <a:t>破壊的コマンド検出。rm -rf / ・mkfs・DROP DATABASE は fail、force push や TRUNCATE は warning。</a:t>
            </a:r>
            <a:endParaRPr lang="en-US" sz="1050" dirty="0"/>
          </a:p>
        </p:txBody>
      </p:sp>
      <p:sp>
        <p:nvSpPr>
          <p:cNvPr id="15" name="Shape 13"/>
          <p:cNvSpPr/>
          <p:nvPr/>
        </p:nvSpPr>
        <p:spPr>
          <a:xfrm>
            <a:off x="6355080" y="2532888"/>
            <a:ext cx="5486400" cy="1078992"/>
          </a:xfrm>
          <a:prstGeom prst="roundRect">
            <a:avLst>
              <a:gd name="adj" fmla="val 5085"/>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6" name="Text 14"/>
          <p:cNvSpPr txBox="1"/>
          <p:nvPr/>
        </p:nvSpPr>
        <p:spPr>
          <a:xfrm>
            <a:off x="6611112" y="2715768"/>
            <a:ext cx="4974336" cy="320040"/>
          </a:xfrm>
          <a:prstGeom prst="rect">
            <a:avLst/>
          </a:prstGeom>
          <a:noFill/>
          <a:ln/>
        </p:spPr>
        <p:txBody>
          <a:bodyPr wrap="square" lIns="0" tIns="0" rIns="0" bIns="0" rtlCol="0" anchor="ctr"/>
          <a:lstStyle/>
          <a:p>
            <a:pPr indent="0" marL="0">
              <a:buNone/>
            </a:pPr>
            <a:r>
              <a:rPr lang="en-US" sz="1150" b="1" dirty="0">
                <a:solidFill>
                  <a:srgbClr val="1C1C1C"/>
                </a:solidFill>
                <a:latin typeface="Arial" pitchFamily="34" charset="0"/>
                <a:ea typeface="Arial" pitchFamily="34" charset="-122"/>
                <a:cs typeface="Arial" pitchFamily="34" charset="-120"/>
              </a:rPr>
              <a:t>no_gate_tampering</a:t>
            </a:r>
            <a:endParaRPr lang="en-US" sz="1150" dirty="0"/>
          </a:p>
        </p:txBody>
      </p:sp>
      <p:sp>
        <p:nvSpPr>
          <p:cNvPr id="17" name="Text 15"/>
          <p:cNvSpPr txBox="1"/>
          <p:nvPr/>
        </p:nvSpPr>
        <p:spPr>
          <a:xfrm>
            <a:off x="6611112" y="3099816"/>
            <a:ext cx="4974336" cy="347472"/>
          </a:xfrm>
          <a:prstGeom prst="rect">
            <a:avLst/>
          </a:prstGeom>
          <a:noFill/>
          <a:ln/>
        </p:spPr>
        <p:txBody>
          <a:bodyPr wrap="square" lIns="0" tIns="0" rIns="0" bIns="0" rtlCol="0" anchor="t"/>
          <a:lstStyle/>
          <a:p>
            <a:pPr indent="0" marL="0">
              <a:lnSpc>
                <a:spcPts val="1400"/>
              </a:lnSpc>
              <a:buNone/>
            </a:pPr>
            <a:r>
              <a:rPr lang="en-US" sz="1050" dirty="0">
                <a:solidFill>
                  <a:srgbClr val="5C6166"/>
                </a:solidFill>
                <a:latin typeface="Calibri" pitchFamily="34" charset="0"/>
                <a:ea typeface="Calibri" pitchFamily="34" charset="-122"/>
                <a:cs typeface="Calibri" pitchFamily="34" charset="-120"/>
              </a:rPr>
              <a:t>gates.json・recipes・CI workflow の編集は fail。既存テストの改変・assert 削除・skip 追加は warning。</a:t>
            </a:r>
            <a:endParaRPr lang="en-US" sz="1050" dirty="0"/>
          </a:p>
        </p:txBody>
      </p:sp>
      <p:sp>
        <p:nvSpPr>
          <p:cNvPr id="18" name="Shape 16"/>
          <p:cNvSpPr/>
          <p:nvPr/>
        </p:nvSpPr>
        <p:spPr>
          <a:xfrm>
            <a:off x="502920" y="3767328"/>
            <a:ext cx="5486400" cy="1078992"/>
          </a:xfrm>
          <a:prstGeom prst="roundRect">
            <a:avLst>
              <a:gd name="adj" fmla="val 5085"/>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9" name="Text 17"/>
          <p:cNvSpPr txBox="1"/>
          <p:nvPr/>
        </p:nvSpPr>
        <p:spPr>
          <a:xfrm>
            <a:off x="758952" y="3950208"/>
            <a:ext cx="4974336" cy="320040"/>
          </a:xfrm>
          <a:prstGeom prst="rect">
            <a:avLst/>
          </a:prstGeom>
          <a:noFill/>
          <a:ln/>
        </p:spPr>
        <p:txBody>
          <a:bodyPr wrap="square" lIns="0" tIns="0" rIns="0" bIns="0" rtlCol="0" anchor="ctr"/>
          <a:lstStyle/>
          <a:p>
            <a:pPr indent="0" marL="0">
              <a:buNone/>
            </a:pPr>
            <a:r>
              <a:rPr lang="en-US" sz="1150" b="1" dirty="0">
                <a:solidFill>
                  <a:srgbClr val="1C1C1C"/>
                </a:solidFill>
                <a:latin typeface="Arial" pitchFamily="34" charset="0"/>
                <a:ea typeface="Arial" pitchFamily="34" charset="-122"/>
                <a:cs typeface="Arial" pitchFamily="34" charset="-120"/>
              </a:rPr>
              <a:t>public_api_changes_documented</a:t>
            </a:r>
            <a:endParaRPr lang="en-US" sz="1150" dirty="0"/>
          </a:p>
        </p:txBody>
      </p:sp>
      <p:sp>
        <p:nvSpPr>
          <p:cNvPr id="20" name="Text 18"/>
          <p:cNvSpPr txBox="1"/>
          <p:nvPr/>
        </p:nvSpPr>
        <p:spPr>
          <a:xfrm>
            <a:off x="758952" y="4334256"/>
            <a:ext cx="4974336" cy="347472"/>
          </a:xfrm>
          <a:prstGeom prst="rect">
            <a:avLst/>
          </a:prstGeom>
          <a:noFill/>
          <a:ln/>
        </p:spPr>
        <p:txBody>
          <a:bodyPr wrap="square" lIns="0" tIns="0" rIns="0" bIns="0" rtlCol="0" anchor="t"/>
          <a:lstStyle/>
          <a:p>
            <a:pPr indent="0" marL="0">
              <a:lnSpc>
                <a:spcPts val="1400"/>
              </a:lnSpc>
              <a:buNone/>
            </a:pPr>
            <a:r>
              <a:rPr lang="en-US" sz="1050" dirty="0">
                <a:solidFill>
                  <a:srgbClr val="5C6166"/>
                </a:solidFill>
                <a:latin typeface="Calibri" pitchFamily="34" charset="0"/>
                <a:ea typeface="Calibri" pitchFamily="34" charset="-122"/>
                <a:cs typeface="Calibri" pitchFamily="34" charset="-120"/>
              </a:rPr>
              <a:t>OpenAPI schema-diff。API が変わったのに diff サマリに記述が無ければ warning に落とす。</a:t>
            </a:r>
            <a:endParaRPr lang="en-US" sz="1050" dirty="0"/>
          </a:p>
        </p:txBody>
      </p:sp>
      <p:sp>
        <p:nvSpPr>
          <p:cNvPr id="21" name="Shape 19"/>
          <p:cNvSpPr/>
          <p:nvPr/>
        </p:nvSpPr>
        <p:spPr>
          <a:xfrm>
            <a:off x="6355080" y="3767328"/>
            <a:ext cx="5486400" cy="1078992"/>
          </a:xfrm>
          <a:prstGeom prst="roundRect">
            <a:avLst>
              <a:gd name="adj" fmla="val 5085"/>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22" name="Text 20"/>
          <p:cNvSpPr txBox="1"/>
          <p:nvPr/>
        </p:nvSpPr>
        <p:spPr>
          <a:xfrm>
            <a:off x="6611112" y="3950208"/>
            <a:ext cx="4974336" cy="320040"/>
          </a:xfrm>
          <a:prstGeom prst="rect">
            <a:avLst/>
          </a:prstGeom>
          <a:noFill/>
          <a:ln/>
        </p:spPr>
        <p:txBody>
          <a:bodyPr wrap="square" lIns="0" tIns="0" rIns="0" bIns="0" rtlCol="0" anchor="ctr"/>
          <a:lstStyle/>
          <a:p>
            <a:pPr indent="0" marL="0">
              <a:buNone/>
            </a:pPr>
            <a:r>
              <a:rPr lang="en-US" sz="1150" b="1" dirty="0">
                <a:solidFill>
                  <a:srgbClr val="1C1C1C"/>
                </a:solidFill>
                <a:latin typeface="Arial" pitchFamily="34" charset="0"/>
                <a:ea typeface="Arial" pitchFamily="34" charset="-122"/>
                <a:cs typeface="Arial" pitchFamily="34" charset="-120"/>
              </a:rPr>
              <a:t>prompt_regression_passed</a:t>
            </a:r>
            <a:endParaRPr lang="en-US" sz="1150" dirty="0"/>
          </a:p>
        </p:txBody>
      </p:sp>
      <p:sp>
        <p:nvSpPr>
          <p:cNvPr id="23" name="Text 21"/>
          <p:cNvSpPr txBox="1"/>
          <p:nvPr/>
        </p:nvSpPr>
        <p:spPr>
          <a:xfrm>
            <a:off x="6611112" y="4334256"/>
            <a:ext cx="4974336" cy="347472"/>
          </a:xfrm>
          <a:prstGeom prst="rect">
            <a:avLst/>
          </a:prstGeom>
          <a:noFill/>
          <a:ln/>
        </p:spPr>
        <p:txBody>
          <a:bodyPr wrap="square" lIns="0" tIns="0" rIns="0" bIns="0" rtlCol="0" anchor="t"/>
          <a:lstStyle/>
          <a:p>
            <a:pPr indent="0" marL="0">
              <a:lnSpc>
                <a:spcPts val="1400"/>
              </a:lnSpc>
              <a:buNone/>
            </a:pPr>
            <a:r>
              <a:rPr lang="en-US" sz="1050" dirty="0">
                <a:solidFill>
                  <a:srgbClr val="5C6166"/>
                </a:solidFill>
                <a:latin typeface="Calibri" pitchFamily="34" charset="0"/>
                <a:ea typeface="Calibri" pitchFamily="34" charset="-122"/>
                <a:cs typeface="Calibri" pitchFamily="34" charset="-120"/>
              </a:rPr>
              <a:t>diff が prompt 面に触れたときだけ自動追加。--set による手動上書きを拒否する唯一の基準。</a:t>
            </a:r>
            <a:endParaRPr lang="en-US" sz="1050" dirty="0"/>
          </a:p>
        </p:txBody>
      </p:sp>
      <p:sp>
        <p:nvSpPr>
          <p:cNvPr id="24" name="Shape 22"/>
          <p:cNvSpPr/>
          <p:nvPr/>
        </p:nvSpPr>
        <p:spPr>
          <a:xfrm>
            <a:off x="502920" y="5120640"/>
            <a:ext cx="11155680" cy="868680"/>
          </a:xfrm>
          <a:prstGeom prst="roundRect">
            <a:avLst>
              <a:gd name="adj" fmla="val 6316"/>
            </a:avLst>
          </a:prstGeom>
          <a:solidFill>
            <a:srgbClr val="E7EFEB"/>
          </a:solidFill>
          <a:ln w="6350">
            <a:solidFill>
              <a:srgbClr val="E7EFEB"/>
            </a:solidFill>
            <a:prstDash val="solid"/>
          </a:ln>
          <a:effectLst>
            <a:outerShdw sx="100000" sy="100000" kx="0" ky="0" algn="bl" rotWithShape="0" blurRad="101600" dist="12700" dir="5400000">
              <a:srgbClr val="000000">
                <a:alpha val="10000"/>
              </a:srgbClr>
            </a:outerShdw>
          </a:effectLst>
        </p:spPr>
      </p:sp>
      <p:sp>
        <p:nvSpPr>
          <p:cNvPr id="25" name="Text 23"/>
          <p:cNvSpPr txBox="1"/>
          <p:nvPr/>
        </p:nvSpPr>
        <p:spPr>
          <a:xfrm>
            <a:off x="758952" y="5303520"/>
            <a:ext cx="1064361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設定は加算のみ</a:t>
            </a:r>
            <a:endParaRPr lang="en-US" sz="1400" dirty="0"/>
          </a:p>
        </p:txBody>
      </p:sp>
      <p:sp>
        <p:nvSpPr>
          <p:cNvPr id="26" name="Text 24"/>
          <p:cNvSpPr txBox="1"/>
          <p:nvPr/>
        </p:nvSpPr>
        <p:spPr>
          <a:xfrm>
            <a:off x="758952" y="5687568"/>
            <a:ext cx="10643616" cy="137160"/>
          </a:xfrm>
          <a:prstGeom prst="rect">
            <a:avLst/>
          </a:prstGeom>
          <a:noFill/>
          <a:ln/>
        </p:spPr>
        <p:txBody>
          <a:bodyPr wrap="square" lIns="0" tIns="0" rIns="0" bIns="0" rtlCol="0" anchor="t"/>
          <a:lstStyle/>
          <a:p>
            <a:pPr indent="0" marL="0">
              <a:lnSpc>
                <a:spcPts val="1500"/>
              </a:lnSpc>
              <a:buNone/>
            </a:pPr>
            <a:r>
              <a:rPr lang="en-US" sz="1150" dirty="0">
                <a:solidFill>
                  <a:srgbClr val="5C6166"/>
                </a:solidFill>
                <a:latin typeface="Calibri" pitchFamily="34" charset="0"/>
                <a:ea typeface="Calibri" pitchFamily="34" charset="-122"/>
                <a:cs typeface="Calibri" pitchFamily="34" charset="-120"/>
              </a:rPr>
              <a:t>プロジェクトは .rig/gates.json で独自基準を足せるが、組み込み基準の削除・緩和キーは即座に拒否される。リポジトリの中のファイルが、そのリポジトリを守るゲートを弱めることはできない。</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N° 08</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柱 ③ read-only な検証役　／　柱 ④ 明示的な accept</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18</a:t>
            </a:r>
            <a:endParaRPr lang="en-US" sz="900" dirty="0"/>
          </a:p>
        </p:txBody>
      </p:sp>
      <p:sp>
        <p:nvSpPr>
          <p:cNvPr id="6" name="Text 4"/>
          <p:cNvSpPr txBox="1"/>
          <p:nvPr/>
        </p:nvSpPr>
        <p:spPr>
          <a:xfrm>
            <a:off x="502920" y="1280160"/>
            <a:ext cx="5486400" cy="256032"/>
          </a:xfrm>
          <a:prstGeom prst="rect">
            <a:avLst/>
          </a:prstGeom>
          <a:noFill/>
          <a:ln/>
        </p:spPr>
        <p:txBody>
          <a:bodyPr wrap="square" lIns="0" tIns="0" rIns="0" bIns="0" rtlCol="0" anchor="ctr"/>
          <a:lstStyle/>
          <a:p>
            <a:pPr indent="0" marL="0">
              <a:buNone/>
            </a:pPr>
            <a:r>
              <a:rPr lang="en-US" sz="1200" b="1" spc="50" kern="0" dirty="0">
                <a:solidFill>
                  <a:srgbClr val="1F6F5C"/>
                </a:solidFill>
                <a:latin typeface="Arial" pitchFamily="34" charset="0"/>
                <a:ea typeface="Arial" pitchFamily="34" charset="-122"/>
                <a:cs typeface="Arial" pitchFamily="34" charset="-120"/>
              </a:rPr>
              <a:t>③  検証役はプロセスレベルで読み取り専用</a:t>
            </a:r>
            <a:endParaRPr lang="en-US" sz="1200" dirty="0"/>
          </a:p>
        </p:txBody>
      </p:sp>
      <p:sp>
        <p:nvSpPr>
          <p:cNvPr id="7" name="Shape 5"/>
          <p:cNvSpPr/>
          <p:nvPr/>
        </p:nvSpPr>
        <p:spPr>
          <a:xfrm>
            <a:off x="502920" y="1572768"/>
            <a:ext cx="5486400" cy="731520"/>
          </a:xfrm>
          <a:prstGeom prst="roundRect">
            <a:avLst>
              <a:gd name="adj" fmla="val 6250"/>
            </a:avLst>
          </a:prstGeom>
          <a:solidFill>
            <a:srgbClr val="1C1C1C"/>
          </a:solidFill>
          <a:ln w="12700">
            <a:solidFill>
              <a:srgbClr val="1C1C1C"/>
            </a:solidFill>
            <a:prstDash val="solid"/>
          </a:ln>
          <a:effectLst>
            <a:outerShdw sx="100000" sy="100000" kx="0" ky="0" algn="bl" rotWithShape="0" blurRad="101600" dist="12700" dir="5400000">
              <a:srgbClr val="000000">
                <a:alpha val="10000"/>
              </a:srgbClr>
            </a:outerShdw>
          </a:effectLst>
        </p:spPr>
      </p:sp>
      <p:sp>
        <p:nvSpPr>
          <p:cNvPr id="8" name="Text 6"/>
          <p:cNvSpPr txBox="1"/>
          <p:nvPr/>
        </p:nvSpPr>
        <p:spPr>
          <a:xfrm>
            <a:off x="704088" y="1719072"/>
            <a:ext cx="5084064" cy="438912"/>
          </a:xfrm>
          <a:prstGeom prst="rect">
            <a:avLst/>
          </a:prstGeom>
          <a:noFill/>
          <a:ln/>
        </p:spPr>
        <p:txBody>
          <a:bodyPr wrap="square" lIns="0" tIns="0" rIns="0" bIns="0" rtlCol="0" anchor="t"/>
          <a:lstStyle/>
          <a:p>
            <a:pPr indent="0" marL="0">
              <a:lnSpc>
                <a:spcPts val="1500"/>
              </a:lnSpc>
              <a:buNone/>
            </a:pPr>
            <a:r>
              <a:rPr lang="en-US" sz="1050" dirty="0">
                <a:solidFill>
                  <a:srgbClr val="EDEDE8"/>
                </a:solidFill>
                <a:latin typeface="Courier New" pitchFamily="34" charset="0"/>
                <a:ea typeface="Courier New" pitchFamily="34" charset="-122"/>
                <a:cs typeface="Courier New" pitchFamily="34" charset="-120"/>
              </a:rPr>
              <a:t>claude --allowedTools Read,Grep,Glob</a:t>
            </a:r>
            <a:endParaRPr lang="en-US" sz="1050" dirty="0"/>
          </a:p>
          <a:p>
            <a:pPr indent="0" marL="0">
              <a:lnSpc>
                <a:spcPts val="1500"/>
              </a:lnSpc>
              <a:buNone/>
            </a:pPr>
            <a:r>
              <a:rPr lang="en-US" sz="1050" dirty="0">
                <a:solidFill>
                  <a:srgbClr val="EDEDE8"/>
                </a:solidFill>
                <a:latin typeface="Courier New" pitchFamily="34" charset="0"/>
                <a:ea typeface="Courier New" pitchFamily="34" charset="-122"/>
                <a:cs typeface="Courier New" pitchFamily="34" charset="-120"/>
              </a:rPr>
              <a:t>codex  --sandbox read-only</a:t>
            </a:r>
            <a:endParaRPr lang="en-US" sz="1050" dirty="0"/>
          </a:p>
        </p:txBody>
      </p:sp>
      <p:sp>
        <p:nvSpPr>
          <p:cNvPr id="9" name="Text 7"/>
          <p:cNvSpPr txBox="1"/>
          <p:nvPr/>
        </p:nvSpPr>
        <p:spPr>
          <a:xfrm>
            <a:off x="502920" y="2468880"/>
            <a:ext cx="5486400" cy="1828800"/>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1C1C1C"/>
                </a:solidFill>
                <a:latin typeface="Calibri" pitchFamily="34" charset="0"/>
                <a:ea typeface="Calibri" pitchFamily="34" charset="-122"/>
                <a:cs typeface="Calibri" pitchFamily="34" charset="-120"/>
              </a:rPr>
              <a:t>見て、grep して、指摘は書ける</a:t>
            </a:r>
            <a:endParaRPr lang="en-US" sz="1150" dirty="0"/>
          </a:p>
          <a:p>
            <a:pPr marL="342900" indent="-342900">
              <a:lnSpc>
                <a:spcPts val="1700"/>
              </a:lnSpc>
              <a:spcAft>
                <a:spcPts val="700"/>
              </a:spcAft>
              <a:buSzPct val="100000"/>
              <a:buChar char="•"/>
            </a:pPr>
            <a:r>
              <a:rPr lang="en-US" sz="1150" dirty="0">
                <a:solidFill>
                  <a:srgbClr val="1C1C1C"/>
                </a:solidFill>
                <a:latin typeface="Calibri" pitchFamily="34" charset="0"/>
                <a:ea typeface="Calibri" pitchFamily="34" charset="-122"/>
                <a:cs typeface="Calibri" pitchFamily="34" charset="-120"/>
              </a:rPr>
              <a:t>編集・commit・formatter による書き換えはできない</a:t>
            </a:r>
            <a:endParaRPr lang="en-US" sz="1150" dirty="0"/>
          </a:p>
          <a:p>
            <a:pPr marL="342900" indent="-342900">
              <a:lnSpc>
                <a:spcPts val="1700"/>
              </a:lnSpc>
              <a:spcAft>
                <a:spcPts val="700"/>
              </a:spcAft>
              <a:buSzPct val="100000"/>
              <a:buChar char="•"/>
            </a:pPr>
            <a:r>
              <a:rPr lang="en-US" sz="1150" dirty="0">
                <a:solidFill>
                  <a:srgbClr val="1C1C1C"/>
                </a:solidFill>
                <a:latin typeface="Calibri" pitchFamily="34" charset="0"/>
                <a:ea typeface="Calibri" pitchFamily="34" charset="-122"/>
                <a:cs typeface="Calibri" pitchFamily="34" charset="-120"/>
              </a:rPr>
              <a:t>判定の一次証拠は worktree の実際の git diff。生成側のレポートは「未検証の主張」として渡されるだけ</a:t>
            </a:r>
            <a:endParaRPr lang="en-US" sz="1150" dirty="0"/>
          </a:p>
          <a:p>
            <a:pPr marL="342900" indent="-342900">
              <a:lnSpc>
                <a:spcPts val="1700"/>
              </a:lnSpc>
              <a:spcAft>
                <a:spcPts val="700"/>
              </a:spcAft>
              <a:buSzPct val="100000"/>
              <a:buChar char="•"/>
            </a:pPr>
            <a:r>
              <a:rPr lang="en-US" sz="1150" dirty="0">
                <a:solidFill>
                  <a:srgbClr val="1C1C1C"/>
                </a:solidFill>
                <a:latin typeface="Calibri" pitchFamily="34" charset="0"/>
                <a:ea typeface="Calibri" pitchFamily="34" charset="-122"/>
                <a:cs typeface="Calibri" pitchFamily="34" charset="-120"/>
              </a:rPr>
              <a:t>orchestrate.py probe が、この制限が実装として発動していることをプロバイダごとに確認する</a:t>
            </a:r>
            <a:endParaRPr lang="en-US" sz="1150" dirty="0"/>
          </a:p>
        </p:txBody>
      </p:sp>
      <p:sp>
        <p:nvSpPr>
          <p:cNvPr id="10" name="Text 8"/>
          <p:cNvSpPr txBox="1"/>
          <p:nvPr/>
        </p:nvSpPr>
        <p:spPr>
          <a:xfrm>
            <a:off x="6355080" y="1280160"/>
            <a:ext cx="5486400" cy="256032"/>
          </a:xfrm>
          <a:prstGeom prst="rect">
            <a:avLst/>
          </a:prstGeom>
          <a:noFill/>
          <a:ln/>
        </p:spPr>
        <p:txBody>
          <a:bodyPr wrap="square" lIns="0" tIns="0" rIns="0" bIns="0" rtlCol="0" anchor="ctr"/>
          <a:lstStyle/>
          <a:p>
            <a:pPr indent="0" marL="0">
              <a:buNone/>
            </a:pPr>
            <a:r>
              <a:rPr lang="en-US" sz="1200" b="1" spc="50" kern="0" dirty="0">
                <a:solidFill>
                  <a:srgbClr val="1F6F5C"/>
                </a:solidFill>
                <a:latin typeface="Arial" pitchFamily="34" charset="0"/>
                <a:ea typeface="Arial" pitchFamily="34" charset="-122"/>
                <a:cs typeface="Arial" pitchFamily="34" charset="-120"/>
              </a:rPr>
              <a:t>④  accept は staged で止まり、記録は消えない</a:t>
            </a:r>
            <a:endParaRPr lang="en-US" sz="1200" dirty="0"/>
          </a:p>
        </p:txBody>
      </p:sp>
      <p:sp>
        <p:nvSpPr>
          <p:cNvPr id="11" name="Shape 9"/>
          <p:cNvSpPr/>
          <p:nvPr/>
        </p:nvSpPr>
        <p:spPr>
          <a:xfrm>
            <a:off x="6355080" y="1572768"/>
            <a:ext cx="5486400" cy="1417320"/>
          </a:xfrm>
          <a:prstGeom prst="roundRect">
            <a:avLst>
              <a:gd name="adj" fmla="val 3226"/>
            </a:avLst>
          </a:prstGeom>
          <a:solidFill>
            <a:srgbClr val="1C1C1C"/>
          </a:solidFill>
          <a:ln w="12700">
            <a:solidFill>
              <a:srgbClr val="1C1C1C"/>
            </a:solidFill>
            <a:prstDash val="solid"/>
          </a:ln>
          <a:effectLst>
            <a:outerShdw sx="100000" sy="100000" kx="0" ky="0" algn="bl" rotWithShape="0" blurRad="101600" dist="12700" dir="5400000">
              <a:srgbClr val="000000">
                <a:alpha val="10000"/>
              </a:srgbClr>
            </a:outerShdw>
          </a:effectLst>
        </p:spPr>
      </p:sp>
      <p:sp>
        <p:nvSpPr>
          <p:cNvPr id="12" name="Text 10"/>
          <p:cNvSpPr txBox="1"/>
          <p:nvPr/>
        </p:nvSpPr>
        <p:spPr>
          <a:xfrm>
            <a:off x="6556248" y="1719072"/>
            <a:ext cx="5084064" cy="1124712"/>
          </a:xfrm>
          <a:prstGeom prst="rect">
            <a:avLst/>
          </a:prstGeom>
          <a:noFill/>
          <a:ln/>
        </p:spPr>
        <p:txBody>
          <a:bodyPr wrap="square" lIns="0" tIns="0" rIns="0" bIns="0" rtlCol="0" anchor="t"/>
          <a:lstStyle/>
          <a:p>
            <a:pPr indent="0" marL="0">
              <a:lnSpc>
                <a:spcPts val="1400"/>
              </a:lnSpc>
              <a:buNone/>
            </a:pPr>
            <a:r>
              <a:rPr lang="en-US" sz="1000" dirty="0">
                <a:solidFill>
                  <a:srgbClr val="EDEDE8"/>
                </a:solidFill>
                <a:latin typeface="Courier New" pitchFamily="34" charset="0"/>
                <a:ea typeface="Courier New" pitchFamily="34" charset="-122"/>
                <a:cs typeface="Courier New" pitchFamily="34" charset="-120"/>
              </a:rPr>
              <a:t>## rig accept — accept_requirements</a:t>
            </a:r>
            <a:endParaRPr lang="en-US" sz="1000" dirty="0"/>
          </a:p>
          <a:p>
            <a:pPr indent="0" marL="0">
              <a:lnSpc>
                <a:spcPts val="1400"/>
              </a:lnSpc>
              <a:buNone/>
            </a:pPr>
            <a:r>
              <a:rPr lang="en-US" sz="1000" dirty="0">
                <a:solidFill>
                  <a:srgbClr val="EDEDE8"/>
                </a:solidFill>
                <a:latin typeface="Courier New" pitchFamily="34" charset="0"/>
                <a:ea typeface="Courier New" pitchFamily="34" charset="-122"/>
                <a:cs typeface="Courier New" pitchFamily="34" charset="-120"/>
              </a:rPr>
              <a:t>  ✓ worktree_exists            構造的</a:t>
            </a:r>
            <a:endParaRPr lang="en-US" sz="1000" dirty="0"/>
          </a:p>
          <a:p>
            <a:pPr indent="0" marL="0">
              <a:lnSpc>
                <a:spcPts val="1400"/>
              </a:lnSpc>
              <a:buNone/>
            </a:pPr>
            <a:r>
              <a:rPr lang="en-US" sz="1000" dirty="0">
                <a:solidFill>
                  <a:srgbClr val="EDEDE8"/>
                </a:solidFill>
                <a:latin typeface="Courier New" pitchFamily="34" charset="0"/>
                <a:ea typeface="Courier New" pitchFamily="34" charset="-122"/>
                <a:cs typeface="Courier New" pitchFamily="34" charset="-120"/>
              </a:rPr>
              <a:t>  ✓ base_branch_recorded       構造的</a:t>
            </a:r>
            <a:endParaRPr lang="en-US" sz="1000" dirty="0"/>
          </a:p>
          <a:p>
            <a:pPr indent="0" marL="0">
              <a:lnSpc>
                <a:spcPts val="1400"/>
              </a:lnSpc>
              <a:buNone/>
            </a:pPr>
            <a:r>
              <a:rPr lang="en-US" sz="1000" dirty="0">
                <a:solidFill>
                  <a:srgbClr val="EDEDE8"/>
                </a:solidFill>
                <a:latin typeface="Courier New" pitchFamily="34" charset="0"/>
                <a:ea typeface="Courier New" pitchFamily="34" charset="-122"/>
                <a:cs typeface="Courier New" pitchFamily="34" charset="-120"/>
              </a:rPr>
              <a:t>  ✓ diff_summary_generated     構造的</a:t>
            </a:r>
            <a:endParaRPr lang="en-US" sz="1000" dirty="0"/>
          </a:p>
          <a:p>
            <a:pPr indent="0" marL="0">
              <a:lnSpc>
                <a:spcPts val="1400"/>
              </a:lnSpc>
              <a:buNone/>
            </a:pPr>
            <a:r>
              <a:rPr lang="en-US" sz="1000" dirty="0">
                <a:solidFill>
                  <a:srgbClr val="EDEDE8"/>
                </a:solidFill>
                <a:latin typeface="Courier New" pitchFamily="34" charset="0"/>
                <a:ea typeface="Courier New" pitchFamily="34" charset="-122"/>
                <a:cs typeface="Courier New" pitchFamily="34" charset="-120"/>
              </a:rPr>
              <a:t>  ✓ acceptance_gate_not_failed 上書き可</a:t>
            </a:r>
            <a:endParaRPr lang="en-US" sz="1000" dirty="0"/>
          </a:p>
          <a:p>
            <a:pPr indent="0" marL="0">
              <a:lnSpc>
                <a:spcPts val="1400"/>
              </a:lnSpc>
              <a:buNone/>
            </a:pPr>
            <a:r>
              <a:rPr lang="en-US" sz="1000" dirty="0">
                <a:solidFill>
                  <a:srgbClr val="EDEDE8"/>
                </a:solidFill>
                <a:latin typeface="Courier New" pitchFamily="34" charset="0"/>
                <a:ea typeface="Courier New" pitchFamily="34" charset="-122"/>
                <a:cs typeface="Courier New" pitchFamily="34" charset="-120"/>
              </a:rPr>
              <a:t>  ✓ no_unrelated_diff          上書き可</a:t>
            </a:r>
            <a:endParaRPr lang="en-US" sz="1000" dirty="0"/>
          </a:p>
        </p:txBody>
      </p:sp>
      <p:sp>
        <p:nvSpPr>
          <p:cNvPr id="13" name="Text 11"/>
          <p:cNvSpPr txBox="1"/>
          <p:nvPr/>
        </p:nvSpPr>
        <p:spPr>
          <a:xfrm>
            <a:off x="6355080" y="3154680"/>
            <a:ext cx="5486400" cy="1828800"/>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1C1C1C"/>
                </a:solidFill>
                <a:latin typeface="Calibri" pitchFamily="34" charset="0"/>
                <a:ea typeface="Calibri" pitchFamily="34" charset="-122"/>
                <a:cs typeface="Calibri" pitchFamily="34" charset="-120"/>
              </a:rPr>
              <a:t>構造的な前提は --force でも通らない。diff.md が無ければ accept できない</a:t>
            </a:r>
            <a:endParaRPr lang="en-US" sz="1150" dirty="0"/>
          </a:p>
          <a:p>
            <a:pPr marL="342900" indent="-342900">
              <a:lnSpc>
                <a:spcPts val="1700"/>
              </a:lnSpc>
              <a:spcAft>
                <a:spcPts val="700"/>
              </a:spcAft>
              <a:buSzPct val="100000"/>
              <a:buChar char="•"/>
            </a:pPr>
            <a:r>
              <a:rPr lang="en-US" sz="1150" dirty="0">
                <a:solidFill>
                  <a:srgbClr val="1C1C1C"/>
                </a:solidFill>
                <a:latin typeface="Calibri" pitchFamily="34" charset="0"/>
                <a:ea typeface="Calibri" pitchFamily="34" charset="-122"/>
                <a:cs typeface="Calibri" pitchFamily="34" charset="-120"/>
              </a:rPr>
              <a:t>上書きした場合は forced: true として記録され、消えない</a:t>
            </a:r>
            <a:endParaRPr lang="en-US" sz="1150" dirty="0"/>
          </a:p>
          <a:p>
            <a:pPr marL="342900" indent="-342900">
              <a:lnSpc>
                <a:spcPts val="1700"/>
              </a:lnSpc>
              <a:spcAft>
                <a:spcPts val="700"/>
              </a:spcAft>
              <a:buSzPct val="100000"/>
              <a:buChar char="•"/>
            </a:pPr>
            <a:r>
              <a:rPr lang="en-US" sz="1150" dirty="0">
                <a:solidFill>
                  <a:srgbClr val="1C1C1C"/>
                </a:solidFill>
                <a:latin typeface="Calibri" pitchFamily="34" charset="0"/>
                <a:ea typeface="Calibri" pitchFamily="34" charset="-122"/>
                <a:cs typeface="Calibri" pitchFamily="34" charset="-120"/>
              </a:rPr>
              <a:t>反映は squash merge の staged まで。コミットは常に人間が打つ</a:t>
            </a:r>
            <a:endParaRPr lang="en-US" sz="1150" dirty="0"/>
          </a:p>
          <a:p>
            <a:pPr marL="342900" indent="-342900">
              <a:lnSpc>
                <a:spcPts val="1700"/>
              </a:lnSpc>
              <a:spcAft>
                <a:spcPts val="700"/>
              </a:spcAft>
              <a:buSzPct val="100000"/>
              <a:buChar char="•"/>
            </a:pPr>
            <a:r>
              <a:rPr lang="en-US" sz="1150" dirty="0">
                <a:solidFill>
                  <a:srgbClr val="1C1C1C"/>
                </a:solidFill>
                <a:latin typeface="Calibri" pitchFamily="34" charset="0"/>
                <a:ea typeface="Calibri" pitchFamily="34" charset="-122"/>
                <a:cs typeface="Calibri" pitchFamily="34" charset="-120"/>
              </a:rPr>
              <a:t>discard は変更ファイル一覧を必ず先に見せ、--yes を要求する</a:t>
            </a:r>
            <a:endParaRPr lang="en-US" sz="1150" dirty="0"/>
          </a:p>
        </p:txBody>
      </p:sp>
      <p:sp>
        <p:nvSpPr>
          <p:cNvPr id="14" name="Text 12"/>
          <p:cNvSpPr txBox="1"/>
          <p:nvPr/>
        </p:nvSpPr>
        <p:spPr>
          <a:xfrm>
            <a:off x="502920" y="4480560"/>
            <a:ext cx="5486400" cy="256032"/>
          </a:xfrm>
          <a:prstGeom prst="rect">
            <a:avLst/>
          </a:prstGeom>
          <a:noFill/>
          <a:ln/>
        </p:spPr>
        <p:txBody>
          <a:bodyPr wrap="square" lIns="0" tIns="0" rIns="0" bIns="0" rtlCol="0" anchor="ctr"/>
          <a:lstStyle/>
          <a:p>
            <a:pPr indent="0" marL="0">
              <a:buNone/>
            </a:pPr>
            <a:r>
              <a:rPr lang="en-US" sz="1200" b="1" spc="50" kern="0" dirty="0">
                <a:solidFill>
                  <a:srgbClr val="1F6F5C"/>
                </a:solidFill>
                <a:latin typeface="Arial" pitchFamily="34" charset="0"/>
                <a:ea typeface="Arial" pitchFamily="34" charset="-122"/>
                <a:cs typeface="Arial" pitchFamily="34" charset="-120"/>
              </a:rPr>
              <a:t>中断しても、静かに素の直接作業へ戻らない</a:t>
            </a:r>
            <a:endParaRPr lang="en-US" sz="1200" dirty="0"/>
          </a:p>
        </p:txBody>
      </p:sp>
      <p:sp>
        <p:nvSpPr>
          <p:cNvPr id="15" name="Shape 13"/>
          <p:cNvSpPr/>
          <p:nvPr/>
        </p:nvSpPr>
        <p:spPr>
          <a:xfrm>
            <a:off x="502920" y="4773168"/>
            <a:ext cx="5486400" cy="868680"/>
          </a:xfrm>
          <a:prstGeom prst="roundRect">
            <a:avLst>
              <a:gd name="adj" fmla="val 5263"/>
            </a:avLst>
          </a:prstGeom>
          <a:solidFill>
            <a:srgbClr val="1C1C1C"/>
          </a:solidFill>
          <a:ln w="12700">
            <a:solidFill>
              <a:srgbClr val="1C1C1C"/>
            </a:solidFill>
            <a:prstDash val="solid"/>
          </a:ln>
          <a:effectLst>
            <a:outerShdw sx="100000" sy="100000" kx="0" ky="0" algn="bl" rotWithShape="0" blurRad="101600" dist="12700" dir="5400000">
              <a:srgbClr val="000000">
                <a:alpha val="10000"/>
              </a:srgbClr>
            </a:outerShdw>
          </a:effectLst>
        </p:spPr>
      </p:sp>
      <p:sp>
        <p:nvSpPr>
          <p:cNvPr id="16" name="Text 14"/>
          <p:cNvSpPr txBox="1"/>
          <p:nvPr/>
        </p:nvSpPr>
        <p:spPr>
          <a:xfrm>
            <a:off x="704088" y="4919472"/>
            <a:ext cx="5084064" cy="576072"/>
          </a:xfrm>
          <a:prstGeom prst="rect">
            <a:avLst/>
          </a:prstGeom>
          <a:noFill/>
          <a:ln/>
        </p:spPr>
        <p:txBody>
          <a:bodyPr wrap="square" lIns="0" tIns="0" rIns="0" bIns="0" rtlCol="0" anchor="t"/>
          <a:lstStyle/>
          <a:p>
            <a:pPr indent="0" marL="0">
              <a:lnSpc>
                <a:spcPts val="1300"/>
              </a:lnSpc>
              <a:buNone/>
            </a:pPr>
            <a:r>
              <a:rPr lang="en-US" sz="900" dirty="0">
                <a:solidFill>
                  <a:srgbClr val="EDEDE8"/>
                </a:solidFill>
                <a:latin typeface="Courier New" pitchFamily="34" charset="0"/>
                <a:ea typeface="Courier New" pitchFamily="34" charset="-122"/>
                <a:cs typeface="Courier New" pitchFamily="34" charset="-120"/>
              </a:rPr>
              <a:t>▸ rig | task: rig-20260704-153012-login-fix</a:t>
            </a:r>
            <a:endParaRPr lang="en-US" sz="900" dirty="0"/>
          </a:p>
          <a:p>
            <a:pPr indent="0" marL="0">
              <a:lnSpc>
                <a:spcPts val="1300"/>
              </a:lnSpc>
              <a:buNone/>
            </a:pPr>
            <a:r>
              <a:rPr lang="en-US" sz="900" dirty="0">
                <a:solidFill>
                  <a:srgbClr val="EDEDE8"/>
                </a:solidFill>
                <a:latin typeface="Courier New" pitchFamily="34" charset="0"/>
                <a:ea typeface="Courier New" pitchFamily="34" charset="-122"/>
                <a:cs typeface="Courier New" pitchFamily="34" charset="-120"/>
              </a:rPr>
              <a:t>      | recipe: bugfix | step: test (4/7)</a:t>
            </a:r>
            <a:endParaRPr lang="en-US" sz="900" dirty="0"/>
          </a:p>
          <a:p>
            <a:pPr indent="0" marL="0">
              <a:lnSpc>
                <a:spcPts val="1300"/>
              </a:lnSpc>
              <a:buNone/>
            </a:pPr>
            <a:r>
              <a:rPr lang="en-US" sz="900" dirty="0">
                <a:solidFill>
                  <a:srgbClr val="EDEDE8"/>
                </a:solidFill>
                <a:latin typeface="Courier New" pitchFamily="34" charset="0"/>
                <a:ea typeface="Courier New" pitchFamily="34" charset="-122"/>
                <a:cs typeface="Courier New" pitchFamily="34" charset="-120"/>
              </a:rPr>
              <a:t>      | gate: pending | mode: isolated worktree</a:t>
            </a:r>
            <a:endParaRPr lang="en-US" sz="900" dirty="0"/>
          </a:p>
        </p:txBody>
      </p:sp>
      <p:sp>
        <p:nvSpPr>
          <p:cNvPr id="17" name="Shape 15"/>
          <p:cNvSpPr/>
          <p:nvPr/>
        </p:nvSpPr>
        <p:spPr>
          <a:xfrm>
            <a:off x="6355080" y="4773168"/>
            <a:ext cx="5486400" cy="868680"/>
          </a:xfrm>
          <a:prstGeom prst="roundRect">
            <a:avLst>
              <a:gd name="adj" fmla="val 6316"/>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8" name="Text 16"/>
          <p:cNvSpPr txBox="1"/>
          <p:nvPr/>
        </p:nvSpPr>
        <p:spPr>
          <a:xfrm>
            <a:off x="6611112" y="4956048"/>
            <a:ext cx="497433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文脈圧縮も生き延びる</a:t>
            </a:r>
            <a:endParaRPr lang="en-US" sz="1400" dirty="0"/>
          </a:p>
        </p:txBody>
      </p:sp>
      <p:sp>
        <p:nvSpPr>
          <p:cNvPr id="19" name="Text 17"/>
          <p:cNvSpPr txBox="1"/>
          <p:nvPr/>
        </p:nvSpPr>
        <p:spPr>
          <a:xfrm>
            <a:off x="6611112" y="5340096"/>
            <a:ext cx="4974336" cy="137160"/>
          </a:xfrm>
          <a:prstGeom prst="rect">
            <a:avLst/>
          </a:prstGeom>
          <a:noFill/>
          <a:ln/>
        </p:spPr>
        <p:txBody>
          <a:bodyPr wrap="square" lIns="0" tIns="0" rIns="0" bIns="0" rtlCol="0" anchor="t"/>
          <a:lstStyle/>
          <a:p>
            <a:pPr indent="0" marL="0">
              <a:lnSpc>
                <a:spcPts val="1400"/>
              </a:lnSpc>
              <a:buNone/>
            </a:pPr>
            <a:r>
              <a:rPr lang="en-US" sz="1100" dirty="0">
                <a:solidFill>
                  <a:srgbClr val="5C6166"/>
                </a:solidFill>
                <a:latin typeface="Calibri" pitchFamily="34" charset="0"/>
                <a:ea typeface="Calibri" pitchFamily="34" charset="-122"/>
                <a:cs typeface="Calibri" pitchFamily="34" charset="-120"/>
              </a:rPr>
              <a:t>PreCompact フックが run-state の保全指示を注入し、/rig:init は同じ保全文を CLAUDE.md の Compact Instructions にも置ける。</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N° 09</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中身は四種類のブリック — LEGO のように合成する</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502920" y="1298448"/>
            <a:ext cx="2651760" cy="1828800"/>
          </a:xfrm>
          <a:prstGeom prst="roundRect">
            <a:avLst>
              <a:gd name="adj" fmla="val 3000"/>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7" name="Text 5"/>
          <p:cNvSpPr txBox="1"/>
          <p:nvPr/>
        </p:nvSpPr>
        <p:spPr>
          <a:xfrm>
            <a:off x="758952" y="1481328"/>
            <a:ext cx="2139696" cy="320040"/>
          </a:xfrm>
          <a:prstGeom prst="rect">
            <a:avLst/>
          </a:prstGeom>
          <a:noFill/>
          <a:ln/>
        </p:spPr>
        <p:txBody>
          <a:bodyPr wrap="square" lIns="0" tIns="0" rIns="0" bIns="0" rtlCol="0" anchor="ctr"/>
          <a:lstStyle/>
          <a:p>
            <a:pPr indent="0" marL="0">
              <a:buNone/>
            </a:pPr>
            <a:r>
              <a:rPr lang="en-US" sz="1500" b="1" dirty="0">
                <a:solidFill>
                  <a:srgbClr val="1F6F5C"/>
                </a:solidFill>
                <a:latin typeface="Arial" pitchFamily="34" charset="0"/>
                <a:ea typeface="Arial" pitchFamily="34" charset="-122"/>
                <a:cs typeface="Arial" pitchFamily="34" charset="-120"/>
              </a:rPr>
              <a:t>persona</a:t>
            </a:r>
            <a:endParaRPr lang="en-US" sz="1500" dirty="0"/>
          </a:p>
        </p:txBody>
      </p:sp>
      <p:sp>
        <p:nvSpPr>
          <p:cNvPr id="8" name="Text 6"/>
          <p:cNvSpPr txBox="1"/>
          <p:nvPr/>
        </p:nvSpPr>
        <p:spPr>
          <a:xfrm>
            <a:off x="758952" y="1865376"/>
            <a:ext cx="2139696" cy="1097280"/>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誰が判定するか</a:t>
            </a:r>
            <a:endParaRPr lang="en-US" sz="1100" dirty="0"/>
          </a:p>
          <a:p>
            <a:pPr indent="0" marL="0">
              <a:lnSpc>
                <a:spcPts val="1500"/>
              </a:lnSpc>
              <a:buNone/>
            </a:pPr>
            <a:endParaRPr lang="en-US" sz="1100" dirty="0"/>
          </a:p>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security-reviewer / design-reviewer / test-reviewer …</a:t>
            </a:r>
            <a:endParaRPr lang="en-US" sz="1100" dirty="0"/>
          </a:p>
        </p:txBody>
      </p:sp>
      <p:sp>
        <p:nvSpPr>
          <p:cNvPr id="9" name="Shape 7"/>
          <p:cNvSpPr/>
          <p:nvPr/>
        </p:nvSpPr>
        <p:spPr>
          <a:xfrm>
            <a:off x="3337560" y="1298448"/>
            <a:ext cx="2651760" cy="1828800"/>
          </a:xfrm>
          <a:prstGeom prst="roundRect">
            <a:avLst>
              <a:gd name="adj" fmla="val 3000"/>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0" name="Text 8"/>
          <p:cNvSpPr txBox="1"/>
          <p:nvPr/>
        </p:nvSpPr>
        <p:spPr>
          <a:xfrm>
            <a:off x="3593592" y="1481328"/>
            <a:ext cx="2139696" cy="320040"/>
          </a:xfrm>
          <a:prstGeom prst="rect">
            <a:avLst/>
          </a:prstGeom>
          <a:noFill/>
          <a:ln/>
        </p:spPr>
        <p:txBody>
          <a:bodyPr wrap="square" lIns="0" tIns="0" rIns="0" bIns="0" rtlCol="0" anchor="ctr"/>
          <a:lstStyle/>
          <a:p>
            <a:pPr indent="0" marL="0">
              <a:buNone/>
            </a:pPr>
            <a:r>
              <a:rPr lang="en-US" sz="1500" b="1" dirty="0">
                <a:solidFill>
                  <a:srgbClr val="1F6F5C"/>
                </a:solidFill>
                <a:latin typeface="Arial" pitchFamily="34" charset="0"/>
                <a:ea typeface="Arial" pitchFamily="34" charset="-122"/>
                <a:cs typeface="Arial" pitchFamily="34" charset="-120"/>
              </a:rPr>
              <a:t>instruction</a:t>
            </a:r>
            <a:endParaRPr lang="en-US" sz="1500" dirty="0"/>
          </a:p>
        </p:txBody>
      </p:sp>
      <p:sp>
        <p:nvSpPr>
          <p:cNvPr id="11" name="Text 9"/>
          <p:cNvSpPr txBox="1"/>
          <p:nvPr/>
        </p:nvSpPr>
        <p:spPr>
          <a:xfrm>
            <a:off x="3593592" y="1865376"/>
            <a:ext cx="2139696" cy="1097280"/>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何をするか</a:t>
            </a:r>
            <a:endParaRPr lang="en-US" sz="1100" dirty="0"/>
          </a:p>
          <a:p>
            <a:pPr indent="0" marL="0">
              <a:lnSpc>
                <a:spcPts val="1500"/>
              </a:lnSpc>
              <a:buNone/>
            </a:pPr>
            <a:endParaRPr lang="en-US" sz="1100" dirty="0"/>
          </a:p>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手順そのもの。薄く保たれ、エンジンには触れない</a:t>
            </a:r>
            <a:endParaRPr lang="en-US" sz="1100" dirty="0"/>
          </a:p>
        </p:txBody>
      </p:sp>
      <p:sp>
        <p:nvSpPr>
          <p:cNvPr id="12" name="Shape 10"/>
          <p:cNvSpPr/>
          <p:nvPr/>
        </p:nvSpPr>
        <p:spPr>
          <a:xfrm>
            <a:off x="6172200" y="1298448"/>
            <a:ext cx="2651760" cy="1828800"/>
          </a:xfrm>
          <a:prstGeom prst="roundRect">
            <a:avLst>
              <a:gd name="adj" fmla="val 3000"/>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3" name="Text 11"/>
          <p:cNvSpPr txBox="1"/>
          <p:nvPr/>
        </p:nvSpPr>
        <p:spPr>
          <a:xfrm>
            <a:off x="6428232" y="1481328"/>
            <a:ext cx="2139696" cy="320040"/>
          </a:xfrm>
          <a:prstGeom prst="rect">
            <a:avLst/>
          </a:prstGeom>
          <a:noFill/>
          <a:ln/>
        </p:spPr>
        <p:txBody>
          <a:bodyPr wrap="square" lIns="0" tIns="0" rIns="0" bIns="0" rtlCol="0" anchor="ctr"/>
          <a:lstStyle/>
          <a:p>
            <a:pPr indent="0" marL="0">
              <a:buNone/>
            </a:pPr>
            <a:r>
              <a:rPr lang="en-US" sz="1500" b="1" dirty="0">
                <a:solidFill>
                  <a:srgbClr val="1F6F5C"/>
                </a:solidFill>
                <a:latin typeface="Arial" pitchFamily="34" charset="0"/>
                <a:ea typeface="Arial" pitchFamily="34" charset="-122"/>
                <a:cs typeface="Arial" pitchFamily="34" charset="-120"/>
              </a:rPr>
              <a:t>pattern</a:t>
            </a:r>
            <a:endParaRPr lang="en-US" sz="1500" dirty="0"/>
          </a:p>
        </p:txBody>
      </p:sp>
      <p:sp>
        <p:nvSpPr>
          <p:cNvPr id="14" name="Text 12"/>
          <p:cNvSpPr txBox="1"/>
          <p:nvPr/>
        </p:nvSpPr>
        <p:spPr>
          <a:xfrm>
            <a:off x="6428232" y="1865376"/>
            <a:ext cx="2139696" cy="1097280"/>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どう分配し、どうゲートするか</a:t>
            </a:r>
            <a:endParaRPr lang="en-US" sz="1100" dirty="0"/>
          </a:p>
          <a:p>
            <a:pPr indent="0" marL="0">
              <a:lnSpc>
                <a:spcPts val="1500"/>
              </a:lnSpc>
              <a:buNone/>
            </a:pPr>
            <a:endParaRPr lang="en-US" sz="1100" dirty="0"/>
          </a:p>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isolated-worktree / acceptance-gate / serial</a:t>
            </a:r>
            <a:endParaRPr lang="en-US" sz="1100" dirty="0"/>
          </a:p>
        </p:txBody>
      </p:sp>
      <p:sp>
        <p:nvSpPr>
          <p:cNvPr id="15" name="Shape 13"/>
          <p:cNvSpPr/>
          <p:nvPr/>
        </p:nvSpPr>
        <p:spPr>
          <a:xfrm>
            <a:off x="9006840" y="1298448"/>
            <a:ext cx="2651760" cy="1828800"/>
          </a:xfrm>
          <a:prstGeom prst="roundRect">
            <a:avLst>
              <a:gd name="adj" fmla="val 3000"/>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6" name="Text 14"/>
          <p:cNvSpPr txBox="1"/>
          <p:nvPr/>
        </p:nvSpPr>
        <p:spPr>
          <a:xfrm>
            <a:off x="9262872" y="1481328"/>
            <a:ext cx="2139696" cy="320040"/>
          </a:xfrm>
          <a:prstGeom prst="rect">
            <a:avLst/>
          </a:prstGeom>
          <a:noFill/>
          <a:ln/>
        </p:spPr>
        <p:txBody>
          <a:bodyPr wrap="square" lIns="0" tIns="0" rIns="0" bIns="0" rtlCol="0" anchor="ctr"/>
          <a:lstStyle/>
          <a:p>
            <a:pPr indent="0" marL="0">
              <a:buNone/>
            </a:pPr>
            <a:r>
              <a:rPr lang="en-US" sz="1500" b="1" dirty="0">
                <a:solidFill>
                  <a:srgbClr val="1F6F5C"/>
                </a:solidFill>
                <a:latin typeface="Arial" pitchFamily="34" charset="0"/>
                <a:ea typeface="Arial" pitchFamily="34" charset="-122"/>
                <a:cs typeface="Arial" pitchFamily="34" charset="-120"/>
              </a:rPr>
              <a:t>recipe</a:t>
            </a:r>
            <a:endParaRPr lang="en-US" sz="1500" dirty="0"/>
          </a:p>
        </p:txBody>
      </p:sp>
      <p:sp>
        <p:nvSpPr>
          <p:cNvPr id="17" name="Text 15"/>
          <p:cNvSpPr txBox="1"/>
          <p:nvPr/>
        </p:nvSpPr>
        <p:spPr>
          <a:xfrm>
            <a:off x="9262872" y="1865376"/>
            <a:ext cx="2139696" cy="1097280"/>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step の束</a:t>
            </a:r>
            <a:endParaRPr lang="en-US" sz="1100" dirty="0"/>
          </a:p>
          <a:p>
            <a:pPr indent="0" marL="0">
              <a:lnSpc>
                <a:spcPts val="1500"/>
              </a:lnSpc>
              <a:buNone/>
            </a:pPr>
            <a:endParaRPr lang="en-US" sz="1100" dirty="0"/>
          </a:p>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bugfix / feature / review-only / release-flow / hotfix</a:t>
            </a:r>
            <a:endParaRPr lang="en-US" sz="1100" dirty="0"/>
          </a:p>
        </p:txBody>
      </p:sp>
      <p:sp>
        <p:nvSpPr>
          <p:cNvPr id="18" name="Text 16"/>
          <p:cNvSpPr txBox="1"/>
          <p:nvPr/>
        </p:nvSpPr>
        <p:spPr>
          <a:xfrm>
            <a:off x="502920" y="3291840"/>
            <a:ext cx="11155680" cy="274320"/>
          </a:xfrm>
          <a:prstGeom prst="rect">
            <a:avLst/>
          </a:prstGeom>
          <a:noFill/>
          <a:ln/>
        </p:spPr>
        <p:txBody>
          <a:bodyPr wrap="square" lIns="0" tIns="0" rIns="0" bIns="0" rtlCol="0" anchor="ctr"/>
          <a:lstStyle/>
          <a:p>
            <a:pPr indent="0" marL="0">
              <a:buNone/>
            </a:pPr>
            <a:r>
              <a:rPr lang="en-US" sz="1200" dirty="0">
                <a:solidFill>
                  <a:srgbClr val="1C1C1C"/>
                </a:solidFill>
                <a:latin typeface="Calibri" pitchFamily="34" charset="0"/>
                <a:ea typeface="Calibri" pitchFamily="34" charset="-122"/>
                <a:cs typeface="Calibri" pitchFamily="34" charset="-120"/>
              </a:rPr>
              <a:t>/rig:go はこの組み立てを自動でやる。/rig:dev は同じエンジンを recipe・step・flag すべて明示して使う上級者向けの入口。</a:t>
            </a:r>
            <a:endParaRPr lang="en-US" sz="1200" dirty="0"/>
          </a:p>
        </p:txBody>
      </p:sp>
      <p:sp>
        <p:nvSpPr>
          <p:cNvPr id="19" name="Shape 17"/>
          <p:cNvSpPr/>
          <p:nvPr/>
        </p:nvSpPr>
        <p:spPr>
          <a:xfrm>
            <a:off x="502920" y="3657600"/>
            <a:ext cx="5852160" cy="1417320"/>
          </a:xfrm>
          <a:prstGeom prst="roundRect">
            <a:avLst>
              <a:gd name="adj" fmla="val 3226"/>
            </a:avLst>
          </a:prstGeom>
          <a:solidFill>
            <a:srgbClr val="1C1C1C"/>
          </a:solidFill>
          <a:ln w="12700">
            <a:solidFill>
              <a:srgbClr val="1C1C1C"/>
            </a:solidFill>
            <a:prstDash val="solid"/>
          </a:ln>
          <a:effectLst>
            <a:outerShdw sx="100000" sy="100000" kx="0" ky="0" algn="bl" rotWithShape="0" blurRad="101600" dist="12700" dir="5400000">
              <a:srgbClr val="000000">
                <a:alpha val="10000"/>
              </a:srgbClr>
            </a:outerShdw>
          </a:effectLst>
        </p:spPr>
      </p:sp>
      <p:sp>
        <p:nvSpPr>
          <p:cNvPr id="20" name="Text 18"/>
          <p:cNvSpPr txBox="1"/>
          <p:nvPr/>
        </p:nvSpPr>
        <p:spPr>
          <a:xfrm>
            <a:off x="704088" y="3803904"/>
            <a:ext cx="5449824" cy="1124712"/>
          </a:xfrm>
          <a:prstGeom prst="rect">
            <a:avLst/>
          </a:prstGeom>
          <a:noFill/>
          <a:ln/>
        </p:spPr>
        <p:txBody>
          <a:bodyPr wrap="square" lIns="0" tIns="0" rIns="0" bIns="0" rtlCol="0" anchor="t"/>
          <a:lstStyle/>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/rig:dev --plan --only review "現在の変更"</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/rig:dev --recipe release-flow --design "機能X"</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/rig:dev --recipe hotfix --issue 1234</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/rig:dev --list        # 全 tier の recipe</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720840" y="3657600"/>
          <a:ext cx="4937760" cy="914400"/>
        </p:xfrm>
        <a:graphic>
          <a:graphicData uri="http://schemas.openxmlformats.org/drawingml/2006/table">
            <a:tbl>
              <a:tblPr/>
              <a:tblGrid>
                <a:gridCol w="1737360"/>
                <a:gridCol w="3200400"/>
              </a:tblGrid>
              <a:tr h="283464">
                <a:tc>
                  <a:txBody>
                    <a:bodyPr/>
                    <a:lstStyle/>
                    <a:p>
                      <a:pPr indent="0" marL="0">
                        <a:buNone/>
                      </a:pPr>
                      <a:r>
                        <a:rPr lang="en-US" sz="1050" b="1" dirty="0">
                          <a:solidFill>
                            <a:srgbClr val="FFFFFF"/>
                          </a:solidFill>
                          <a:latin typeface="Arial" pitchFamily="34" charset="0"/>
                          <a:ea typeface="Arial" pitchFamily="34" charset="-122"/>
                          <a:cs typeface="Arial" pitchFamily="34" charset="-120"/>
                        </a:rPr>
                        <a:t>主な flag</a:t>
                      </a:r>
                      <a:endParaRPr lang="en-US" sz="1050" dirty="0">
                        <a:latin typeface="Arial" charset="0"/>
                        <a:ea typeface="Arial" charset="0"/>
                        <a:cs typeface="Arial"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1C1C1C"/>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意味</a:t>
                      </a:r>
                      <a:endParaRPr lang="en-US" sz="1050" dirty="0">
                        <a:latin typeface="Arial" charset="0"/>
                        <a:ea typeface="Arial" charset="0"/>
                        <a:cs typeface="Arial"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1C1C1C"/>
                    </a:solidFill>
                  </a:tcPr>
                </a:tc>
              </a:tr>
              <a:tr h="283464">
                <a:tc>
                  <a:txBody>
                    <a:bodyPr/>
                    <a:lstStyle/>
                    <a:p>
                      <a:pPr indent="0" marL="0">
                        <a:buNone/>
                      </a:pPr>
                      <a:r>
                        <a:rPr lang="en-US" sz="1000" b="1" dirty="0">
                          <a:solidFill>
                            <a:srgbClr val="1C1C1C"/>
                          </a:solidFill>
                          <a:latin typeface="Courier New" pitchFamily="34" charset="0"/>
                          <a:ea typeface="Courier New" pitchFamily="34" charset="-122"/>
                          <a:cs typeface="Courier New" pitchFamily="34" charset="-120"/>
                        </a:rPr>
                        <a:t>--adversarial</a:t>
                      </a:r>
                      <a:endParaRPr lang="en-US" sz="1000" dirty="0">
                        <a:latin typeface="Courier New" charset="0"/>
                        <a:ea typeface="Courier New" charset="0"/>
                        <a:cs typeface="Courier New"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00" dirty="0">
                          <a:solidFill>
                            <a:srgbClr val="5C6166"/>
                          </a:solidFill>
                          <a:latin typeface="Calibri" pitchFamily="34" charset="0"/>
                          <a:ea typeface="Calibri" pitchFamily="34" charset="-122"/>
                          <a:cs typeface="Calibri" pitchFamily="34" charset="-120"/>
                        </a:rPr>
                        <a:t>敵対的レビュー step を追加</a:t>
                      </a:r>
                      <a:endParaRPr lang="en-US" sz="100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r>
              <a:tr h="283464">
                <a:tc>
                  <a:txBody>
                    <a:bodyPr/>
                    <a:lstStyle/>
                    <a:p>
                      <a:pPr indent="0" marL="0">
                        <a:buNone/>
                      </a:pPr>
                      <a:r>
                        <a:rPr lang="en-US" sz="1000" b="1" dirty="0">
                          <a:solidFill>
                            <a:srgbClr val="1C1C1C"/>
                          </a:solidFill>
                          <a:latin typeface="Courier New" pitchFamily="34" charset="0"/>
                          <a:ea typeface="Courier New" pitchFamily="34" charset="-122"/>
                          <a:cs typeface="Courier New" pitchFamily="34" charset="-120"/>
                        </a:rPr>
                        <a:t>--persona &lt;name&gt;</a:t>
                      </a:r>
                      <a:endParaRPr lang="en-US" sz="1000" dirty="0">
                        <a:latin typeface="Courier New" charset="0"/>
                        <a:ea typeface="Courier New" charset="0"/>
                        <a:cs typeface="Courier New"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00" dirty="0">
                          <a:solidFill>
                            <a:srgbClr val="5C6166"/>
                          </a:solidFill>
                          <a:latin typeface="Calibri" pitchFamily="34" charset="0"/>
                          <a:ea typeface="Calibri" pitchFamily="34" charset="-122"/>
                          <a:cs typeface="Calibri" pitchFamily="34" charset="-120"/>
                        </a:rPr>
                        <a:t>カスタム reviewer を fan-out に追加</a:t>
                      </a:r>
                      <a:endParaRPr lang="en-US" sz="100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r>
              <a:tr h="283464">
                <a:tc>
                  <a:txBody>
                    <a:bodyPr/>
                    <a:lstStyle/>
                    <a:p>
                      <a:pPr indent="0" marL="0">
                        <a:buNone/>
                      </a:pPr>
                      <a:r>
                        <a:rPr lang="en-US" sz="1000" b="1" dirty="0">
                          <a:solidFill>
                            <a:srgbClr val="1C1C1C"/>
                          </a:solidFill>
                          <a:latin typeface="Courier New" pitchFamily="34" charset="0"/>
                          <a:ea typeface="Courier New" pitchFamily="34" charset="-122"/>
                          <a:cs typeface="Courier New" pitchFamily="34" charset="-120"/>
                        </a:rPr>
                        <a:t>--verify-findings</a:t>
                      </a:r>
                      <a:endParaRPr lang="en-US" sz="1000" dirty="0">
                        <a:latin typeface="Courier New" charset="0"/>
                        <a:ea typeface="Courier New" charset="0"/>
                        <a:cs typeface="Courier New"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00" dirty="0">
                          <a:solidFill>
                            <a:srgbClr val="5C6166"/>
                          </a:solidFill>
                          <a:latin typeface="Calibri" pitchFamily="34" charset="0"/>
                          <a:ea typeface="Calibri" pitchFamily="34" charset="-122"/>
                          <a:cs typeface="Calibri" pitchFamily="34" charset="-120"/>
                        </a:rPr>
                        <a:t>REJECT 根拠を独立に敵対的検証</a:t>
                      </a:r>
                      <a:endParaRPr lang="en-US" sz="100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r>
              <a:tr h="283464">
                <a:tc>
                  <a:txBody>
                    <a:bodyPr/>
                    <a:lstStyle/>
                    <a:p>
                      <a:pPr indent="0" marL="0">
                        <a:buNone/>
                      </a:pPr>
                      <a:r>
                        <a:rPr lang="en-US" sz="1000" b="1" dirty="0">
                          <a:solidFill>
                            <a:srgbClr val="1C1C1C"/>
                          </a:solidFill>
                          <a:latin typeface="Courier New" pitchFamily="34" charset="0"/>
                          <a:ea typeface="Courier New" pitchFamily="34" charset="-122"/>
                          <a:cs typeface="Courier New" pitchFamily="34" charset="-120"/>
                        </a:rPr>
                        <a:t>--autonomous</a:t>
                      </a:r>
                      <a:endParaRPr lang="en-US" sz="1000" dirty="0">
                        <a:latin typeface="Courier New" charset="0"/>
                        <a:ea typeface="Courier New" charset="0"/>
                        <a:cs typeface="Courier New"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00" dirty="0">
                          <a:solidFill>
                            <a:srgbClr val="5C6166"/>
                          </a:solidFill>
                          <a:latin typeface="Calibri" pitchFamily="34" charset="0"/>
                          <a:ea typeface="Calibri" pitchFamily="34" charset="-122"/>
                          <a:cs typeface="Calibri" pitchFamily="34" charset="-120"/>
                        </a:rPr>
                        <a:t>step ゲートを省略（acceptance-gate は残る）</a:t>
                      </a:r>
                      <a:endParaRPr lang="en-US" sz="100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r>
            </a:tbl>
          </a:graphicData>
        </a:graphic>
      </p:graphicFrame>
      <p:sp>
        <p:nvSpPr>
          <p:cNvPr id="22" name="Text 19"/>
          <p:cNvSpPr txBox="1"/>
          <p:nvPr/>
        </p:nvSpPr>
        <p:spPr>
          <a:xfrm>
            <a:off x="502920" y="5257800"/>
            <a:ext cx="11155680" cy="274320"/>
          </a:xfrm>
          <a:prstGeom prst="rect">
            <a:avLst/>
          </a:prstGeom>
          <a:noFill/>
          <a:ln/>
        </p:spPr>
        <p:txBody>
          <a:bodyPr wrap="square" lIns="0" tIns="0" rIns="0" bIns="0" rtlCol="0" anchor="ctr"/>
          <a:lstStyle/>
          <a:p>
            <a:pPr indent="0" marL="0">
              <a:buNone/>
            </a:pPr>
            <a:r>
              <a:rPr lang="en-US" sz="1000" dirty="0">
                <a:solidFill>
                  <a:srgbClr val="5C6166"/>
                </a:solidFill>
                <a:latin typeface="Calibri" pitchFamily="34" charset="0"/>
                <a:ea typeface="Calibri" pitchFamily="34" charset="-122"/>
                <a:cs typeface="Calibri" pitchFamily="34" charset="-120"/>
              </a:rPr>
              <a:t>flag とブリックの完全な一覧は skills/engine/SKILL.md が正本（README には複製しない＝目録ドリフト防止）。</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N° 10</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レビュアーは、測れる</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20</a:t>
            </a:r>
            <a:endParaRPr lang="en-US" sz="900" dirty="0"/>
          </a:p>
        </p:txBody>
      </p:sp>
      <p:sp>
        <p:nvSpPr>
          <p:cNvPr id="6" name="Text 4"/>
          <p:cNvSpPr txBox="1"/>
          <p:nvPr/>
        </p:nvSpPr>
        <p:spPr>
          <a:xfrm>
            <a:off x="502920" y="1280160"/>
            <a:ext cx="11155680" cy="320040"/>
          </a:xfrm>
          <a:prstGeom prst="rect">
            <a:avLst/>
          </a:prstGeom>
          <a:noFill/>
          <a:ln/>
        </p:spPr>
        <p:txBody>
          <a:bodyPr wrap="square" lIns="0" tIns="0" rIns="0" bIns="0" rtlCol="0" anchor="ctr"/>
          <a:lstStyle/>
          <a:p>
            <a:pPr indent="0" marL="0">
              <a:buNone/>
            </a:pPr>
            <a:r>
              <a:rPr lang="en-US" sz="1250" dirty="0">
                <a:solidFill>
                  <a:srgbClr val="1C1C1C"/>
                </a:solidFill>
                <a:latin typeface="Calibri" pitchFamily="34" charset="0"/>
                <a:ea typeface="Calibri" pitchFamily="34" charset="-122"/>
                <a:cs typeface="Calibri" pitchFamily="34" charset="-120"/>
              </a:rPr>
              <a:t>reviewer persona は単なるプロンプトではない。既知のバグを使い捨ての diff に注入し、レビューを走らせ、reviewer には見せない答案キーと突き合わせて採点する。</a:t>
            </a:r>
            <a:endParaRPr lang="en-US" sz="1250" dirty="0"/>
          </a:p>
        </p:txBody>
      </p:sp>
      <p:sp>
        <p:nvSpPr>
          <p:cNvPr id="7" name="Shape 5"/>
          <p:cNvSpPr/>
          <p:nvPr/>
        </p:nvSpPr>
        <p:spPr>
          <a:xfrm>
            <a:off x="502920" y="1737360"/>
            <a:ext cx="1691640" cy="1234440"/>
          </a:xfrm>
          <a:prstGeom prst="roundRect">
            <a:avLst>
              <a:gd name="adj" fmla="val 4444"/>
            </a:avLst>
          </a:prstGeom>
          <a:solidFill>
            <a:srgbClr val="E7EFEB"/>
          </a:solidFill>
          <a:ln w="6350">
            <a:solidFill>
              <a:srgbClr val="E7EFEB"/>
            </a:solidFill>
            <a:prstDash val="solid"/>
          </a:ln>
          <a:effectLst>
            <a:outerShdw sx="100000" sy="100000" kx="0" ky="0" algn="bl" rotWithShape="0" blurRad="101600" dist="12700" dir="5400000">
              <a:srgbClr val="000000">
                <a:alpha val="10000"/>
              </a:srgbClr>
            </a:outerShdw>
          </a:effectLst>
        </p:spPr>
      </p:sp>
      <p:sp>
        <p:nvSpPr>
          <p:cNvPr id="8" name="Text 6"/>
          <p:cNvSpPr txBox="1"/>
          <p:nvPr/>
        </p:nvSpPr>
        <p:spPr>
          <a:xfrm>
            <a:off x="502920" y="1847088"/>
            <a:ext cx="1691640" cy="548640"/>
          </a:xfrm>
          <a:prstGeom prst="rect">
            <a:avLst/>
          </a:prstGeom>
          <a:noFill/>
          <a:ln/>
        </p:spPr>
        <p:txBody>
          <a:bodyPr wrap="square" lIns="0" tIns="0" rIns="0" bIns="0" rtlCol="0" anchor="ctr"/>
          <a:lstStyle/>
          <a:p>
            <a:pPr algn="ctr" indent="0" marL="0">
              <a:buNone/>
            </a:pPr>
            <a:r>
              <a:rPr lang="en-US" sz="3000" b="1" dirty="0">
                <a:solidFill>
                  <a:srgbClr val="1F6F5C"/>
                </a:solidFill>
                <a:latin typeface="Arial" pitchFamily="34" charset="0"/>
                <a:ea typeface="Arial" pitchFamily="34" charset="-122"/>
                <a:cs typeface="Arial" pitchFamily="34" charset="-120"/>
              </a:rPr>
              <a:t>82%</a:t>
            </a:r>
            <a:endParaRPr lang="en-US" sz="3000" dirty="0"/>
          </a:p>
        </p:txBody>
      </p:sp>
      <p:sp>
        <p:nvSpPr>
          <p:cNvPr id="9" name="Text 7"/>
          <p:cNvSpPr txBox="1"/>
          <p:nvPr/>
        </p:nvSpPr>
        <p:spPr>
          <a:xfrm>
            <a:off x="502920" y="2432304"/>
            <a:ext cx="1691640" cy="274320"/>
          </a:xfrm>
          <a:prstGeom prst="rect">
            <a:avLst/>
          </a:prstGeom>
          <a:noFill/>
          <a:ln/>
        </p:spPr>
        <p:txBody>
          <a:bodyPr wrap="square" lIns="0" tIns="0" rIns="0" bIns="0" rtlCol="0" anchor="ctr"/>
          <a:lstStyle/>
          <a:p>
            <a:pPr algn="ctr" indent="0" marL="0">
              <a:buNone/>
            </a:pPr>
            <a:r>
              <a:rPr lang="en-US" sz="1100" dirty="0">
                <a:solidFill>
                  <a:srgbClr val="5C6166"/>
                </a:solidFill>
                <a:latin typeface="Calibri" pitchFamily="34" charset="0"/>
                <a:ea typeface="Calibri" pitchFamily="34" charset="-122"/>
                <a:cs typeface="Calibri" pitchFamily="34" charset="-120"/>
              </a:rPr>
              <a:t>検出率</a:t>
            </a:r>
            <a:endParaRPr lang="en-US" sz="1100" dirty="0"/>
          </a:p>
        </p:txBody>
      </p:sp>
      <p:sp>
        <p:nvSpPr>
          <p:cNvPr id="10" name="Shape 8"/>
          <p:cNvSpPr/>
          <p:nvPr/>
        </p:nvSpPr>
        <p:spPr>
          <a:xfrm>
            <a:off x="2331720" y="1737360"/>
            <a:ext cx="1691640" cy="1234440"/>
          </a:xfrm>
          <a:prstGeom prst="roundRect">
            <a:avLst>
              <a:gd name="adj" fmla="val 4444"/>
            </a:avLst>
          </a:prstGeom>
          <a:solidFill>
            <a:srgbClr val="E7EFEB"/>
          </a:solidFill>
          <a:ln w="6350">
            <a:solidFill>
              <a:srgbClr val="E7EFEB"/>
            </a:solidFill>
            <a:prstDash val="solid"/>
          </a:ln>
          <a:effectLst>
            <a:outerShdw sx="100000" sy="100000" kx="0" ky="0" algn="bl" rotWithShape="0" blurRad="101600" dist="12700" dir="5400000">
              <a:srgbClr val="000000">
                <a:alpha val="10000"/>
              </a:srgbClr>
            </a:outerShdw>
          </a:effectLst>
        </p:spPr>
      </p:sp>
      <p:sp>
        <p:nvSpPr>
          <p:cNvPr id="11" name="Text 9"/>
          <p:cNvSpPr txBox="1"/>
          <p:nvPr/>
        </p:nvSpPr>
        <p:spPr>
          <a:xfrm>
            <a:off x="2331720" y="1847088"/>
            <a:ext cx="1691640" cy="548640"/>
          </a:xfrm>
          <a:prstGeom prst="rect">
            <a:avLst/>
          </a:prstGeom>
          <a:noFill/>
          <a:ln/>
        </p:spPr>
        <p:txBody>
          <a:bodyPr wrap="square" lIns="0" tIns="0" rIns="0" bIns="0" rtlCol="0" anchor="ctr"/>
          <a:lstStyle/>
          <a:p>
            <a:pPr algn="ctr" indent="0" marL="0">
              <a:buNone/>
            </a:pPr>
            <a:r>
              <a:rPr lang="en-US" sz="3000" b="1" dirty="0">
                <a:solidFill>
                  <a:srgbClr val="1F6F5C"/>
                </a:solidFill>
                <a:latin typeface="Arial" pitchFamily="34" charset="0"/>
                <a:ea typeface="Arial" pitchFamily="34" charset="-122"/>
                <a:cs typeface="Arial" pitchFamily="34" charset="-120"/>
              </a:rPr>
              <a:t>12%</a:t>
            </a:r>
            <a:endParaRPr lang="en-US" sz="3000" dirty="0"/>
          </a:p>
        </p:txBody>
      </p:sp>
      <p:sp>
        <p:nvSpPr>
          <p:cNvPr id="12" name="Text 10"/>
          <p:cNvSpPr txBox="1"/>
          <p:nvPr/>
        </p:nvSpPr>
        <p:spPr>
          <a:xfrm>
            <a:off x="2331720" y="2432304"/>
            <a:ext cx="1691640" cy="274320"/>
          </a:xfrm>
          <a:prstGeom prst="rect">
            <a:avLst/>
          </a:prstGeom>
          <a:noFill/>
          <a:ln/>
        </p:spPr>
        <p:txBody>
          <a:bodyPr wrap="square" lIns="0" tIns="0" rIns="0" bIns="0" rtlCol="0" anchor="ctr"/>
          <a:lstStyle/>
          <a:p>
            <a:pPr algn="ctr" indent="0" marL="0">
              <a:buNone/>
            </a:pPr>
            <a:r>
              <a:rPr lang="en-US" sz="1100" dirty="0">
                <a:solidFill>
                  <a:srgbClr val="5C6166"/>
                </a:solidFill>
                <a:latin typeface="Calibri" pitchFamily="34" charset="0"/>
                <a:ea typeface="Calibri" pitchFamily="34" charset="-122"/>
                <a:cs typeface="Calibri" pitchFamily="34" charset="-120"/>
              </a:rPr>
              <a:t>誤検知率</a:t>
            </a:r>
            <a:endParaRPr lang="en-US" sz="1100" dirty="0"/>
          </a:p>
        </p:txBody>
      </p:sp>
      <p:sp>
        <p:nvSpPr>
          <p:cNvPr id="13" name="Shape 11"/>
          <p:cNvSpPr/>
          <p:nvPr/>
        </p:nvSpPr>
        <p:spPr>
          <a:xfrm>
            <a:off x="4160520" y="1737360"/>
            <a:ext cx="1691640" cy="1234440"/>
          </a:xfrm>
          <a:prstGeom prst="roundRect">
            <a:avLst>
              <a:gd name="adj" fmla="val 4444"/>
            </a:avLst>
          </a:prstGeom>
          <a:solidFill>
            <a:srgbClr val="E7EFEB"/>
          </a:solidFill>
          <a:ln w="6350">
            <a:solidFill>
              <a:srgbClr val="E7EFEB"/>
            </a:solidFill>
            <a:prstDash val="solid"/>
          </a:ln>
          <a:effectLst>
            <a:outerShdw sx="100000" sy="100000" kx="0" ky="0" algn="bl" rotWithShape="0" blurRad="101600" dist="12700" dir="5400000">
              <a:srgbClr val="000000">
                <a:alpha val="10000"/>
              </a:srgbClr>
            </a:outerShdw>
          </a:effectLst>
        </p:spPr>
      </p:sp>
      <p:sp>
        <p:nvSpPr>
          <p:cNvPr id="14" name="Text 12"/>
          <p:cNvSpPr txBox="1"/>
          <p:nvPr/>
        </p:nvSpPr>
        <p:spPr>
          <a:xfrm>
            <a:off x="4160520" y="1847088"/>
            <a:ext cx="1691640" cy="548640"/>
          </a:xfrm>
          <a:prstGeom prst="rect">
            <a:avLst/>
          </a:prstGeom>
          <a:noFill/>
          <a:ln/>
        </p:spPr>
        <p:txBody>
          <a:bodyPr wrap="square" lIns="0" tIns="0" rIns="0" bIns="0" rtlCol="0" anchor="ctr"/>
          <a:lstStyle/>
          <a:p>
            <a:pPr algn="ctr" indent="0" marL="0">
              <a:buNone/>
            </a:pPr>
            <a:r>
              <a:rPr lang="en-US" sz="3000" b="1" dirty="0">
                <a:solidFill>
                  <a:srgbClr val="1F6F5C"/>
                </a:solidFill>
                <a:latin typeface="Arial" pitchFamily="34" charset="0"/>
                <a:ea typeface="Arial" pitchFamily="34" charset="-122"/>
                <a:cs typeface="Arial" pitchFamily="34" charset="-120"/>
              </a:rPr>
              <a:t>76%</a:t>
            </a:r>
            <a:endParaRPr lang="en-US" sz="3000" dirty="0"/>
          </a:p>
        </p:txBody>
      </p:sp>
      <p:sp>
        <p:nvSpPr>
          <p:cNvPr id="15" name="Text 13"/>
          <p:cNvSpPr txBox="1"/>
          <p:nvPr/>
        </p:nvSpPr>
        <p:spPr>
          <a:xfrm>
            <a:off x="4160520" y="2432304"/>
            <a:ext cx="1691640" cy="274320"/>
          </a:xfrm>
          <a:prstGeom prst="rect">
            <a:avLst/>
          </a:prstGeom>
          <a:noFill/>
          <a:ln/>
        </p:spPr>
        <p:txBody>
          <a:bodyPr wrap="square" lIns="0" tIns="0" rIns="0" bIns="0" rtlCol="0" anchor="ctr"/>
          <a:lstStyle/>
          <a:p>
            <a:pPr algn="ctr" indent="0" marL="0">
              <a:buNone/>
            </a:pPr>
            <a:r>
              <a:rPr lang="en-US" sz="1100" dirty="0">
                <a:solidFill>
                  <a:srgbClr val="5C6166"/>
                </a:solidFill>
                <a:latin typeface="Calibri" pitchFamily="34" charset="0"/>
                <a:ea typeface="Calibri" pitchFamily="34" charset="-122"/>
                <a:cs typeface="Calibri" pitchFamily="34" charset="-120"/>
              </a:rPr>
              <a:t>重大度の精度</a:t>
            </a:r>
            <a:endParaRPr lang="en-US" sz="1100" dirty="0"/>
          </a:p>
        </p:txBody>
      </p:sp>
      <p:sp>
        <p:nvSpPr>
          <p:cNvPr id="16" name="Shape 14"/>
          <p:cNvSpPr/>
          <p:nvPr/>
        </p:nvSpPr>
        <p:spPr>
          <a:xfrm>
            <a:off x="5989320" y="1737360"/>
            <a:ext cx="1691640" cy="1234440"/>
          </a:xfrm>
          <a:prstGeom prst="roundRect">
            <a:avLst>
              <a:gd name="adj" fmla="val 4444"/>
            </a:avLst>
          </a:prstGeom>
          <a:solidFill>
            <a:srgbClr val="E7EFEB"/>
          </a:solidFill>
          <a:ln w="6350">
            <a:solidFill>
              <a:srgbClr val="E7EFEB"/>
            </a:solidFill>
            <a:prstDash val="solid"/>
          </a:ln>
          <a:effectLst>
            <a:outerShdw sx="100000" sy="100000" kx="0" ky="0" algn="bl" rotWithShape="0" blurRad="101600" dist="12700" dir="5400000">
              <a:srgbClr val="000000">
                <a:alpha val="10000"/>
              </a:srgbClr>
            </a:outerShdw>
          </a:effectLst>
        </p:spPr>
      </p:sp>
      <p:sp>
        <p:nvSpPr>
          <p:cNvPr id="17" name="Text 15"/>
          <p:cNvSpPr txBox="1"/>
          <p:nvPr/>
        </p:nvSpPr>
        <p:spPr>
          <a:xfrm>
            <a:off x="5989320" y="1847088"/>
            <a:ext cx="1691640" cy="548640"/>
          </a:xfrm>
          <a:prstGeom prst="rect">
            <a:avLst/>
          </a:prstGeom>
          <a:noFill/>
          <a:ln/>
        </p:spPr>
        <p:txBody>
          <a:bodyPr wrap="square" lIns="0" tIns="0" rIns="0" bIns="0" rtlCol="0" anchor="ctr"/>
          <a:lstStyle/>
          <a:p>
            <a:pPr algn="ctr" indent="0" marL="0">
              <a:buNone/>
            </a:pPr>
            <a:r>
              <a:rPr lang="en-US" sz="3000" b="1" dirty="0">
                <a:solidFill>
                  <a:srgbClr val="1F6F5C"/>
                </a:solidFill>
                <a:latin typeface="Arial" pitchFamily="34" charset="0"/>
                <a:ea typeface="Arial" pitchFamily="34" charset="-122"/>
                <a:cs typeface="Arial" pitchFamily="34" charset="-120"/>
              </a:rPr>
              <a:t>81%</a:t>
            </a:r>
            <a:endParaRPr lang="en-US" sz="3000" dirty="0"/>
          </a:p>
        </p:txBody>
      </p:sp>
      <p:sp>
        <p:nvSpPr>
          <p:cNvPr id="18" name="Text 16"/>
          <p:cNvSpPr txBox="1"/>
          <p:nvPr/>
        </p:nvSpPr>
        <p:spPr>
          <a:xfrm>
            <a:off x="5989320" y="2432304"/>
            <a:ext cx="1691640" cy="274320"/>
          </a:xfrm>
          <a:prstGeom prst="rect">
            <a:avLst/>
          </a:prstGeom>
          <a:noFill/>
          <a:ln/>
        </p:spPr>
        <p:txBody>
          <a:bodyPr wrap="square" lIns="0" tIns="0" rIns="0" bIns="0" rtlCol="0" anchor="ctr"/>
          <a:lstStyle/>
          <a:p>
            <a:pPr algn="ctr" indent="0" marL="0">
              <a:buNone/>
            </a:pPr>
            <a:r>
              <a:rPr lang="en-US" sz="1100" dirty="0">
                <a:solidFill>
                  <a:srgbClr val="5C6166"/>
                </a:solidFill>
                <a:latin typeface="Calibri" pitchFamily="34" charset="0"/>
                <a:ea typeface="Calibri" pitchFamily="34" charset="-122"/>
                <a:cs typeface="Calibri" pitchFamily="34" charset="-120"/>
              </a:rPr>
              <a:t>Blocking 判断</a:t>
            </a:r>
            <a:endParaRPr lang="en-US" sz="1100" dirty="0"/>
          </a:p>
        </p:txBody>
      </p:sp>
      <p:sp>
        <p:nvSpPr>
          <p:cNvPr id="19" name="Shape 17"/>
          <p:cNvSpPr/>
          <p:nvPr/>
        </p:nvSpPr>
        <p:spPr>
          <a:xfrm>
            <a:off x="8092440" y="1737360"/>
            <a:ext cx="3566160" cy="1234440"/>
          </a:xfrm>
          <a:prstGeom prst="roundRect">
            <a:avLst>
              <a:gd name="adj" fmla="val 3704"/>
            </a:avLst>
          </a:prstGeom>
          <a:solidFill>
            <a:srgbClr val="1C1C1C"/>
          </a:solidFill>
          <a:ln w="12700">
            <a:solidFill>
              <a:srgbClr val="1C1C1C"/>
            </a:solidFill>
            <a:prstDash val="solid"/>
          </a:ln>
          <a:effectLst>
            <a:outerShdw sx="100000" sy="100000" kx="0" ky="0" algn="bl" rotWithShape="0" blurRad="101600" dist="12700" dir="5400000">
              <a:srgbClr val="000000">
                <a:alpha val="10000"/>
              </a:srgbClr>
            </a:outerShdw>
          </a:effectLst>
        </p:spPr>
      </p:sp>
      <p:sp>
        <p:nvSpPr>
          <p:cNvPr id="20" name="Text 18"/>
          <p:cNvSpPr txBox="1"/>
          <p:nvPr/>
        </p:nvSpPr>
        <p:spPr>
          <a:xfrm>
            <a:off x="8293608" y="1883664"/>
            <a:ext cx="3163824" cy="941832"/>
          </a:xfrm>
          <a:prstGeom prst="rect">
            <a:avLst/>
          </a:prstGeom>
          <a:noFill/>
          <a:ln/>
        </p:spPr>
        <p:txBody>
          <a:bodyPr wrap="square" lIns="0" tIns="0" rIns="0" bIns="0" rtlCol="0" anchor="t"/>
          <a:lstStyle/>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 Missed Issues</a:t>
            </a:r>
            <a:endParaRPr lang="en-US" sz="950" dirty="0"/>
          </a:p>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1. SQL injection in search query</a:t>
            </a:r>
            <a:endParaRPr lang="en-US" sz="950" dirty="0"/>
          </a:p>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     (src/search.py:88)</a:t>
            </a:r>
            <a:endParaRPr lang="en-US" sz="950" dirty="0"/>
          </a:p>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2. Missing authorization check</a:t>
            </a:r>
            <a:endParaRPr lang="en-US" sz="950" dirty="0"/>
          </a:p>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     (src/api/users.py:120)</a:t>
            </a:r>
            <a:endParaRPr lang="en-US" sz="950" dirty="0"/>
          </a:p>
        </p:txBody>
      </p:sp>
      <p:sp>
        <p:nvSpPr>
          <p:cNvPr id="21" name="Shape 19"/>
          <p:cNvSpPr/>
          <p:nvPr/>
        </p:nvSpPr>
        <p:spPr>
          <a:xfrm>
            <a:off x="502920" y="3154680"/>
            <a:ext cx="5486400" cy="2377440"/>
          </a:xfrm>
          <a:prstGeom prst="roundRect">
            <a:avLst>
              <a:gd name="adj" fmla="val 2308"/>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22" name="Text 20"/>
          <p:cNvSpPr txBox="1"/>
          <p:nvPr/>
        </p:nvSpPr>
        <p:spPr>
          <a:xfrm>
            <a:off x="758952" y="3337560"/>
            <a:ext cx="497433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推奨される persona 更新は四カテゴリに固定</a:t>
            </a:r>
            <a:endParaRPr lang="en-US" sz="1400" dirty="0"/>
          </a:p>
        </p:txBody>
      </p:sp>
      <p:sp>
        <p:nvSpPr>
          <p:cNvPr id="23" name="Text 21"/>
          <p:cNvSpPr txBox="1"/>
          <p:nvPr/>
        </p:nvSpPr>
        <p:spPr>
          <a:xfrm>
            <a:off x="758952" y="3721608"/>
            <a:ext cx="4974336" cy="1645920"/>
          </a:xfrm>
          <a:prstGeom prst="rect">
            <a:avLst/>
          </a:prstGeom>
          <a:noFill/>
          <a:ln/>
        </p:spPr>
        <p:txBody>
          <a:bodyPr wrap="square" lIns="0" tIns="0" rIns="0" bIns="0" rtlCol="0" anchor="t"/>
          <a:lstStyle/>
          <a:p>
            <a:pPr indent="0" marL="0">
              <a:lnSpc>
                <a:spcPts val="1600"/>
              </a:lnSpc>
              <a:buNone/>
            </a:pPr>
            <a:r>
              <a:rPr lang="en-US" sz="1150" dirty="0">
                <a:solidFill>
                  <a:srgbClr val="5C6166"/>
                </a:solidFill>
                <a:latin typeface="Calibri" pitchFamily="34" charset="0"/>
                <a:ea typeface="Calibri" pitchFamily="34" charset="-122"/>
                <a:cs typeface="Calibri" pitchFamily="34" charset="-120"/>
              </a:rPr>
              <a:t>add_checklist_item ／ adjust_severity_rule ／ add_false_positive_guard ／ strengthen_security_focus。</a:t>
            </a:r>
            <a:endParaRPr lang="en-US" sz="1150" dirty="0"/>
          </a:p>
          <a:p>
            <a:pPr indent="0" marL="0">
              <a:lnSpc>
                <a:spcPts val="1600"/>
              </a:lnSpc>
              <a:buNone/>
            </a:pPr>
            <a:endParaRPr lang="en-US" sz="1150" dirty="0"/>
          </a:p>
          <a:p>
            <a:pPr indent="0" marL="0">
              <a:lnSpc>
                <a:spcPts val="1600"/>
              </a:lnSpc>
              <a:buNone/>
            </a:pPr>
            <a:r>
              <a:rPr lang="en-US" sz="1150" dirty="0">
                <a:solidFill>
                  <a:srgbClr val="5C6166"/>
                </a:solidFill>
                <a:latin typeface="Calibri" pitchFamily="34" charset="0"/>
                <a:ea typeface="Calibri" pitchFamily="34" charset="-122"/>
                <a:cs typeface="Calibri" pitchFamily="34" charset="-120"/>
              </a:rPr>
              <a:t>曖昧な感想ではなく、run をまたいで集計できる形にするため。--replay はペルソナ編集後にアーカイブ済み diff へ再実行し、新旧 verdict を差分表示する。本物のコードには一切触れない。</a:t>
            </a:r>
            <a:endParaRPr lang="en-US" sz="1150" dirty="0"/>
          </a:p>
        </p:txBody>
      </p:sp>
      <p:sp>
        <p:nvSpPr>
          <p:cNvPr id="24" name="Text 22"/>
          <p:cNvSpPr txBox="1"/>
          <p:nvPr/>
        </p:nvSpPr>
        <p:spPr>
          <a:xfrm>
            <a:off x="6355080" y="3154680"/>
            <a:ext cx="5486400" cy="256032"/>
          </a:xfrm>
          <a:prstGeom prst="rect">
            <a:avLst/>
          </a:prstGeom>
          <a:noFill/>
          <a:ln/>
        </p:spPr>
        <p:txBody>
          <a:bodyPr wrap="square" lIns="0" tIns="0" rIns="0" bIns="0" rtlCol="0" anchor="ctr"/>
          <a:lstStyle/>
          <a:p>
            <a:pPr indent="0" marL="0">
              <a:buNone/>
            </a:pPr>
            <a:r>
              <a:rPr lang="en-US" sz="1200" b="1" spc="50" kern="0" dirty="0">
                <a:solidFill>
                  <a:srgbClr val="1F6F5C"/>
                </a:solidFill>
                <a:latin typeface="Arial" pitchFamily="34" charset="0"/>
                <a:ea typeface="Arial" pitchFamily="34" charset="-122"/>
                <a:cs typeface="Arial" pitchFamily="34" charset="-120"/>
              </a:rPr>
              <a:t>そして、ゴム印を名指しする（/rig:go stats）</a:t>
            </a:r>
            <a:endParaRPr lang="en-US" sz="1200" dirty="0"/>
          </a:p>
        </p:txBody>
      </p:sp>
      <p:sp>
        <p:nvSpPr>
          <p:cNvPr id="25" name="Shape 23"/>
          <p:cNvSpPr/>
          <p:nvPr/>
        </p:nvSpPr>
        <p:spPr>
          <a:xfrm>
            <a:off x="6355080" y="3456432"/>
            <a:ext cx="5303520" cy="2075688"/>
          </a:xfrm>
          <a:prstGeom prst="roundRect">
            <a:avLst>
              <a:gd name="adj" fmla="val 2203"/>
            </a:avLst>
          </a:prstGeom>
          <a:solidFill>
            <a:srgbClr val="1C1C1C"/>
          </a:solidFill>
          <a:ln w="12700">
            <a:solidFill>
              <a:srgbClr val="1C1C1C"/>
            </a:solidFill>
            <a:prstDash val="solid"/>
          </a:ln>
          <a:effectLst>
            <a:outerShdw sx="100000" sy="100000" kx="0" ky="0" algn="bl" rotWithShape="0" blurRad="101600" dist="12700" dir="5400000">
              <a:srgbClr val="000000">
                <a:alpha val="10000"/>
              </a:srgbClr>
            </a:outerShdw>
          </a:effectLst>
        </p:spPr>
      </p:sp>
      <p:sp>
        <p:nvSpPr>
          <p:cNvPr id="26" name="Text 24"/>
          <p:cNvSpPr txBox="1"/>
          <p:nvPr/>
        </p:nvSpPr>
        <p:spPr>
          <a:xfrm>
            <a:off x="6556248" y="3602736"/>
            <a:ext cx="4901184" cy="1783080"/>
          </a:xfrm>
          <a:prstGeom prst="rect">
            <a:avLst/>
          </a:prstGeom>
          <a:noFill/>
          <a:ln/>
        </p:spPr>
        <p:txBody>
          <a:bodyPr wrap="square" lIns="0" tIns="0" rIns="0" bIns="0" rtlCol="0" anchor="t"/>
          <a:lstStyle/>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Verifier behavior:</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 strict_senior_engineer: 14 runs, 6 rejects</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 product_reviewer:        6 runs, 0 rejects</a:t>
            </a:r>
            <a:endParaRPr lang="en-US" sz="1000" dirty="0"/>
          </a:p>
          <a:p>
            <a:pPr indent="0" marL="0">
              <a:lnSpc>
                <a:spcPts val="1500"/>
              </a:lnSpc>
              <a:buNone/>
            </a:pP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Warning:</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product_reviewer has 0 rejects across 6 runs.</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Possible rubber-stamp behavior.</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N° 11</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コマンドの地図 — 上から下へ、必要になってから降りる</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21</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11155680" cy="914400"/>
        </p:xfrm>
        <a:graphic>
          <a:graphicData uri="http://schemas.openxmlformats.org/drawingml/2006/table">
            <a:tbl>
              <a:tblPr/>
              <a:tblGrid>
                <a:gridCol w="1463040"/>
                <a:gridCol w="9692640"/>
              </a:tblGrid>
              <a:tr h="475488">
                <a:tc>
                  <a:txBody>
                    <a:bodyPr/>
                    <a:lstStyle/>
                    <a:p>
                      <a:pPr indent="0" marL="0">
                        <a:buNone/>
                      </a:pPr>
                      <a:r>
                        <a:rPr lang="en-US" sz="1050" b="1" dirty="0">
                          <a:solidFill>
                            <a:srgbClr val="FFFFFF"/>
                          </a:solidFill>
                          <a:latin typeface="Arial" pitchFamily="34" charset="0"/>
                          <a:ea typeface="Arial" pitchFamily="34" charset="-122"/>
                          <a:cs typeface="Arial" pitchFamily="34" charset="-120"/>
                        </a:rPr>
                        <a:t>tier</a:t>
                      </a:r>
                      <a:endParaRPr lang="en-US" sz="1050" dirty="0">
                        <a:latin typeface="Arial" charset="0"/>
                        <a:ea typeface="Arial" charset="0"/>
                        <a:cs typeface="Arial"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1C1C1C"/>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コマンド</a:t>
                      </a:r>
                      <a:endParaRPr lang="en-US" sz="1050" dirty="0">
                        <a:latin typeface="Arial" charset="0"/>
                        <a:ea typeface="Arial" charset="0"/>
                        <a:cs typeface="Arial"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1C1C1C"/>
                    </a:solidFill>
                  </a:tcPr>
                </a:tc>
              </a:tr>
              <a:tr h="47548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Core</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/rig:go "&lt;タスク&gt;"　・　/rig:talk（会話的な入口）　・　/rig:dev（明示的な入口）　・　status / diff / accept / discard / log</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r>
              <a:tr h="47548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観測</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/rig:go board（複数 run の管制塔）　・　cockpit（Mission Control・read-only）　・　stats（過去 run の集計）</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r>
              <a:tr h="47548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Quality</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/rig:drill（reviewer の検出率を実測）　・　/rig:pr（既存 PR のレビュー）　・　/rig:qa（テストケース設計）　・　/rig:harness</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r>
              <a:tr h="47548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Knowledge</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/rig:knowledge（wiki 生成）　・　/rig:persona　・　/rig:catalog　・　/rig:import / export　・　/rig:forge（自己拡張）</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r>
              <a:tr h="47548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Planning</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/rig:brainstorm　・　/rig:tasks　・　/rig:goal　・　/rig:design　・　/rig:loop（繰り返しドライバ）</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r>
              <a:tr h="47548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その他</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/rig:queue（積んで一括実行）　・　/rig:init（リポジトリ初期設定）　・　/rig:govern（組織ガバナンス）　・　/rig:sec</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r>
            </a:tbl>
          </a:graphicData>
        </a:graphic>
      </p:graphicFrame>
      <p:sp>
        <p:nvSpPr>
          <p:cNvPr id="7" name="Shape 4"/>
          <p:cNvSpPr/>
          <p:nvPr/>
        </p:nvSpPr>
        <p:spPr>
          <a:xfrm>
            <a:off x="502920" y="4892040"/>
            <a:ext cx="5486400" cy="960120"/>
          </a:xfrm>
          <a:prstGeom prst="roundRect">
            <a:avLst>
              <a:gd name="adj" fmla="val 5714"/>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8" name="Text 5"/>
          <p:cNvSpPr txBox="1"/>
          <p:nvPr/>
        </p:nvSpPr>
        <p:spPr>
          <a:xfrm>
            <a:off x="758952" y="5074920"/>
            <a:ext cx="497433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最初の一日に要るもの</a:t>
            </a:r>
            <a:endParaRPr lang="en-US" sz="1400" dirty="0"/>
          </a:p>
        </p:txBody>
      </p:sp>
      <p:sp>
        <p:nvSpPr>
          <p:cNvPr id="9" name="Text 6"/>
          <p:cNvSpPr txBox="1"/>
          <p:nvPr/>
        </p:nvSpPr>
        <p:spPr>
          <a:xfrm>
            <a:off x="758952" y="5458968"/>
            <a:ext cx="4974336" cy="228600"/>
          </a:xfrm>
          <a:prstGeom prst="rect">
            <a:avLst/>
          </a:prstGeom>
          <a:noFill/>
          <a:ln/>
        </p:spPr>
        <p:txBody>
          <a:bodyPr wrap="square" lIns="0" tIns="0" rIns="0" bIns="0" rtlCol="0" anchor="t"/>
          <a:lstStyle/>
          <a:p>
            <a:pPr indent="0" marL="0">
              <a:lnSpc>
                <a:spcPts val="1700"/>
              </a:lnSpc>
              <a:buNone/>
            </a:pPr>
            <a:r>
              <a:rPr lang="en-US" sz="1150" dirty="0">
                <a:solidFill>
                  <a:srgbClr val="5C6166"/>
                </a:solidFill>
                <a:latin typeface="Calibri" pitchFamily="34" charset="0"/>
                <a:ea typeface="Calibri" pitchFamily="34" charset="-122"/>
                <a:cs typeface="Calibri" pitchFamily="34" charset="-120"/>
              </a:rPr>
              <a:t>/rig:go と diff / accept / discard の四つだけ。</a:t>
            </a:r>
            <a:endParaRPr lang="en-US" sz="1150" dirty="0"/>
          </a:p>
        </p:txBody>
      </p:sp>
      <p:sp>
        <p:nvSpPr>
          <p:cNvPr id="10" name="Shape 7"/>
          <p:cNvSpPr/>
          <p:nvPr/>
        </p:nvSpPr>
        <p:spPr>
          <a:xfrm>
            <a:off x="6355080" y="4892040"/>
            <a:ext cx="5303520" cy="960120"/>
          </a:xfrm>
          <a:prstGeom prst="roundRect">
            <a:avLst>
              <a:gd name="adj" fmla="val 5714"/>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1" name="Text 8"/>
          <p:cNvSpPr txBox="1"/>
          <p:nvPr/>
        </p:nvSpPr>
        <p:spPr>
          <a:xfrm>
            <a:off x="6611112" y="5074920"/>
            <a:ext cx="479145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覚えなくていいもの</a:t>
            </a:r>
            <a:endParaRPr lang="en-US" sz="1400" dirty="0"/>
          </a:p>
        </p:txBody>
      </p:sp>
      <p:sp>
        <p:nvSpPr>
          <p:cNvPr id="12" name="Text 9"/>
          <p:cNvSpPr txBox="1"/>
          <p:nvPr/>
        </p:nvSpPr>
        <p:spPr>
          <a:xfrm>
            <a:off x="6611112" y="5458968"/>
            <a:ext cx="4791456" cy="228600"/>
          </a:xfrm>
          <a:prstGeom prst="rect">
            <a:avLst/>
          </a:prstGeom>
          <a:noFill/>
          <a:ln/>
        </p:spPr>
        <p:txBody>
          <a:bodyPr wrap="square" lIns="0" tIns="0" rIns="0" bIns="0" rtlCol="0" anchor="t"/>
          <a:lstStyle/>
          <a:p>
            <a:pPr indent="0" marL="0">
              <a:lnSpc>
                <a:spcPts val="1700"/>
              </a:lnSpc>
              <a:buNone/>
            </a:pPr>
            <a:r>
              <a:rPr lang="en-US" sz="1150" dirty="0">
                <a:solidFill>
                  <a:srgbClr val="5C6166"/>
                </a:solidFill>
                <a:latin typeface="Calibri" pitchFamily="34" charset="0"/>
                <a:ea typeface="Calibri" pitchFamily="34" charset="-122"/>
                <a:cs typeface="Calibri" pitchFamily="34" charset="-120"/>
              </a:rPr>
              <a:t>残り全部。必要になった日に、この表に戻ってくればいい。</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C1C1C"/>
        </a:solidFill>
      </p:bgPr>
    </p:bg>
    <p:spTree>
      <p:nvGrpSpPr>
        <p:cNvPr id="1" name=""/>
        <p:cNvGrpSpPr/>
        <p:nvPr/>
      </p:nvGrpSpPr>
      <p:grpSpPr>
        <a:xfrm>
          <a:off x="0" y="0"/>
          <a:ext cx="0" cy="0"/>
          <a:chOff x="0" y="0"/>
          <a:chExt cx="0" cy="0"/>
        </a:xfrm>
      </p:grpSpPr>
      <p:sp>
        <p:nvSpPr>
          <p:cNvPr id="2" name="Text 0"/>
          <p:cNvSpPr txBox="1"/>
          <p:nvPr/>
        </p:nvSpPr>
        <p:spPr>
          <a:xfrm>
            <a:off x="822960" y="2011680"/>
            <a:ext cx="10515600" cy="1371600"/>
          </a:xfrm>
          <a:prstGeom prst="rect">
            <a:avLst/>
          </a:prstGeom>
          <a:noFill/>
          <a:ln/>
        </p:spPr>
        <p:txBody>
          <a:bodyPr wrap="square" lIns="0" tIns="0" rIns="0" bIns="0" rtlCol="0" anchor="ctr"/>
          <a:lstStyle/>
          <a:p>
            <a:pPr indent="0" marL="0">
              <a:buNone/>
            </a:pPr>
            <a:r>
              <a:rPr lang="en-US" sz="4600" b="1" dirty="0">
                <a:solidFill>
                  <a:srgbClr val="FFFFFF"/>
                </a:solidFill>
                <a:latin typeface="Arial" pitchFamily="34" charset="0"/>
                <a:ea typeface="Arial" pitchFamily="34" charset="-122"/>
                <a:cs typeface="Arial" pitchFamily="34" charset="-120"/>
              </a:rPr>
              <a:t>第二部　pack で知識層を拡張する</a:t>
            </a:r>
            <a:endParaRPr lang="en-US" sz="4600" dirty="0"/>
          </a:p>
        </p:txBody>
      </p:sp>
      <p:sp>
        <p:nvSpPr>
          <p:cNvPr id="3" name="Text 1"/>
          <p:cNvSpPr txBox="1"/>
          <p:nvPr/>
        </p:nvSpPr>
        <p:spPr>
          <a:xfrm>
            <a:off x="822960" y="3383280"/>
            <a:ext cx="8686800" cy="914400"/>
          </a:xfrm>
          <a:prstGeom prst="rect">
            <a:avLst/>
          </a:prstGeom>
          <a:noFill/>
          <a:ln/>
        </p:spPr>
        <p:txBody>
          <a:bodyPr wrap="square" lIns="0" tIns="0" rIns="0" bIns="0" rtlCol="0" anchor="ctr"/>
          <a:lstStyle/>
          <a:p>
            <a:pPr indent="0" marL="0">
              <a:lnSpc>
                <a:spcPts val="2600"/>
              </a:lnSpc>
              <a:buNone/>
            </a:pPr>
            <a:r>
              <a:rPr lang="en-US" sz="1700" dirty="0">
                <a:solidFill>
                  <a:srgbClr val="C9CCC8"/>
                </a:solidFill>
                <a:latin typeface="Calibri" pitchFamily="34" charset="0"/>
                <a:ea typeface="Calibri" pitchFamily="34" charset="-122"/>
                <a:cs typeface="Calibri" pitchFamily="34" charset="-120"/>
              </a:rPr>
              <a:t>専用領域の知識を、口伝でもコピペでもなく、</a:t>
            </a:r>
            <a:endParaRPr lang="en-US" sz="1700" dirty="0"/>
          </a:p>
          <a:p>
            <a:pPr indent="0" marL="0">
              <a:lnSpc>
                <a:spcPts val="2600"/>
              </a:lnSpc>
              <a:buNone/>
            </a:pPr>
            <a:r>
              <a:rPr lang="en-US" sz="1700" dirty="0">
                <a:solidFill>
                  <a:srgbClr val="C9CCC8"/>
                </a:solidFill>
                <a:latin typeface="Calibri" pitchFamily="34" charset="0"/>
                <a:ea typeface="Calibri" pitchFamily="34" charset="-122"/>
                <a:cs typeface="Calibri" pitchFamily="34" charset="-120"/>
              </a:rPr>
              <a:t>バージョンとハッシュと出典を持った配布物として渡す。</a:t>
            </a:r>
            <a:endParaRPr lang="en-US" sz="1700" dirty="0"/>
          </a:p>
        </p:txBody>
      </p:sp>
      <p:sp>
        <p:nvSpPr>
          <p:cNvPr id="4" name="Text 2"/>
          <p:cNvSpPr txBox="1"/>
          <p:nvPr/>
        </p:nvSpPr>
        <p:spPr>
          <a:xfrm>
            <a:off x="822960" y="5852160"/>
            <a:ext cx="10058400" cy="365760"/>
          </a:xfrm>
          <a:prstGeom prst="rect">
            <a:avLst/>
          </a:prstGeom>
          <a:noFill/>
          <a:ln/>
        </p:spPr>
        <p:txBody>
          <a:bodyPr wrap="square" lIns="0" tIns="0" rIns="0" bIns="0" rtlCol="0" anchor="ctr"/>
          <a:lstStyle/>
          <a:p>
            <a:pPr indent="0" marL="0">
              <a:buNone/>
            </a:pPr>
            <a:r>
              <a:rPr lang="en-US" sz="1100" dirty="0">
                <a:solidFill>
                  <a:srgbClr val="8A908C"/>
                </a:solidFill>
                <a:latin typeface="Calibri" pitchFamily="34" charset="0"/>
                <a:ea typeface="Calibri" pitchFamily="34" charset="-122"/>
                <a:cs typeface="Calibri" pitchFamily="34" charset="-120"/>
              </a:rPr>
              <a:t>docs/packs.md ／ rig_workbench/packs/model.py</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N° 12</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知識層とは何か、そしてなぜ二種類あるのか</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23</a:t>
            </a:r>
            <a:endParaRPr lang="en-US" sz="900" dirty="0"/>
          </a:p>
        </p:txBody>
      </p:sp>
      <p:sp>
        <p:nvSpPr>
          <p:cNvPr id="6" name="Shape 4"/>
          <p:cNvSpPr/>
          <p:nvPr/>
        </p:nvSpPr>
        <p:spPr>
          <a:xfrm>
            <a:off x="502920" y="1298448"/>
            <a:ext cx="11155680" cy="868680"/>
          </a:xfrm>
          <a:prstGeom prst="roundRect">
            <a:avLst>
              <a:gd name="adj" fmla="val 6316"/>
            </a:avLst>
          </a:prstGeom>
          <a:solidFill>
            <a:srgbClr val="E7EFEB"/>
          </a:solidFill>
          <a:ln w="6350">
            <a:solidFill>
              <a:srgbClr val="E7EFEB"/>
            </a:solidFill>
            <a:prstDash val="solid"/>
          </a:ln>
          <a:effectLst>
            <a:outerShdw sx="100000" sy="100000" kx="0" ky="0" algn="bl" rotWithShape="0" blurRad="101600" dist="12700" dir="5400000">
              <a:srgbClr val="000000">
                <a:alpha val="10000"/>
              </a:srgbClr>
            </a:outerShdw>
          </a:effectLst>
        </p:spPr>
      </p:sp>
      <p:sp>
        <p:nvSpPr>
          <p:cNvPr id="7" name="Text 5"/>
          <p:cNvSpPr txBox="1"/>
          <p:nvPr/>
        </p:nvSpPr>
        <p:spPr>
          <a:xfrm>
            <a:off x="758952" y="1481328"/>
            <a:ext cx="1064361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知識層＝subagent のプロンプトに注入される、ドメイン記述知識</a:t>
            </a:r>
            <a:endParaRPr lang="en-US" sz="1400" dirty="0"/>
          </a:p>
        </p:txBody>
      </p:sp>
      <p:sp>
        <p:nvSpPr>
          <p:cNvPr id="8" name="Text 6"/>
          <p:cNvSpPr txBox="1"/>
          <p:nvPr/>
        </p:nvSpPr>
        <p:spPr>
          <a:xfrm>
            <a:off x="758952" y="1865376"/>
            <a:ext cx="10643616" cy="137160"/>
          </a:xfrm>
          <a:prstGeom prst="rect">
            <a:avLst/>
          </a:prstGeom>
          <a:noFill/>
          <a:ln/>
        </p:spPr>
        <p:txBody>
          <a:bodyPr wrap="square" lIns="0" tIns="0" rIns="0" bIns="0" rtlCol="0" anchor="t"/>
          <a:lstStyle/>
          <a:p>
            <a:pPr indent="0" marL="0">
              <a:lnSpc>
                <a:spcPts val="1500"/>
              </a:lnSpc>
              <a:buNone/>
            </a:pPr>
            <a:r>
              <a:rPr lang="en-US" sz="1150" dirty="0">
                <a:solidFill>
                  <a:srgbClr val="5C6166"/>
                </a:solidFill>
                <a:latin typeface="Calibri" pitchFamily="34" charset="0"/>
                <a:ea typeface="Calibri" pitchFamily="34" charset="-122"/>
                <a:cs typeface="Calibri" pitchFamily="34" charset="-120"/>
              </a:rPr>
              <a:t>「この会社ではバックアップをこう定義している」「この製品のユビキタス言語はこれだ」— コードを読んでも出てこない事実を、レビュアーや実装役に持たせるための層。</a:t>
            </a:r>
            <a:endParaRPr lang="en-US" sz="11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2377440"/>
          <a:ext cx="7680960" cy="914400"/>
        </p:xfrm>
        <a:graphic>
          <a:graphicData uri="http://schemas.openxmlformats.org/drawingml/2006/table">
            <a:tbl>
              <a:tblPr/>
              <a:tblGrid>
                <a:gridCol w="1554480"/>
                <a:gridCol w="3017520"/>
                <a:gridCol w="3108960"/>
              </a:tblGrid>
              <a:tr h="438912">
                <a:tc>
                  <a:txBody>
                    <a:bodyPr/>
                    <a:lstStyle/>
                    <a:p>
                      <a:pPr indent="0" marL="0">
                        <a:buNone/>
                      </a:pPr>
                      <a:endParaRPr lang="en-US" sz="1050" dirty="0">
                        <a:latin typeface="Arial" charset="0"/>
                        <a:ea typeface="Arial" charset="0"/>
                        <a:cs typeface="Arial"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1C1C1C"/>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セッション知識層</a:t>
                      </a:r>
                      <a:endParaRPr lang="en-US" sz="1050" dirty="0">
                        <a:latin typeface="Arial" charset="0"/>
                        <a:ea typeface="Arial" charset="0"/>
                        <a:cs typeface="Arial"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1C1C1C"/>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pack</a:t>
                      </a:r>
                      <a:endParaRPr lang="en-US" sz="1050" dirty="0">
                        <a:latin typeface="Arial" charset="0"/>
                        <a:ea typeface="Arial" charset="0"/>
                        <a:cs typeface="Arial"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1C1C1C"/>
                    </a:solidFill>
                  </a:tcPr>
                </a:tc>
              </a:tr>
              <a:tr h="438912">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置き場</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~/.claude/rig/knowledge/</a:t>
                      </a:r>
                      <a:endParaRPr lang="en-US" sz="1050" dirty="0">
                        <a:latin typeface="Calibri" charset="0"/>
                        <a:ea typeface="Calibri" charset="0"/>
                        <a:cs typeface="Calibri" charset="0"/>
                      </a:endParaRPr>
                    </a:p>
                    <a:p>
                      <a:pPr indent="0" marL="0">
                        <a:buNone/>
                      </a:pPr>
                      <a:r>
                        <a:rPr lang="en-US" sz="1050" dirty="0">
                          <a:solidFill>
                            <a:srgbClr val="5C6166"/>
                          </a:solidFill>
                          <a:latin typeface="Calibri" pitchFamily="34" charset="0"/>
                          <a:ea typeface="Calibri" pitchFamily="34" charset="-122"/>
                          <a:cs typeface="Calibri" pitchFamily="34" charset="-120"/>
                        </a:rPr>
                        <a:t>&lt;repo&gt;/.claude/rig/knowledge/</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.rig/packs/ ・ ~/.rig/packs/ ほか</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r>
              <a:tr h="438912">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作り方</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/rig:knowledge で生成</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rig-wb pack で組み立て</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r>
              <a:tr h="438912">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配布</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できない（自分の環境限り）</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zip / git リポジトリで配れる</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r>
              <a:tr h="438912">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版と改竄</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管理しない</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version・sha256・lock で固定</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r>
              <a:tr h="438912">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品質</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本人の目</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承認済み評価ケースが必須</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r>
              <a:tr h="438912">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向く場面</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思いついたことを今すぐ効かせたい</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チームや複数リポジトリに効かせたい</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r>
            </a:tbl>
          </a:graphicData>
        </a:graphic>
      </p:graphicFrame>
      <p:sp>
        <p:nvSpPr>
          <p:cNvPr id="10" name="Shape 7"/>
          <p:cNvSpPr/>
          <p:nvPr/>
        </p:nvSpPr>
        <p:spPr>
          <a:xfrm>
            <a:off x="8458200" y="2377440"/>
            <a:ext cx="3200400" cy="1600200"/>
          </a:xfrm>
          <a:prstGeom prst="roundRect">
            <a:avLst>
              <a:gd name="adj" fmla="val 3429"/>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1" name="Text 8"/>
          <p:cNvSpPr txBox="1"/>
          <p:nvPr/>
        </p:nvSpPr>
        <p:spPr>
          <a:xfrm>
            <a:off x="8714232" y="2560320"/>
            <a:ext cx="268833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手元で育てるなら前者</a:t>
            </a:r>
            <a:endParaRPr lang="en-US" sz="1400" dirty="0"/>
          </a:p>
        </p:txBody>
      </p:sp>
      <p:sp>
        <p:nvSpPr>
          <p:cNvPr id="12" name="Text 9"/>
          <p:cNvSpPr txBox="1"/>
          <p:nvPr/>
        </p:nvSpPr>
        <p:spPr>
          <a:xfrm>
            <a:off x="8714232" y="2944368"/>
            <a:ext cx="2688336" cy="868680"/>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書いてすぐ効く。棚卸しも配布も要らないうちは、これで十分。</a:t>
            </a:r>
            <a:endParaRPr lang="en-US" sz="1100" dirty="0"/>
          </a:p>
        </p:txBody>
      </p:sp>
      <p:sp>
        <p:nvSpPr>
          <p:cNvPr id="13" name="Shape 10"/>
          <p:cNvSpPr/>
          <p:nvPr/>
        </p:nvSpPr>
        <p:spPr>
          <a:xfrm>
            <a:off x="8458200" y="4114800"/>
            <a:ext cx="3200400" cy="1828800"/>
          </a:xfrm>
          <a:prstGeom prst="roundRect">
            <a:avLst>
              <a:gd name="adj" fmla="val 3000"/>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4" name="Text 11"/>
          <p:cNvSpPr txBox="1"/>
          <p:nvPr/>
        </p:nvSpPr>
        <p:spPr>
          <a:xfrm>
            <a:off x="8714232" y="4297680"/>
            <a:ext cx="2688336" cy="320040"/>
          </a:xfrm>
          <a:prstGeom prst="rect">
            <a:avLst/>
          </a:prstGeom>
          <a:noFill/>
          <a:ln/>
        </p:spPr>
        <p:txBody>
          <a:bodyPr wrap="square" lIns="0" tIns="0" rIns="0" bIns="0" rtlCol="0" anchor="ctr"/>
          <a:lstStyle/>
          <a:p>
            <a:pPr indent="0" marL="0">
              <a:buNone/>
            </a:pPr>
            <a:r>
              <a:rPr lang="en-US" sz="1400" b="1" dirty="0">
                <a:solidFill>
                  <a:srgbClr val="1F6F5C"/>
                </a:solidFill>
                <a:latin typeface="Arial" pitchFamily="34" charset="0"/>
                <a:ea typeface="Arial" pitchFamily="34" charset="-122"/>
                <a:cs typeface="Arial" pitchFamily="34" charset="-120"/>
              </a:rPr>
              <a:t>渡した瞬間に後者が要る</a:t>
            </a:r>
            <a:endParaRPr lang="en-US" sz="1400" dirty="0"/>
          </a:p>
        </p:txBody>
      </p:sp>
      <p:sp>
        <p:nvSpPr>
          <p:cNvPr id="15" name="Text 12"/>
          <p:cNvSpPr txBox="1"/>
          <p:nvPr/>
        </p:nvSpPr>
        <p:spPr>
          <a:xfrm>
            <a:off x="8714232" y="4681728"/>
            <a:ext cx="2688336" cy="1097280"/>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誰が書いたのか。いつ見直したのか。根拠は何か。途中で書き換わっていないか。pack はこの四つを構造として持つ。</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N° 13</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wiki と inject — 事実を埋め込まず、参照する</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24</a:t>
            </a:r>
            <a:endParaRPr lang="en-US" sz="900" dirty="0"/>
          </a:p>
        </p:txBody>
      </p:sp>
      <p:sp>
        <p:nvSpPr>
          <p:cNvPr id="6" name="Shape 4"/>
          <p:cNvSpPr/>
          <p:nvPr/>
        </p:nvSpPr>
        <p:spPr>
          <a:xfrm>
            <a:off x="502920" y="1298448"/>
            <a:ext cx="5394960" cy="777240"/>
          </a:xfrm>
          <a:prstGeom prst="roundRect">
            <a:avLst>
              <a:gd name="adj" fmla="val 5882"/>
            </a:avLst>
          </a:prstGeom>
          <a:solidFill>
            <a:srgbClr val="1C1C1C"/>
          </a:solidFill>
          <a:ln w="12700">
            <a:solidFill>
              <a:srgbClr val="1C1C1C"/>
            </a:solidFill>
            <a:prstDash val="solid"/>
          </a:ln>
          <a:effectLst>
            <a:outerShdw sx="100000" sy="100000" kx="0" ky="0" algn="bl" rotWithShape="0" blurRad="101600" dist="12700" dir="5400000">
              <a:srgbClr val="000000">
                <a:alpha val="10000"/>
              </a:srgbClr>
            </a:outerShdw>
          </a:effectLst>
        </p:spPr>
      </p:sp>
      <p:sp>
        <p:nvSpPr>
          <p:cNvPr id="7" name="Text 5"/>
          <p:cNvSpPr txBox="1"/>
          <p:nvPr/>
        </p:nvSpPr>
        <p:spPr>
          <a:xfrm>
            <a:off x="704088" y="1444752"/>
            <a:ext cx="4992624" cy="484632"/>
          </a:xfrm>
          <a:prstGeom prst="rect">
            <a:avLst/>
          </a:prstGeom>
          <a:noFill/>
          <a:ln/>
        </p:spPr>
        <p:txBody>
          <a:bodyPr wrap="square" lIns="0" tIns="0" rIns="0" bIns="0" rtlCol="0" anchor="t"/>
          <a:lstStyle/>
          <a:p>
            <a:pPr indent="0" marL="0">
              <a:lnSpc>
                <a:spcPts val="1500"/>
              </a:lnSpc>
              <a:buNone/>
            </a:pPr>
            <a:r>
              <a:rPr lang="en-US" sz="1100" dirty="0">
                <a:solidFill>
                  <a:srgbClr val="EDEDE8"/>
                </a:solidFill>
                <a:latin typeface="Courier New" pitchFamily="34" charset="0"/>
                <a:ea typeface="Courier New" pitchFamily="34" charset="-122"/>
                <a:cs typeface="Courier New" pitchFamily="34" charset="-120"/>
              </a:rPr>
              <a:t># persona: house-authenticity</a:t>
            </a:r>
            <a:endParaRPr lang="en-US" sz="1100" dirty="0"/>
          </a:p>
          <a:p>
            <a:pPr indent="0" marL="0">
              <a:lnSpc>
                <a:spcPts val="1500"/>
              </a:lnSpc>
              <a:buNone/>
            </a:pPr>
            <a:r>
              <a:rPr lang="en-US" sz="1100" dirty="0">
                <a:solidFill>
                  <a:srgbClr val="EDEDE8"/>
                </a:solidFill>
                <a:latin typeface="Courier New" pitchFamily="34" charset="0"/>
                <a:ea typeface="Courier New" pitchFamily="34" charset="-122"/>
                <a:cs typeface="Courier New" pitchFamily="34" charset="-120"/>
              </a:rPr>
              <a:t>inject: ["[[genre-house]]", "[[music-era-90s]]"]</a:t>
            </a:r>
            <a:endParaRPr lang="en-US" sz="1100" dirty="0"/>
          </a:p>
        </p:txBody>
      </p:sp>
      <p:sp>
        <p:nvSpPr>
          <p:cNvPr id="8" name="Text 6"/>
          <p:cNvSpPr txBox="1"/>
          <p:nvPr/>
        </p:nvSpPr>
        <p:spPr>
          <a:xfrm>
            <a:off x="502920" y="2240280"/>
            <a:ext cx="5394960" cy="1920240"/>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1C1C1C"/>
                </a:solidFill>
                <a:latin typeface="Calibri" pitchFamily="34" charset="0"/>
                <a:ea typeface="Calibri" pitchFamily="34" charset="-122"/>
                <a:cs typeface="Calibri" pitchFamily="34" charset="-120"/>
              </a:rPr>
              <a:t>一つの概念につき一枚の正準ページ。相互リンクは [[slug]]</a:t>
            </a:r>
            <a:endParaRPr lang="en-US" sz="1150" dirty="0"/>
          </a:p>
          <a:p>
            <a:pPr marL="342900" indent="-342900">
              <a:lnSpc>
                <a:spcPts val="1700"/>
              </a:lnSpc>
              <a:spcAft>
                <a:spcPts val="700"/>
              </a:spcAft>
              <a:buSzPct val="100000"/>
              <a:buChar char="•"/>
            </a:pPr>
            <a:r>
              <a:rPr lang="en-US" sz="1150" dirty="0">
                <a:solidFill>
                  <a:srgbClr val="1C1C1C"/>
                </a:solidFill>
                <a:latin typeface="Calibri" pitchFamily="34" charset="0"/>
                <a:ea typeface="Calibri" pitchFamily="34" charset="-122"/>
                <a:cs typeface="Calibri" pitchFamily="34" charset="-120"/>
              </a:rPr>
              <a:t>persona は事実を本文に埋め込まず、ページを参照する</a:t>
            </a:r>
            <a:endParaRPr lang="en-US" sz="1150" dirty="0"/>
          </a:p>
          <a:p>
            <a:pPr marL="342900" indent="-342900">
              <a:lnSpc>
                <a:spcPts val="1700"/>
              </a:lnSpc>
              <a:spcAft>
                <a:spcPts val="700"/>
              </a:spcAft>
              <a:buSzPct val="100000"/>
              <a:buChar char="•"/>
            </a:pPr>
            <a:r>
              <a:rPr lang="en-US" sz="1150" dirty="0">
                <a:solidFill>
                  <a:srgbClr val="1C1C1C"/>
                </a:solidFill>
                <a:latin typeface="Calibri" pitchFamily="34" charset="0"/>
                <a:ea typeface="Calibri" pitchFamily="34" charset="-122"/>
                <a:cs typeface="Calibri" pitchFamily="34" charset="-120"/>
              </a:rPr>
              <a:t>埋め込むと知識が暗黙知になる。参照なら、ページを一枚直すだけで参照する全 persona の判断が同時に更新される</a:t>
            </a:r>
            <a:endParaRPr lang="en-US" sz="1150" dirty="0"/>
          </a:p>
          <a:p>
            <a:pPr marL="342900" indent="-342900">
              <a:lnSpc>
                <a:spcPts val="1700"/>
              </a:lnSpc>
              <a:spcAft>
                <a:spcPts val="700"/>
              </a:spcAft>
              <a:buSzPct val="100000"/>
              <a:buChar char="•"/>
            </a:pPr>
            <a:r>
              <a:rPr lang="en-US" sz="1150" dirty="0">
                <a:solidFill>
                  <a:srgbClr val="1C1C1C"/>
                </a:solidFill>
                <a:latin typeface="Calibri" pitchFamily="34" charset="0"/>
                <a:ea typeface="Calibri" pitchFamily="34" charset="-122"/>
                <a:cs typeface="Calibri" pitchFamily="34" charset="-120"/>
              </a:rPr>
              <a:t>/rig:knowledge は既定で global に書く（--project でプロジェクト overlay）</a:t>
            </a:r>
            <a:endParaRPr lang="en-US" sz="1150" dirty="0"/>
          </a:p>
        </p:txBody>
      </p:sp>
      <p:sp>
        <p:nvSpPr>
          <p:cNvPr id="9" name="Text 7"/>
          <p:cNvSpPr txBox="1"/>
          <p:nvPr/>
        </p:nvSpPr>
        <p:spPr>
          <a:xfrm>
            <a:off x="6263640" y="1298448"/>
            <a:ext cx="5486400" cy="256032"/>
          </a:xfrm>
          <a:prstGeom prst="rect">
            <a:avLst/>
          </a:prstGeom>
          <a:noFill/>
          <a:ln/>
        </p:spPr>
        <p:txBody>
          <a:bodyPr wrap="square" lIns="0" tIns="0" rIns="0" bIns="0" rtlCol="0" anchor="ctr"/>
          <a:lstStyle/>
          <a:p>
            <a:pPr indent="0" marL="0">
              <a:buNone/>
            </a:pPr>
            <a:r>
              <a:rPr lang="en-US" sz="1200" b="1" spc="50" kern="0" dirty="0">
                <a:solidFill>
                  <a:srgbClr val="1F6F5C"/>
                </a:solidFill>
                <a:latin typeface="Arial" pitchFamily="34" charset="0"/>
                <a:ea typeface="Arial" pitchFamily="34" charset="-122"/>
                <a:cs typeface="Arial" pitchFamily="34" charset="-120"/>
              </a:rPr>
              <a:t>[[slug]] の tier 解決 — 上の層が勝つ</a:t>
            </a:r>
            <a:endParaRPr lang="en-US" sz="1200" dirty="0"/>
          </a:p>
        </p:txBody>
      </p:sp>
      <p:sp>
        <p:nvSpPr>
          <p:cNvPr id="10" name="Shape 8"/>
          <p:cNvSpPr/>
          <p:nvPr/>
        </p:nvSpPr>
        <p:spPr>
          <a:xfrm>
            <a:off x="6263640" y="1673352"/>
            <a:ext cx="310896" cy="310896"/>
          </a:xfrm>
          <a:prstGeom prst="ellipse">
            <a:avLst/>
          </a:prstGeom>
          <a:solidFill>
            <a:srgbClr val="C9CEC9"/>
          </a:solidFill>
          <a:ln w="12700">
            <a:solidFill>
              <a:srgbClr val="C9CEC9"/>
            </a:solidFill>
            <a:prstDash val="solid"/>
          </a:ln>
        </p:spPr>
      </p:sp>
      <p:sp>
        <p:nvSpPr>
          <p:cNvPr id="11" name="Text 9"/>
          <p:cNvSpPr txBox="1"/>
          <p:nvPr/>
        </p:nvSpPr>
        <p:spPr>
          <a:xfrm>
            <a:off x="6263640" y="167335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6702552" y="1627632"/>
            <a:ext cx="1828800" cy="256032"/>
          </a:xfrm>
          <a:prstGeom prst="rect">
            <a:avLst/>
          </a:prstGeom>
          <a:noFill/>
          <a:ln/>
        </p:spPr>
        <p:txBody>
          <a:bodyPr wrap="square" lIns="0" tIns="0" rIns="0" bIns="0" rtlCol="0" anchor="ctr"/>
          <a:lstStyle/>
          <a:p>
            <a:pPr indent="0" marL="0">
              <a:buNone/>
            </a:pPr>
            <a:r>
              <a:rPr lang="en-US" sz="1150" b="1" dirty="0">
                <a:solidFill>
                  <a:srgbClr val="1C1C1C"/>
                </a:solidFill>
                <a:latin typeface="Arial" pitchFamily="34" charset="0"/>
                <a:ea typeface="Arial" pitchFamily="34" charset="-122"/>
                <a:cs typeface="Arial" pitchFamily="34" charset="-120"/>
              </a:rPr>
              <a:t>project overlay</a:t>
            </a:r>
            <a:endParaRPr lang="en-US" sz="1150" dirty="0"/>
          </a:p>
        </p:txBody>
      </p:sp>
      <p:sp>
        <p:nvSpPr>
          <p:cNvPr id="13" name="Text 11"/>
          <p:cNvSpPr txBox="1"/>
          <p:nvPr/>
        </p:nvSpPr>
        <p:spPr>
          <a:xfrm>
            <a:off x="6702552" y="1865376"/>
            <a:ext cx="4937760" cy="256032"/>
          </a:xfrm>
          <a:prstGeom prst="rect">
            <a:avLst/>
          </a:prstGeom>
          <a:noFill/>
          <a:ln/>
        </p:spPr>
        <p:txBody>
          <a:bodyPr wrap="square" lIns="0" tIns="0" rIns="0" bIns="0" rtlCol="0" anchor="ctr"/>
          <a:lstStyle/>
          <a:p>
            <a:pPr indent="0" marL="0">
              <a:buNone/>
            </a:pPr>
            <a:r>
              <a:rPr lang="en-US" sz="950" dirty="0">
                <a:solidFill>
                  <a:srgbClr val="5C6166"/>
                </a:solidFill>
                <a:latin typeface="Courier New" pitchFamily="34" charset="0"/>
                <a:ea typeface="Courier New" pitchFamily="34" charset="-122"/>
                <a:cs typeface="Courier New" pitchFamily="34" charset="-120"/>
              </a:rPr>
              <a:t>&lt;repo&gt;/.claude/rig/knowledge/wiki/</a:t>
            </a:r>
            <a:endParaRPr lang="en-US" sz="950" dirty="0"/>
          </a:p>
        </p:txBody>
      </p:sp>
      <p:sp>
        <p:nvSpPr>
          <p:cNvPr id="14" name="Shape 12"/>
          <p:cNvSpPr/>
          <p:nvPr/>
        </p:nvSpPr>
        <p:spPr>
          <a:xfrm>
            <a:off x="6263640" y="2240280"/>
            <a:ext cx="310896" cy="310896"/>
          </a:xfrm>
          <a:prstGeom prst="ellipse">
            <a:avLst/>
          </a:prstGeom>
          <a:solidFill>
            <a:srgbClr val="C9CEC9"/>
          </a:solidFill>
          <a:ln w="12700">
            <a:solidFill>
              <a:srgbClr val="C9CEC9"/>
            </a:solidFill>
            <a:prstDash val="solid"/>
          </a:ln>
        </p:spPr>
      </p:sp>
      <p:sp>
        <p:nvSpPr>
          <p:cNvPr id="15" name="Text 13"/>
          <p:cNvSpPr txBox="1"/>
          <p:nvPr/>
        </p:nvSpPr>
        <p:spPr>
          <a:xfrm>
            <a:off x="6263640" y="22402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6" name="Text 14"/>
          <p:cNvSpPr txBox="1"/>
          <p:nvPr/>
        </p:nvSpPr>
        <p:spPr>
          <a:xfrm>
            <a:off x="6702552" y="2194560"/>
            <a:ext cx="1828800" cy="256032"/>
          </a:xfrm>
          <a:prstGeom prst="rect">
            <a:avLst/>
          </a:prstGeom>
          <a:noFill/>
          <a:ln/>
        </p:spPr>
        <p:txBody>
          <a:bodyPr wrap="square" lIns="0" tIns="0" rIns="0" bIns="0" rtlCol="0" anchor="ctr"/>
          <a:lstStyle/>
          <a:p>
            <a:pPr indent="0" marL="0">
              <a:buNone/>
            </a:pPr>
            <a:r>
              <a:rPr lang="en-US" sz="1150" b="1" dirty="0">
                <a:solidFill>
                  <a:srgbClr val="1C1C1C"/>
                </a:solidFill>
                <a:latin typeface="Arial" pitchFamily="34" charset="0"/>
                <a:ea typeface="Arial" pitchFamily="34" charset="-122"/>
                <a:cs typeface="Arial" pitchFamily="34" charset="-120"/>
              </a:rPr>
              <a:t>global</a:t>
            </a:r>
            <a:endParaRPr lang="en-US" sz="1150" dirty="0"/>
          </a:p>
        </p:txBody>
      </p:sp>
      <p:sp>
        <p:nvSpPr>
          <p:cNvPr id="17" name="Text 15"/>
          <p:cNvSpPr txBox="1"/>
          <p:nvPr/>
        </p:nvSpPr>
        <p:spPr>
          <a:xfrm>
            <a:off x="6702552" y="2432304"/>
            <a:ext cx="4937760" cy="256032"/>
          </a:xfrm>
          <a:prstGeom prst="rect">
            <a:avLst/>
          </a:prstGeom>
          <a:noFill/>
          <a:ln/>
        </p:spPr>
        <p:txBody>
          <a:bodyPr wrap="square" lIns="0" tIns="0" rIns="0" bIns="0" rtlCol="0" anchor="ctr"/>
          <a:lstStyle/>
          <a:p>
            <a:pPr indent="0" marL="0">
              <a:buNone/>
            </a:pPr>
            <a:r>
              <a:rPr lang="en-US" sz="950" dirty="0">
                <a:solidFill>
                  <a:srgbClr val="5C6166"/>
                </a:solidFill>
                <a:latin typeface="Courier New" pitchFamily="34" charset="0"/>
                <a:ea typeface="Courier New" pitchFamily="34" charset="-122"/>
                <a:cs typeface="Courier New" pitchFamily="34" charset="-120"/>
              </a:rPr>
              <a:t>~/.claude/rig/knowledge/wiki/</a:t>
            </a:r>
            <a:endParaRPr lang="en-US" sz="950" dirty="0"/>
          </a:p>
        </p:txBody>
      </p:sp>
      <p:sp>
        <p:nvSpPr>
          <p:cNvPr id="18" name="Shape 16"/>
          <p:cNvSpPr/>
          <p:nvPr/>
        </p:nvSpPr>
        <p:spPr>
          <a:xfrm>
            <a:off x="6263640" y="2807208"/>
            <a:ext cx="310896" cy="310896"/>
          </a:xfrm>
          <a:prstGeom prst="ellipse">
            <a:avLst/>
          </a:prstGeom>
          <a:solidFill>
            <a:srgbClr val="C9CEC9"/>
          </a:solidFill>
          <a:ln w="12700">
            <a:solidFill>
              <a:srgbClr val="C9CEC9"/>
            </a:solidFill>
            <a:prstDash val="solid"/>
          </a:ln>
        </p:spPr>
      </p:sp>
      <p:sp>
        <p:nvSpPr>
          <p:cNvPr id="19" name="Text 17"/>
          <p:cNvSpPr txBox="1"/>
          <p:nvPr/>
        </p:nvSpPr>
        <p:spPr>
          <a:xfrm>
            <a:off x="6263640" y="280720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0" name="Text 18"/>
          <p:cNvSpPr txBox="1"/>
          <p:nvPr/>
        </p:nvSpPr>
        <p:spPr>
          <a:xfrm>
            <a:off x="6702552" y="2761488"/>
            <a:ext cx="1828800" cy="256032"/>
          </a:xfrm>
          <a:prstGeom prst="rect">
            <a:avLst/>
          </a:prstGeom>
          <a:noFill/>
          <a:ln/>
        </p:spPr>
        <p:txBody>
          <a:bodyPr wrap="square" lIns="0" tIns="0" rIns="0" bIns="0" rtlCol="0" anchor="ctr"/>
          <a:lstStyle/>
          <a:p>
            <a:pPr indent="0" marL="0">
              <a:buNone/>
            </a:pPr>
            <a:r>
              <a:rPr lang="en-US" sz="1150" b="1" dirty="0">
                <a:solidFill>
                  <a:srgbClr val="1C1C1C"/>
                </a:solidFill>
                <a:latin typeface="Arial" pitchFamily="34" charset="0"/>
                <a:ea typeface="Arial" pitchFamily="34" charset="-122"/>
                <a:cs typeface="Arial" pitchFamily="34" charset="-120"/>
              </a:rPr>
              <a:t>org</a:t>
            </a:r>
            <a:endParaRPr lang="en-US" sz="1150" dirty="0"/>
          </a:p>
        </p:txBody>
      </p:sp>
      <p:sp>
        <p:nvSpPr>
          <p:cNvPr id="21" name="Text 19"/>
          <p:cNvSpPr txBox="1"/>
          <p:nvPr/>
        </p:nvSpPr>
        <p:spPr>
          <a:xfrm>
            <a:off x="6702552" y="2999232"/>
            <a:ext cx="4937760" cy="256032"/>
          </a:xfrm>
          <a:prstGeom prst="rect">
            <a:avLst/>
          </a:prstGeom>
          <a:noFill/>
          <a:ln/>
        </p:spPr>
        <p:txBody>
          <a:bodyPr wrap="square" lIns="0" tIns="0" rIns="0" bIns="0" rtlCol="0" anchor="ctr"/>
          <a:lstStyle/>
          <a:p>
            <a:pPr indent="0" marL="0">
              <a:buNone/>
            </a:pPr>
            <a:r>
              <a:rPr lang="en-US" sz="950" dirty="0">
                <a:solidFill>
                  <a:srgbClr val="5C6166"/>
                </a:solidFill>
                <a:latin typeface="Courier New" pitchFamily="34" charset="0"/>
                <a:ea typeface="Courier New" pitchFamily="34" charset="-122"/>
                <a:cs typeface="Courier New" pitchFamily="34" charset="-120"/>
              </a:rPr>
              <a:t>チームで共有する層（RIG_ORG_HOME）</a:t>
            </a:r>
            <a:endParaRPr lang="en-US" sz="950" dirty="0"/>
          </a:p>
        </p:txBody>
      </p:sp>
      <p:sp>
        <p:nvSpPr>
          <p:cNvPr id="22" name="Shape 20"/>
          <p:cNvSpPr/>
          <p:nvPr/>
        </p:nvSpPr>
        <p:spPr>
          <a:xfrm>
            <a:off x="6263640" y="3374136"/>
            <a:ext cx="310896" cy="310896"/>
          </a:xfrm>
          <a:prstGeom prst="ellipse">
            <a:avLst/>
          </a:prstGeom>
          <a:solidFill>
            <a:srgbClr val="1F6F5C"/>
          </a:solidFill>
          <a:ln w="12700">
            <a:solidFill>
              <a:srgbClr val="1F6F5C"/>
            </a:solidFill>
            <a:prstDash val="solid"/>
          </a:ln>
        </p:spPr>
      </p:sp>
      <p:sp>
        <p:nvSpPr>
          <p:cNvPr id="23" name="Text 21"/>
          <p:cNvSpPr txBox="1"/>
          <p:nvPr/>
        </p:nvSpPr>
        <p:spPr>
          <a:xfrm>
            <a:off x="6263640" y="33741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4" name="Text 22"/>
          <p:cNvSpPr txBox="1"/>
          <p:nvPr/>
        </p:nvSpPr>
        <p:spPr>
          <a:xfrm>
            <a:off x="6702552" y="3328416"/>
            <a:ext cx="1828800" cy="256032"/>
          </a:xfrm>
          <a:prstGeom prst="rect">
            <a:avLst/>
          </a:prstGeom>
          <a:noFill/>
          <a:ln/>
        </p:spPr>
        <p:txBody>
          <a:bodyPr wrap="square" lIns="0" tIns="0" rIns="0" bIns="0" rtlCol="0" anchor="ctr"/>
          <a:lstStyle/>
          <a:p>
            <a:pPr indent="0" marL="0">
              <a:buNone/>
            </a:pPr>
            <a:r>
              <a:rPr lang="en-US" sz="1150" b="1" dirty="0">
                <a:solidFill>
                  <a:srgbClr val="1C1C1C"/>
                </a:solidFill>
                <a:latin typeface="Arial" pitchFamily="34" charset="0"/>
                <a:ea typeface="Arial" pitchFamily="34" charset="-122"/>
                <a:cs typeface="Arial" pitchFamily="34" charset="-120"/>
              </a:rPr>
              <a:t>pack 同梱</a:t>
            </a:r>
            <a:endParaRPr lang="en-US" sz="1150" dirty="0"/>
          </a:p>
        </p:txBody>
      </p:sp>
      <p:sp>
        <p:nvSpPr>
          <p:cNvPr id="25" name="Text 23"/>
          <p:cNvSpPr txBox="1"/>
          <p:nvPr/>
        </p:nvSpPr>
        <p:spPr>
          <a:xfrm>
            <a:off x="6702552" y="3566160"/>
            <a:ext cx="4937760" cy="256032"/>
          </a:xfrm>
          <a:prstGeom prst="rect">
            <a:avLst/>
          </a:prstGeom>
          <a:noFill/>
          <a:ln/>
        </p:spPr>
        <p:txBody>
          <a:bodyPr wrap="square" lIns="0" tIns="0" rIns="0" bIns="0" rtlCol="0" anchor="ctr"/>
          <a:lstStyle/>
          <a:p>
            <a:pPr indent="0" marL="0">
              <a:buNone/>
            </a:pPr>
            <a:r>
              <a:rPr lang="en-US" sz="950" dirty="0">
                <a:solidFill>
                  <a:srgbClr val="5C6166"/>
                </a:solidFill>
                <a:latin typeface="Courier New" pitchFamily="34" charset="0"/>
                <a:ea typeface="Courier New" pitchFamily="34" charset="-122"/>
                <a:cs typeface="Courier New" pitchFamily="34" charset="-120"/>
              </a:rPr>
              <a:t>&lt;pack&gt;/facets/knowledge/&lt;slug&gt;.md</a:t>
            </a:r>
            <a:endParaRPr lang="en-US" sz="950" dirty="0"/>
          </a:p>
        </p:txBody>
      </p:sp>
      <p:sp>
        <p:nvSpPr>
          <p:cNvPr id="26" name="Shape 24"/>
          <p:cNvSpPr/>
          <p:nvPr/>
        </p:nvSpPr>
        <p:spPr>
          <a:xfrm>
            <a:off x="6263640" y="3941064"/>
            <a:ext cx="310896" cy="310896"/>
          </a:xfrm>
          <a:prstGeom prst="ellipse">
            <a:avLst/>
          </a:prstGeom>
          <a:solidFill>
            <a:srgbClr val="C9CEC9"/>
          </a:solidFill>
          <a:ln w="12700">
            <a:solidFill>
              <a:srgbClr val="C9CEC9"/>
            </a:solidFill>
            <a:prstDash val="solid"/>
          </a:ln>
        </p:spPr>
      </p:sp>
      <p:sp>
        <p:nvSpPr>
          <p:cNvPr id="27" name="Text 25"/>
          <p:cNvSpPr txBox="1"/>
          <p:nvPr/>
        </p:nvSpPr>
        <p:spPr>
          <a:xfrm>
            <a:off x="6263640" y="394106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28" name="Text 26"/>
          <p:cNvSpPr txBox="1"/>
          <p:nvPr/>
        </p:nvSpPr>
        <p:spPr>
          <a:xfrm>
            <a:off x="6702552" y="3895344"/>
            <a:ext cx="1828800" cy="256032"/>
          </a:xfrm>
          <a:prstGeom prst="rect">
            <a:avLst/>
          </a:prstGeom>
          <a:noFill/>
          <a:ln/>
        </p:spPr>
        <p:txBody>
          <a:bodyPr wrap="square" lIns="0" tIns="0" rIns="0" bIns="0" rtlCol="0" anchor="ctr"/>
          <a:lstStyle/>
          <a:p>
            <a:pPr indent="0" marL="0">
              <a:buNone/>
            </a:pPr>
            <a:r>
              <a:rPr lang="en-US" sz="1150" b="1" dirty="0">
                <a:solidFill>
                  <a:srgbClr val="1C1C1C"/>
                </a:solidFill>
                <a:latin typeface="Arial" pitchFamily="34" charset="0"/>
                <a:ea typeface="Arial" pitchFamily="34" charset="-122"/>
                <a:cs typeface="Arial" pitchFamily="34" charset="-120"/>
              </a:rPr>
              <a:t>shipped</a:t>
            </a:r>
            <a:endParaRPr lang="en-US" sz="1150" dirty="0"/>
          </a:p>
        </p:txBody>
      </p:sp>
      <p:sp>
        <p:nvSpPr>
          <p:cNvPr id="29" name="Text 27"/>
          <p:cNvSpPr txBox="1"/>
          <p:nvPr/>
        </p:nvSpPr>
        <p:spPr>
          <a:xfrm>
            <a:off x="6702552" y="4133088"/>
            <a:ext cx="4937760" cy="256032"/>
          </a:xfrm>
          <a:prstGeom prst="rect">
            <a:avLst/>
          </a:prstGeom>
          <a:noFill/>
          <a:ln/>
        </p:spPr>
        <p:txBody>
          <a:bodyPr wrap="square" lIns="0" tIns="0" rIns="0" bIns="0" rtlCol="0" anchor="ctr"/>
          <a:lstStyle/>
          <a:p>
            <a:pPr indent="0" marL="0">
              <a:buNone/>
            </a:pPr>
            <a:r>
              <a:rPr lang="en-US" sz="950" dirty="0">
                <a:solidFill>
                  <a:srgbClr val="5C6166"/>
                </a:solidFill>
                <a:latin typeface="Courier New" pitchFamily="34" charset="0"/>
                <a:ea typeface="Courier New" pitchFamily="34" charset="-122"/>
                <a:cs typeface="Courier New" pitchFamily="34" charset="-120"/>
              </a:rPr>
              <a:t>rig が最初から持つ正準ページ</a:t>
            </a:r>
            <a:endParaRPr lang="en-US" sz="950" dirty="0"/>
          </a:p>
        </p:txBody>
      </p:sp>
      <p:sp>
        <p:nvSpPr>
          <p:cNvPr id="30" name="Shape 28"/>
          <p:cNvSpPr/>
          <p:nvPr/>
        </p:nvSpPr>
        <p:spPr>
          <a:xfrm>
            <a:off x="502920" y="4434840"/>
            <a:ext cx="5394960" cy="1371600"/>
          </a:xfrm>
          <a:prstGeom prst="roundRect">
            <a:avLst>
              <a:gd name="adj" fmla="val 4000"/>
            </a:avLst>
          </a:prstGeom>
          <a:solidFill>
            <a:srgbClr val="E7EFEB"/>
          </a:solidFill>
          <a:ln w="6350">
            <a:solidFill>
              <a:srgbClr val="E7EFEB"/>
            </a:solidFill>
            <a:prstDash val="solid"/>
          </a:ln>
          <a:effectLst>
            <a:outerShdw sx="100000" sy="100000" kx="0" ky="0" algn="bl" rotWithShape="0" blurRad="101600" dist="12700" dir="5400000">
              <a:srgbClr val="000000">
                <a:alpha val="10000"/>
              </a:srgbClr>
            </a:outerShdw>
          </a:effectLst>
        </p:spPr>
      </p:sp>
      <p:sp>
        <p:nvSpPr>
          <p:cNvPr id="31" name="Text 29"/>
          <p:cNvSpPr txBox="1"/>
          <p:nvPr/>
        </p:nvSpPr>
        <p:spPr>
          <a:xfrm>
            <a:off x="758952" y="4617720"/>
            <a:ext cx="488289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pack の persona は、まず自分の pack を見る</a:t>
            </a:r>
            <a:endParaRPr lang="en-US" sz="1400" dirty="0"/>
          </a:p>
        </p:txBody>
      </p:sp>
      <p:sp>
        <p:nvSpPr>
          <p:cNvPr id="32" name="Text 30"/>
          <p:cNvSpPr txBox="1"/>
          <p:nvPr/>
        </p:nvSpPr>
        <p:spPr>
          <a:xfrm>
            <a:off x="758952" y="5001768"/>
            <a:ext cx="4882896" cy="640080"/>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pack は自分の persona のために必要なページを同梱して持ち歩く。同じ slug をプロジェクト側に置けば、従来どおり上書きできる。</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N° 14</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pack の type が決めるのは、権限</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25</a:t>
            </a:r>
            <a:endParaRPr lang="en-US" sz="9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7315200" cy="914400"/>
        </p:xfrm>
        <a:graphic>
          <a:graphicData uri="http://schemas.openxmlformats.org/drawingml/2006/table">
            <a:tbl>
              <a:tblPr/>
              <a:tblGrid>
                <a:gridCol w="1554480"/>
                <a:gridCol w="4023360"/>
                <a:gridCol w="1737360"/>
              </a:tblGrid>
              <a:tr h="420624">
                <a:tc>
                  <a:txBody>
                    <a:bodyPr/>
                    <a:lstStyle/>
                    <a:p>
                      <a:pPr indent="0" marL="0">
                        <a:buNone/>
                      </a:pPr>
                      <a:r>
                        <a:rPr lang="en-US" sz="1050" b="1" dirty="0">
                          <a:solidFill>
                            <a:srgbClr val="FFFFFF"/>
                          </a:solidFill>
                          <a:latin typeface="Arial" pitchFamily="34" charset="0"/>
                          <a:ea typeface="Arial" pitchFamily="34" charset="-122"/>
                          <a:cs typeface="Arial" pitchFamily="34" charset="-120"/>
                        </a:rPr>
                        <a:t>type</a:t>
                      </a:r>
                      <a:endParaRPr lang="en-US" sz="1050" dirty="0">
                        <a:latin typeface="Arial" charset="0"/>
                        <a:ea typeface="Arial" charset="0"/>
                        <a:cs typeface="Arial"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1C1C1C"/>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宣言できるアセット</a:t>
                      </a:r>
                      <a:endParaRPr lang="en-US" sz="1050" dirty="0">
                        <a:latin typeface="Arial" charset="0"/>
                        <a:ea typeface="Arial" charset="0"/>
                        <a:cs typeface="Arial"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1C1C1C"/>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host コマンド実行</a:t>
                      </a:r>
                      <a:endParaRPr lang="en-US" sz="1050" dirty="0">
                        <a:latin typeface="Arial" charset="0"/>
                        <a:ea typeface="Arial" charset="0"/>
                        <a:cs typeface="Arial"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1C1C1C"/>
                    </a:solidFill>
                  </a:tcPr>
                </a:tc>
              </a:tr>
              <a:tr h="420624">
                <a:tc>
                  <a:txBody>
                    <a:bodyPr/>
                    <a:lstStyle/>
                    <a:p>
                      <a:pPr indent="0" marL="0">
                        <a:buNone/>
                      </a:pPr>
                      <a:r>
                        <a:rPr lang="en-US" sz="1050" b="1" dirty="0">
                          <a:solidFill>
                            <a:srgbClr val="1C1C1C"/>
                          </a:solidFill>
                          <a:latin typeface="Courier New" pitchFamily="34" charset="0"/>
                          <a:ea typeface="Courier New" pitchFamily="34" charset="-122"/>
                          <a:cs typeface="Courier New" pitchFamily="34" charset="-120"/>
                        </a:rPr>
                        <a:t>knowledge</a:t>
                      </a:r>
                      <a:endParaRPr lang="en-US" sz="1050" dirty="0">
                        <a:latin typeface="Courier New" charset="0"/>
                        <a:ea typeface="Courier New" charset="0"/>
                        <a:cs typeface="Courier New"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wiki・resource・評価ケースと結果</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いいえ</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r>
              <a:tr h="420624">
                <a:tc>
                  <a:txBody>
                    <a:bodyPr/>
                    <a:lstStyle/>
                    <a:p>
                      <a:pPr indent="0" marL="0">
                        <a:buNone/>
                      </a:pPr>
                      <a:r>
                        <a:rPr lang="en-US" sz="1050" b="1" dirty="0">
                          <a:solidFill>
                            <a:srgbClr val="1C1C1C"/>
                          </a:solidFill>
                          <a:latin typeface="Courier New" pitchFamily="34" charset="0"/>
                          <a:ea typeface="Courier New" pitchFamily="34" charset="-122"/>
                          <a:cs typeface="Courier New" pitchFamily="34" charset="-120"/>
                        </a:rPr>
                        <a:t>policy</a:t>
                      </a:r>
                      <a:endParaRPr lang="en-US" sz="1050" dirty="0">
                        <a:latin typeface="Courier New" charset="0"/>
                        <a:ea typeface="Courier New" charset="0"/>
                        <a:cs typeface="Courier New"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上記 ＋ policy</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いいえ</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r>
              <a:tr h="420624">
                <a:tc>
                  <a:txBody>
                    <a:bodyPr/>
                    <a:lstStyle/>
                    <a:p>
                      <a:pPr indent="0" marL="0">
                        <a:buNone/>
                      </a:pPr>
                      <a:r>
                        <a:rPr lang="en-US" sz="1050" b="1" dirty="0">
                          <a:solidFill>
                            <a:srgbClr val="1C1C1C"/>
                          </a:solidFill>
                          <a:latin typeface="Courier New" pitchFamily="34" charset="0"/>
                          <a:ea typeface="Courier New" pitchFamily="34" charset="-122"/>
                          <a:cs typeface="Courier New" pitchFamily="34" charset="-120"/>
                        </a:rPr>
                        <a:t>reviewer</a:t>
                      </a:r>
                      <a:endParaRPr lang="en-US" sz="1050" dirty="0">
                        <a:latin typeface="Courier New" charset="0"/>
                        <a:ea typeface="Courier New" charset="0"/>
                        <a:cs typeface="Courier New"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上記 ＋ persona・output-contract</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いいえ</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r>
              <a:tr h="420624">
                <a:tc>
                  <a:txBody>
                    <a:bodyPr/>
                    <a:lstStyle/>
                    <a:p>
                      <a:pPr indent="0" marL="0">
                        <a:buNone/>
                      </a:pPr>
                      <a:r>
                        <a:rPr lang="en-US" sz="1050" b="1" dirty="0">
                          <a:solidFill>
                            <a:srgbClr val="1C1C1C"/>
                          </a:solidFill>
                          <a:latin typeface="Courier New" pitchFamily="34" charset="0"/>
                          <a:ea typeface="Courier New" pitchFamily="34" charset="-122"/>
                          <a:cs typeface="Courier New" pitchFamily="34" charset="-120"/>
                        </a:rPr>
                        <a:t>skill</a:t>
                      </a:r>
                      <a:endParaRPr lang="en-US" sz="1050" dirty="0">
                        <a:latin typeface="Courier New" charset="0"/>
                        <a:ea typeface="Courier New" charset="0"/>
                        <a:cs typeface="Courier New"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すべてのプロンプト種別（instruction・recipe・pattern・command・agent）</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いいえ</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r>
              <a:tr h="420624">
                <a:tc>
                  <a:txBody>
                    <a:bodyPr/>
                    <a:lstStyle/>
                    <a:p>
                      <a:pPr indent="0" marL="0">
                        <a:buNone/>
                      </a:pPr>
                      <a:r>
                        <a:rPr lang="en-US" sz="1050" b="1" dirty="0">
                          <a:solidFill>
                            <a:srgbClr val="1C1C1C"/>
                          </a:solidFill>
                          <a:latin typeface="Courier New" pitchFamily="34" charset="0"/>
                          <a:ea typeface="Courier New" pitchFamily="34" charset="-122"/>
                          <a:cs typeface="Courier New" pitchFamily="34" charset="-120"/>
                        </a:rPr>
                        <a:t>workflow</a:t>
                      </a:r>
                      <a:endParaRPr lang="en-US" sz="1050" dirty="0">
                        <a:latin typeface="Courier New" charset="0"/>
                        <a:ea typeface="Courier New" charset="0"/>
                        <a:cs typeface="Courier New"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skill と同じ（違いは宣言された意図であって、権限ではない）</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いいえ</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r>
              <a:tr h="420624">
                <a:tc>
                  <a:txBody>
                    <a:bodyPr/>
                    <a:lstStyle/>
                    <a:p>
                      <a:pPr indent="0" marL="0">
                        <a:buNone/>
                      </a:pPr>
                      <a:r>
                        <a:rPr lang="en-US" sz="1050" b="1" dirty="0">
                          <a:solidFill>
                            <a:srgbClr val="1C1C1C"/>
                          </a:solidFill>
                          <a:latin typeface="Courier New" pitchFamily="34" charset="0"/>
                          <a:ea typeface="Courier New" pitchFamily="34" charset="-122"/>
                          <a:cs typeface="Courier New" pitchFamily="34" charset="-120"/>
                        </a:rPr>
                        <a:t>tool</a:t>
                      </a:r>
                      <a:endParaRPr lang="en-US" sz="1050" dirty="0">
                        <a:latin typeface="Courier New" charset="0"/>
                        <a:ea typeface="Courier New" charset="0"/>
                        <a:cs typeface="Courier New"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すべて</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50" dirty="0">
                          <a:solidFill>
                            <a:srgbClr val="5C6166"/>
                          </a:solidFill>
                          <a:latin typeface="Calibri" pitchFamily="34" charset="0"/>
                          <a:ea typeface="Calibri" pitchFamily="34" charset="-122"/>
                          <a:cs typeface="Calibri" pitchFamily="34" charset="-120"/>
                        </a:rPr>
                        <a:t>はい</a:t>
                      </a:r>
                      <a:endParaRPr lang="en-US" sz="105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r>
            </a:tbl>
          </a:graphicData>
        </a:graphic>
      </p:graphicFrame>
      <p:sp>
        <p:nvSpPr>
          <p:cNvPr id="7" name="Shape 4"/>
          <p:cNvSpPr/>
          <p:nvPr/>
        </p:nvSpPr>
        <p:spPr>
          <a:xfrm>
            <a:off x="8092440" y="1298448"/>
            <a:ext cx="3566160" cy="2011680"/>
          </a:xfrm>
          <a:prstGeom prst="roundRect">
            <a:avLst>
              <a:gd name="adj" fmla="val 2727"/>
            </a:avLst>
          </a:prstGeom>
          <a:solidFill>
            <a:srgbClr val="F3EAE6"/>
          </a:solidFill>
          <a:ln w="6350">
            <a:solidFill>
              <a:srgbClr val="F3EAE6"/>
            </a:solidFill>
            <a:prstDash val="solid"/>
          </a:ln>
          <a:effectLst>
            <a:outerShdw sx="100000" sy="100000" kx="0" ky="0" algn="bl" rotWithShape="0" blurRad="101600" dist="12700" dir="5400000">
              <a:srgbClr val="000000">
                <a:alpha val="10000"/>
              </a:srgbClr>
            </a:outerShdw>
          </a:effectLst>
        </p:spPr>
      </p:sp>
      <p:sp>
        <p:nvSpPr>
          <p:cNvPr id="8" name="Text 5"/>
          <p:cNvSpPr txBox="1"/>
          <p:nvPr/>
        </p:nvSpPr>
        <p:spPr>
          <a:xfrm>
            <a:off x="8348472" y="1481328"/>
            <a:ext cx="3054096" cy="320040"/>
          </a:xfrm>
          <a:prstGeom prst="rect">
            <a:avLst/>
          </a:prstGeom>
          <a:noFill/>
          <a:ln/>
        </p:spPr>
        <p:txBody>
          <a:bodyPr wrap="square" lIns="0" tIns="0" rIns="0" bIns="0" rtlCol="0" anchor="ctr"/>
          <a:lstStyle/>
          <a:p>
            <a:pPr indent="0" marL="0">
              <a:buNone/>
            </a:pPr>
            <a:r>
              <a:rPr lang="en-US" sz="1400" b="1" dirty="0">
                <a:solidFill>
                  <a:srgbClr val="A33A21"/>
                </a:solidFill>
                <a:latin typeface="Arial" pitchFamily="34" charset="0"/>
                <a:ea typeface="Arial" pitchFamily="34" charset="-122"/>
                <a:cs typeface="Arial" pitchFamily="34" charset="-120"/>
              </a:rPr>
              <a:t>右端の列が、この型モデルの存在理由</a:t>
            </a:r>
            <a:endParaRPr lang="en-US" sz="1400" dirty="0"/>
          </a:p>
        </p:txBody>
      </p:sp>
      <p:sp>
        <p:nvSpPr>
          <p:cNvPr id="9" name="Text 6"/>
          <p:cNvSpPr txBox="1"/>
          <p:nvPr/>
        </p:nvSpPr>
        <p:spPr>
          <a:xfrm>
            <a:off x="8348472" y="1865376"/>
            <a:ext cx="3054096" cy="1280160"/>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recipe に checks:（ホスト上で実行されるシェルコマンド）を書けるのは tool だけ。他の型が運ぶのは、プロバイダが読むテキストだけ。</a:t>
            </a:r>
            <a:endParaRPr lang="en-US" sz="1100" dirty="0"/>
          </a:p>
        </p:txBody>
      </p:sp>
      <p:sp>
        <p:nvSpPr>
          <p:cNvPr id="10" name="Shape 7"/>
          <p:cNvSpPr/>
          <p:nvPr/>
        </p:nvSpPr>
        <p:spPr>
          <a:xfrm>
            <a:off x="8092440" y="3429000"/>
            <a:ext cx="3566160" cy="1234440"/>
          </a:xfrm>
          <a:prstGeom prst="roundRect">
            <a:avLst>
              <a:gd name="adj" fmla="val 4444"/>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1" name="Text 8"/>
          <p:cNvSpPr txBox="1"/>
          <p:nvPr/>
        </p:nvSpPr>
        <p:spPr>
          <a:xfrm>
            <a:off x="8348472" y="3611880"/>
            <a:ext cx="305409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type ≠ kind</a:t>
            </a:r>
            <a:endParaRPr lang="en-US" sz="1400" dirty="0"/>
          </a:p>
        </p:txBody>
      </p:sp>
      <p:sp>
        <p:nvSpPr>
          <p:cNvPr id="12" name="Text 9"/>
          <p:cNvSpPr txBox="1"/>
          <p:nvPr/>
        </p:nvSpPr>
        <p:spPr>
          <a:xfrm>
            <a:off x="8348472" y="3995928"/>
            <a:ext cx="3054096" cy="502920"/>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kind（core / official / domain / project）は tier 順を決めるだけ。tier は権限ではない。</a:t>
            </a:r>
            <a:endParaRPr lang="en-US" sz="1100" dirty="0"/>
          </a:p>
        </p:txBody>
      </p:sp>
      <p:sp>
        <p:nvSpPr>
          <p:cNvPr id="13" name="Shape 10"/>
          <p:cNvSpPr/>
          <p:nvPr/>
        </p:nvSpPr>
        <p:spPr>
          <a:xfrm>
            <a:off x="8092440" y="4800600"/>
            <a:ext cx="3566160" cy="1097280"/>
          </a:xfrm>
          <a:prstGeom prst="roundRect">
            <a:avLst>
              <a:gd name="adj" fmla="val 5000"/>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4" name="Text 11"/>
          <p:cNvSpPr txBox="1"/>
          <p:nvPr/>
        </p:nvSpPr>
        <p:spPr>
          <a:xfrm>
            <a:off x="8348472" y="4983480"/>
            <a:ext cx="305409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既定値を持たない理由</a:t>
            </a:r>
            <a:endParaRPr lang="en-US" sz="1400" dirty="0"/>
          </a:p>
        </p:txBody>
      </p:sp>
      <p:sp>
        <p:nvSpPr>
          <p:cNvPr id="15" name="Text 12"/>
          <p:cNvSpPr txBox="1"/>
          <p:nvPr/>
        </p:nvSpPr>
        <p:spPr>
          <a:xfrm>
            <a:off x="8348472" y="5367528"/>
            <a:ext cx="3054096" cy="365760"/>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既定値を置くと、その決定を「決めなかった人」に渡してしまうから。</a:t>
            </a:r>
            <a:endParaRPr lang="en-US" sz="1100" dirty="0"/>
          </a:p>
        </p:txBody>
      </p:sp>
      <p:sp>
        <p:nvSpPr>
          <p:cNvPr id="16" name="Text 13"/>
          <p:cNvSpPr txBox="1"/>
          <p:nvPr/>
        </p:nvSpPr>
        <p:spPr>
          <a:xfrm>
            <a:off x="502920" y="4434840"/>
            <a:ext cx="7315200" cy="320040"/>
          </a:xfrm>
          <a:prstGeom prst="rect">
            <a:avLst/>
          </a:prstGeom>
          <a:noFill/>
          <a:ln/>
        </p:spPr>
        <p:txBody>
          <a:bodyPr wrap="square" lIns="0" tIns="0" rIns="0" bIns="0" rtlCol="0" anchor="ctr"/>
          <a:lstStyle/>
          <a:p>
            <a:pPr indent="0" marL="0">
              <a:buNone/>
            </a:pPr>
            <a:r>
              <a:rPr lang="en-US" sz="1300" b="1" dirty="0">
                <a:solidFill>
                  <a:srgbClr val="1C1C1C"/>
                </a:solidFill>
                <a:latin typeface="Arial" pitchFamily="34" charset="0"/>
                <a:ea typeface="Arial" pitchFamily="34" charset="-122"/>
                <a:cs typeface="Arial" pitchFamily="34" charset="-120"/>
              </a:rPr>
              <a:t>チームのドメイン知識を追加することが、同時にコマンド実行権限を渡すことになってはいけない — これが型モデルの引く線。</a:t>
            </a:r>
            <a:endParaRPr lang="en-US" sz="1300" dirty="0"/>
          </a:p>
        </p:txBody>
      </p:sp>
      <p:sp>
        <p:nvSpPr>
          <p:cNvPr id="17" name="Shape 14"/>
          <p:cNvSpPr/>
          <p:nvPr/>
        </p:nvSpPr>
        <p:spPr>
          <a:xfrm>
            <a:off x="502920" y="4800600"/>
            <a:ext cx="7315200" cy="1097280"/>
          </a:xfrm>
          <a:prstGeom prst="roundRect">
            <a:avLst>
              <a:gd name="adj" fmla="val 5000"/>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8" name="Text 15"/>
          <p:cNvSpPr txBox="1"/>
          <p:nvPr/>
        </p:nvSpPr>
        <p:spPr>
          <a:xfrm>
            <a:off x="758952" y="4983480"/>
            <a:ext cx="680313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どの type を選ぶか</a:t>
            </a:r>
            <a:endParaRPr lang="en-US" sz="1400" dirty="0"/>
          </a:p>
        </p:txBody>
      </p:sp>
      <p:sp>
        <p:nvSpPr>
          <p:cNvPr id="19" name="Text 16"/>
          <p:cNvSpPr txBox="1"/>
          <p:nvPr/>
        </p:nvSpPr>
        <p:spPr>
          <a:xfrm>
            <a:off x="758952" y="5367528"/>
            <a:ext cx="6803136" cy="365760"/>
          </a:xfrm>
          <a:prstGeom prst="rect">
            <a:avLst/>
          </a:prstGeom>
          <a:noFill/>
          <a:ln/>
        </p:spPr>
        <p:txBody>
          <a:bodyPr wrap="square" lIns="0" tIns="0" rIns="0" bIns="0" rtlCol="0" anchor="t"/>
          <a:lstStyle/>
          <a:p>
            <a:pPr indent="0" marL="0">
              <a:lnSpc>
                <a:spcPts val="1500"/>
              </a:lnSpc>
              <a:buNone/>
            </a:pPr>
            <a:r>
              <a:rPr lang="en-US" sz="1150" dirty="0">
                <a:solidFill>
                  <a:srgbClr val="5C6166"/>
                </a:solidFill>
                <a:latin typeface="Calibri" pitchFamily="34" charset="0"/>
                <a:ea typeface="Calibri" pitchFamily="34" charset="-122"/>
                <a:cs typeface="Calibri" pitchFamily="34" charset="-120"/>
              </a:rPr>
              <a:t>知識層を配るだけなら knowledge。persona も一緒に配るなら reviewer。recipe やコマンドまで含むなら skill。必要以上に強い型を選ばないことが、そのまま受け取る側への安全保証になる。</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N° 15</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作る — init → sync → validate → doctor</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26</a:t>
            </a:r>
            <a:endParaRPr lang="en-US" sz="900" dirty="0"/>
          </a:p>
        </p:txBody>
      </p:sp>
      <p:sp>
        <p:nvSpPr>
          <p:cNvPr id="6" name="Shape 4"/>
          <p:cNvSpPr/>
          <p:nvPr/>
        </p:nvSpPr>
        <p:spPr>
          <a:xfrm>
            <a:off x="502920" y="1298448"/>
            <a:ext cx="6400800" cy="2148840"/>
          </a:xfrm>
          <a:prstGeom prst="roundRect">
            <a:avLst>
              <a:gd name="adj" fmla="val 2128"/>
            </a:avLst>
          </a:prstGeom>
          <a:solidFill>
            <a:srgbClr val="1C1C1C"/>
          </a:solidFill>
          <a:ln w="12700">
            <a:solidFill>
              <a:srgbClr val="1C1C1C"/>
            </a:solidFill>
            <a:prstDash val="solid"/>
          </a:ln>
          <a:effectLst>
            <a:outerShdw sx="100000" sy="100000" kx="0" ky="0" algn="bl" rotWithShape="0" blurRad="101600" dist="12700" dir="5400000">
              <a:srgbClr val="000000">
                <a:alpha val="10000"/>
              </a:srgbClr>
            </a:outerShdw>
          </a:effectLst>
        </p:spPr>
      </p:sp>
      <p:sp>
        <p:nvSpPr>
          <p:cNvPr id="7" name="Text 5"/>
          <p:cNvSpPr txBox="1"/>
          <p:nvPr/>
        </p:nvSpPr>
        <p:spPr>
          <a:xfrm>
            <a:off x="704088" y="1444752"/>
            <a:ext cx="5998464" cy="1856232"/>
          </a:xfrm>
          <a:prstGeom prst="rect">
            <a:avLst/>
          </a:prstGeom>
          <a:noFill/>
          <a:ln/>
        </p:spPr>
        <p:txBody>
          <a:bodyPr wrap="square" lIns="0" tIns="0" rIns="0" bIns="0" rtlCol="0" anchor="t"/>
          <a:lstStyle/>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 rig-wb pack init my-domain --type knowledge \</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      --kind domain --root .rig/packs</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initialized: .rig/packs/my-domain</a:t>
            </a:r>
            <a:endParaRPr lang="en-US" sz="1000" dirty="0"/>
          </a:p>
          <a:p>
            <a:pPr indent="0" marL="0">
              <a:lnSpc>
                <a:spcPts val="1500"/>
              </a:lnSpc>
              <a:buNone/>
            </a:pP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next:</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  1. write an asset  facets/knowledge/&lt;name&gt;.md</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  2. rig-wb pack sync .rig/packs/my-domain</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  3. rig-wb pack validate .rig/packs/my-domain</a:t>
            </a:r>
            <a:endParaRPr lang="en-US" sz="1000" dirty="0"/>
          </a:p>
        </p:txBody>
      </p:sp>
      <p:sp>
        <p:nvSpPr>
          <p:cNvPr id="8" name="Shape 6"/>
          <p:cNvSpPr/>
          <p:nvPr/>
        </p:nvSpPr>
        <p:spPr>
          <a:xfrm>
            <a:off x="502920" y="3611880"/>
            <a:ext cx="6400800" cy="1234440"/>
          </a:xfrm>
          <a:prstGeom prst="roundRect">
            <a:avLst>
              <a:gd name="adj" fmla="val 3704"/>
            </a:avLst>
          </a:prstGeom>
          <a:solidFill>
            <a:srgbClr val="1C1C1C"/>
          </a:solidFill>
          <a:ln w="12700">
            <a:solidFill>
              <a:srgbClr val="1C1C1C"/>
            </a:solidFill>
            <a:prstDash val="solid"/>
          </a:ln>
          <a:effectLst>
            <a:outerShdw sx="100000" sy="100000" kx="0" ky="0" algn="bl" rotWithShape="0" blurRad="101600" dist="12700" dir="5400000">
              <a:srgbClr val="000000">
                <a:alpha val="10000"/>
              </a:srgbClr>
            </a:outerShdw>
          </a:effectLst>
        </p:spPr>
      </p:sp>
      <p:sp>
        <p:nvSpPr>
          <p:cNvPr id="9" name="Text 7"/>
          <p:cNvSpPr txBox="1"/>
          <p:nvPr/>
        </p:nvSpPr>
        <p:spPr>
          <a:xfrm>
            <a:off x="704088" y="3758184"/>
            <a:ext cx="5998464" cy="941832"/>
          </a:xfrm>
          <a:prstGeom prst="rect">
            <a:avLst/>
          </a:prstGeom>
          <a:noFill/>
          <a:ln/>
        </p:spPr>
        <p:txBody>
          <a:bodyPr wrap="square" lIns="0" tIns="0" rIns="0" bIns="0" rtlCol="0" anchor="t"/>
          <a:lstStyle/>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 vi .rig/packs/my-domain/facets/knowledge/backup.md</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 rig-wb pack sync .rig/packs/my-domain</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  + facets/knowledge/backup.md</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pack sync: 1 asset(s) declared and hashed</a:t>
            </a:r>
            <a:endParaRPr lang="en-US" sz="1000" dirty="0"/>
          </a:p>
        </p:txBody>
      </p:sp>
      <p:sp>
        <p:nvSpPr>
          <p:cNvPr id="10" name="Shape 8"/>
          <p:cNvSpPr/>
          <p:nvPr/>
        </p:nvSpPr>
        <p:spPr>
          <a:xfrm>
            <a:off x="502920" y="4983480"/>
            <a:ext cx="6400800" cy="914400"/>
          </a:xfrm>
          <a:prstGeom prst="roundRect">
            <a:avLst>
              <a:gd name="adj" fmla="val 5000"/>
            </a:avLst>
          </a:prstGeom>
          <a:solidFill>
            <a:srgbClr val="1C1C1C"/>
          </a:solidFill>
          <a:ln w="12700">
            <a:solidFill>
              <a:srgbClr val="1C1C1C"/>
            </a:solidFill>
            <a:prstDash val="solid"/>
          </a:ln>
          <a:effectLst>
            <a:outerShdw sx="100000" sy="100000" kx="0" ky="0" algn="bl" rotWithShape="0" blurRad="101600" dist="12700" dir="5400000">
              <a:srgbClr val="000000">
                <a:alpha val="10000"/>
              </a:srgbClr>
            </a:outerShdw>
          </a:effectLst>
        </p:spPr>
      </p:sp>
      <p:sp>
        <p:nvSpPr>
          <p:cNvPr id="11" name="Text 9"/>
          <p:cNvSpPr txBox="1"/>
          <p:nvPr/>
        </p:nvSpPr>
        <p:spPr>
          <a:xfrm>
            <a:off x="704088" y="5129784"/>
            <a:ext cx="5998464" cy="621792"/>
          </a:xfrm>
          <a:prstGeom prst="rect">
            <a:avLst/>
          </a:prstGeom>
          <a:noFill/>
          <a:ln/>
        </p:spPr>
        <p:txBody>
          <a:bodyPr wrap="square" lIns="0" tIns="0" rIns="0" bIns="0" rtlCol="0" anchor="t"/>
          <a:lstStyle/>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 rig-wb pack doctor .rig/packs/my-domain</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pack doctor: warning</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 empty_pack: .rig/packs/my-domain</a:t>
            </a:r>
            <a:endParaRPr lang="en-US" sz="1000" dirty="0"/>
          </a:p>
        </p:txBody>
      </p:sp>
      <p:sp>
        <p:nvSpPr>
          <p:cNvPr id="12" name="Shape 10"/>
          <p:cNvSpPr/>
          <p:nvPr/>
        </p:nvSpPr>
        <p:spPr>
          <a:xfrm>
            <a:off x="7269480" y="1298448"/>
            <a:ext cx="4389120" cy="1508760"/>
          </a:xfrm>
          <a:prstGeom prst="roundRect">
            <a:avLst>
              <a:gd name="adj" fmla="val 3636"/>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3" name="Text 11"/>
          <p:cNvSpPr txBox="1"/>
          <p:nvPr/>
        </p:nvSpPr>
        <p:spPr>
          <a:xfrm>
            <a:off x="7525512" y="1481328"/>
            <a:ext cx="387705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pack.yaml は手で編集しない</a:t>
            </a:r>
            <a:endParaRPr lang="en-US" sz="1400" dirty="0"/>
          </a:p>
        </p:txBody>
      </p:sp>
      <p:sp>
        <p:nvSpPr>
          <p:cNvPr id="14" name="Text 12"/>
          <p:cNvSpPr txBox="1"/>
          <p:nvPr/>
        </p:nvSpPr>
        <p:spPr>
          <a:xfrm>
            <a:off x="7525512" y="1865376"/>
            <a:ext cx="3877056" cy="777240"/>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全アセットをパスと sha256 で宣言し、検証時に正準形とバイト比較される。だから生成物であって、手書きの対象ではない。</a:t>
            </a:r>
            <a:endParaRPr lang="en-US" sz="1100" dirty="0"/>
          </a:p>
        </p:txBody>
      </p:sp>
      <p:sp>
        <p:nvSpPr>
          <p:cNvPr id="15" name="Shape 13"/>
          <p:cNvSpPr/>
          <p:nvPr/>
        </p:nvSpPr>
        <p:spPr>
          <a:xfrm>
            <a:off x="7269480" y="2926080"/>
            <a:ext cx="4389120" cy="1508760"/>
          </a:xfrm>
          <a:prstGeom prst="roundRect">
            <a:avLst>
              <a:gd name="adj" fmla="val 3636"/>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6" name="Text 14"/>
          <p:cNvSpPr txBox="1"/>
          <p:nvPr/>
        </p:nvSpPr>
        <p:spPr>
          <a:xfrm>
            <a:off x="7525512" y="3108960"/>
            <a:ext cx="387705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sync はディレクトリを鏡写しにする</a:t>
            </a:r>
            <a:endParaRPr lang="en-US" sz="1400" dirty="0"/>
          </a:p>
        </p:txBody>
      </p:sp>
      <p:sp>
        <p:nvSpPr>
          <p:cNvPr id="17" name="Text 15"/>
          <p:cNvSpPr txBox="1"/>
          <p:nvPr/>
        </p:nvSpPr>
        <p:spPr>
          <a:xfrm>
            <a:off x="7525512" y="3493008"/>
            <a:ext cx="3877056" cy="777240"/>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消したファイルは宣言からも消える。書き換えるのは assets と hashes だけで、version・description・entrypoints はあなたのもの。</a:t>
            </a:r>
            <a:endParaRPr lang="en-US" sz="1100" dirty="0"/>
          </a:p>
        </p:txBody>
      </p:sp>
      <p:sp>
        <p:nvSpPr>
          <p:cNvPr id="18" name="Shape 16"/>
          <p:cNvSpPr/>
          <p:nvPr/>
        </p:nvSpPr>
        <p:spPr>
          <a:xfrm>
            <a:off x="7269480" y="4553712"/>
            <a:ext cx="4389120" cy="1344168"/>
          </a:xfrm>
          <a:prstGeom prst="roundRect">
            <a:avLst>
              <a:gd name="adj" fmla="val 4082"/>
            </a:avLst>
          </a:prstGeom>
          <a:solidFill>
            <a:srgbClr val="F3EAE6"/>
          </a:solidFill>
          <a:ln w="6350">
            <a:solidFill>
              <a:srgbClr val="F3EAE6"/>
            </a:solidFill>
            <a:prstDash val="solid"/>
          </a:ln>
          <a:effectLst>
            <a:outerShdw sx="100000" sy="100000" kx="0" ky="0" algn="bl" rotWithShape="0" blurRad="101600" dist="12700" dir="5400000">
              <a:srgbClr val="000000">
                <a:alpha val="10000"/>
              </a:srgbClr>
            </a:outerShdw>
          </a:effectLst>
        </p:spPr>
      </p:sp>
      <p:sp>
        <p:nvSpPr>
          <p:cNvPr id="19" name="Text 17"/>
          <p:cNvSpPr txBox="1"/>
          <p:nvPr/>
        </p:nvSpPr>
        <p:spPr>
          <a:xfrm>
            <a:off x="7525512" y="4736592"/>
            <a:ext cx="3877056" cy="320040"/>
          </a:xfrm>
          <a:prstGeom prst="rect">
            <a:avLst/>
          </a:prstGeom>
          <a:noFill/>
          <a:ln/>
        </p:spPr>
        <p:txBody>
          <a:bodyPr wrap="square" lIns="0" tIns="0" rIns="0" bIns="0" rtlCol="0" anchor="ctr"/>
          <a:lstStyle/>
          <a:p>
            <a:pPr indent="0" marL="0">
              <a:buNone/>
            </a:pPr>
            <a:r>
              <a:rPr lang="en-US" sz="1400" b="1" dirty="0">
                <a:solidFill>
                  <a:srgbClr val="A33A21"/>
                </a:solidFill>
                <a:latin typeface="Arial" pitchFamily="34" charset="0"/>
                <a:ea typeface="Arial" pitchFamily="34" charset="-122"/>
                <a:cs typeface="Arial" pitchFamily="34" charset="-120"/>
              </a:rPr>
              <a:t>valid は「完成」ではない</a:t>
            </a:r>
            <a:endParaRPr lang="en-US" sz="1400" dirty="0"/>
          </a:p>
        </p:txBody>
      </p:sp>
      <p:sp>
        <p:nvSpPr>
          <p:cNvPr id="20" name="Text 18"/>
          <p:cNvSpPr txBox="1"/>
          <p:nvPr/>
        </p:nvSpPr>
        <p:spPr>
          <a:xfrm>
            <a:off x="7525512" y="5120640"/>
            <a:ext cx="3877056" cy="612648"/>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空の pack もスキーマは満たすので valid と出る。doctor がその状態を名指しする（警告では exit 0。failed だけがエラー）。</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N° 16</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wiki を入れた瞬間、評価ゲートが立つ</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27</a:t>
            </a:r>
            <a:endParaRPr lang="en-US" sz="900" dirty="0"/>
          </a:p>
        </p:txBody>
      </p:sp>
      <p:sp>
        <p:nvSpPr>
          <p:cNvPr id="6" name="Shape 4"/>
          <p:cNvSpPr/>
          <p:nvPr/>
        </p:nvSpPr>
        <p:spPr>
          <a:xfrm>
            <a:off x="502920" y="1298448"/>
            <a:ext cx="11155680" cy="777240"/>
          </a:xfrm>
          <a:prstGeom prst="roundRect">
            <a:avLst>
              <a:gd name="adj" fmla="val 7059"/>
            </a:avLst>
          </a:prstGeom>
          <a:solidFill>
            <a:srgbClr val="E7EFEB"/>
          </a:solidFill>
          <a:ln w="6350">
            <a:solidFill>
              <a:srgbClr val="E7EFEB"/>
            </a:solidFill>
            <a:prstDash val="solid"/>
          </a:ln>
          <a:effectLst>
            <a:outerShdw sx="100000" sy="100000" kx="0" ky="0" algn="bl" rotWithShape="0" blurRad="101600" dist="12700" dir="5400000">
              <a:srgbClr val="000000">
                <a:alpha val="10000"/>
              </a:srgbClr>
            </a:outerShdw>
          </a:effectLst>
        </p:spPr>
      </p:sp>
      <p:sp>
        <p:nvSpPr>
          <p:cNvPr id="7" name="Text 5"/>
          <p:cNvSpPr txBox="1"/>
          <p:nvPr/>
        </p:nvSpPr>
        <p:spPr>
          <a:xfrm>
            <a:off x="758952" y="1481328"/>
            <a:ext cx="1064361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wiki はプロンプト素材 — プロバイダに見せるテキストである</a:t>
            </a:r>
            <a:endParaRPr lang="en-US" sz="1400" dirty="0"/>
          </a:p>
        </p:txBody>
      </p:sp>
      <p:sp>
        <p:nvSpPr>
          <p:cNvPr id="8" name="Text 6"/>
          <p:cNvSpPr txBox="1"/>
          <p:nvPr/>
        </p:nvSpPr>
        <p:spPr>
          <a:xfrm>
            <a:off x="758952" y="1865376"/>
            <a:ext cx="10643616" cy="45720"/>
          </a:xfrm>
          <a:prstGeom prst="rect">
            <a:avLst/>
          </a:prstGeom>
          <a:noFill/>
          <a:ln/>
        </p:spPr>
        <p:txBody>
          <a:bodyPr wrap="square" lIns="0" tIns="0" rIns="0" bIns="0" rtlCol="0" anchor="t"/>
          <a:lstStyle/>
          <a:p>
            <a:pPr indent="0" marL="0">
              <a:lnSpc>
                <a:spcPts val="1500"/>
              </a:lnSpc>
              <a:buNone/>
            </a:pPr>
            <a:r>
              <a:rPr lang="en-US" sz="1150" dirty="0">
                <a:solidFill>
                  <a:srgbClr val="5C6166"/>
                </a:solidFill>
                <a:latin typeface="Calibri" pitchFamily="34" charset="0"/>
                <a:ea typeface="Calibri" pitchFamily="34" charset="-122"/>
                <a:cs typeface="Calibri" pitchFamily="34" charset="-120"/>
              </a:rPr>
              <a:t>だから wiki を持つ pack には、承認済みの評価ケースが最低一件必要になる。会社の知識ページも、他のプロンプト面と同じ規律で統治される。事故ではなく、意図された挙動。</a:t>
            </a:r>
            <a:endParaRPr lang="en-US" sz="1150" dirty="0"/>
          </a:p>
        </p:txBody>
      </p:sp>
      <p:sp>
        <p:nvSpPr>
          <p:cNvPr id="9" name="Shape 7"/>
          <p:cNvSpPr/>
          <p:nvPr/>
        </p:nvSpPr>
        <p:spPr>
          <a:xfrm>
            <a:off x="502920" y="2286000"/>
            <a:ext cx="6766560" cy="2606040"/>
          </a:xfrm>
          <a:prstGeom prst="roundRect">
            <a:avLst>
              <a:gd name="adj" fmla="val 1754"/>
            </a:avLst>
          </a:prstGeom>
          <a:solidFill>
            <a:srgbClr val="1C1C1C"/>
          </a:solidFill>
          <a:ln w="12700">
            <a:solidFill>
              <a:srgbClr val="1C1C1C"/>
            </a:solidFill>
            <a:prstDash val="solid"/>
          </a:ln>
          <a:effectLst>
            <a:outerShdw sx="100000" sy="100000" kx="0" ky="0" algn="bl" rotWithShape="0" blurRad="101600" dist="12700" dir="5400000">
              <a:srgbClr val="000000">
                <a:alpha val="10000"/>
              </a:srgbClr>
            </a:outerShdw>
          </a:effectLst>
        </p:spPr>
      </p:sp>
      <p:sp>
        <p:nvSpPr>
          <p:cNvPr id="10" name="Text 8"/>
          <p:cNvSpPr txBox="1"/>
          <p:nvPr/>
        </p:nvSpPr>
        <p:spPr>
          <a:xfrm>
            <a:off x="704088" y="2432304"/>
            <a:ext cx="6364224" cy="2313432"/>
          </a:xfrm>
          <a:prstGeom prst="rect">
            <a:avLst/>
          </a:prstGeom>
          <a:noFill/>
          <a:ln/>
        </p:spPr>
        <p:txBody>
          <a:bodyPr wrap="square" lIns="0" tIns="0" rIns="0" bIns="0" rtlCol="0" anchor="t"/>
          <a:lstStyle/>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 rig-wb pack validate .rig/packs/my-domain</a:t>
            </a:r>
            <a:endParaRPr lang="en-US" sz="950" dirty="0"/>
          </a:p>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[ERROR] prompt-bearing pack requires at least one</a:t>
            </a:r>
            <a:endParaRPr lang="en-US" sz="950" dirty="0"/>
          </a:p>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        evaluation case</a:t>
            </a:r>
            <a:endParaRPr lang="en-US" sz="950" dirty="0"/>
          </a:p>
          <a:p>
            <a:pPr indent="0" marL="0">
              <a:lnSpc>
                <a:spcPts val="1300"/>
              </a:lnSpc>
              <a:buNone/>
            </a:pPr>
            <a:endParaRPr lang="en-US" sz="950" dirty="0"/>
          </a:p>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 draft は pack の外（プロジェクト側）に書く</a:t>
            </a:r>
            <a:endParaRPr lang="en-US" sz="950" dirty="0"/>
          </a:p>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   .rig/evals/drafts/&lt;case-id&gt;/case.json</a:t>
            </a:r>
            <a:endParaRPr lang="en-US" sz="950" dirty="0"/>
          </a:p>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   prompt_surfaces: ["wiki:backup-policy"]</a:t>
            </a:r>
            <a:endParaRPr lang="en-US" sz="950" dirty="0"/>
          </a:p>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 rig-wb eval run &lt;case-id&gt; --phase baseline ...</a:t>
            </a:r>
            <a:endParaRPr lang="en-US" sz="950" dirty="0"/>
          </a:p>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 rig-wb eval run &lt;case-id&gt; --phase current  ...</a:t>
            </a:r>
            <a:endParaRPr lang="en-US" sz="950" dirty="0"/>
          </a:p>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 rig-wb eval compare --baseline ... --current ...</a:t>
            </a:r>
            <a:endParaRPr lang="en-US" sz="950" dirty="0"/>
          </a:p>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 rig-wb eval promote &lt;case-id&gt; ... --into &lt;pack&gt;</a:t>
            </a:r>
            <a:endParaRPr lang="en-US" sz="950" dirty="0"/>
          </a:p>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 rig-wb pack sync &amp;&amp; rig-wb pack validate</a:t>
            </a:r>
            <a:endParaRPr lang="en-US" sz="950" dirty="0"/>
          </a:p>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valid: my-domain@0.1.0</a:t>
            </a:r>
            <a:endParaRPr lang="en-US" sz="950" dirty="0"/>
          </a:p>
        </p:txBody>
      </p:sp>
      <p:sp>
        <p:nvSpPr>
          <p:cNvPr id="11" name="Shape 9"/>
          <p:cNvSpPr/>
          <p:nvPr/>
        </p:nvSpPr>
        <p:spPr>
          <a:xfrm>
            <a:off x="7543800" y="2286000"/>
            <a:ext cx="4114800" cy="1371600"/>
          </a:xfrm>
          <a:prstGeom prst="roundRect">
            <a:avLst>
              <a:gd name="adj" fmla="val 4000"/>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2" name="Text 10"/>
          <p:cNvSpPr txBox="1"/>
          <p:nvPr/>
        </p:nvSpPr>
        <p:spPr>
          <a:xfrm>
            <a:off x="7799832" y="2468880"/>
            <a:ext cx="360273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承認はフラグではない</a:t>
            </a:r>
            <a:endParaRPr lang="en-US" sz="1400" dirty="0"/>
          </a:p>
        </p:txBody>
      </p:sp>
      <p:sp>
        <p:nvSpPr>
          <p:cNvPr id="13" name="Text 11"/>
          <p:cNvSpPr txBox="1"/>
          <p:nvPr/>
        </p:nvSpPr>
        <p:spPr>
          <a:xfrm>
            <a:off x="7799832" y="2852928"/>
            <a:ext cx="3602736" cy="640080"/>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promote は閾値を満たさない証拠も、意味的ルーブリックが未判定のケースも拒否する。結果には署名がつくので、編集された結果は閾値を見る前に落ちる。</a:t>
            </a:r>
            <a:endParaRPr lang="en-US" sz="1100" dirty="0"/>
          </a:p>
        </p:txBody>
      </p:sp>
      <p:sp>
        <p:nvSpPr>
          <p:cNvPr id="14" name="Shape 12"/>
          <p:cNvSpPr/>
          <p:nvPr/>
        </p:nvSpPr>
        <p:spPr>
          <a:xfrm>
            <a:off x="7543800" y="3767328"/>
            <a:ext cx="4114800" cy="1124712"/>
          </a:xfrm>
          <a:prstGeom prst="roundRect">
            <a:avLst>
              <a:gd name="adj" fmla="val 4878"/>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5" name="Text 13"/>
          <p:cNvSpPr txBox="1"/>
          <p:nvPr/>
        </p:nvSpPr>
        <p:spPr>
          <a:xfrm>
            <a:off x="7799832" y="3950208"/>
            <a:ext cx="360273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draft を pack に置けない理由</a:t>
            </a:r>
            <a:endParaRPr lang="en-US" sz="1400" dirty="0"/>
          </a:p>
        </p:txBody>
      </p:sp>
      <p:sp>
        <p:nvSpPr>
          <p:cNvPr id="16" name="Text 14"/>
          <p:cNvSpPr txBox="1"/>
          <p:nvPr/>
        </p:nvSpPr>
        <p:spPr>
          <a:xfrm>
            <a:off x="7799832" y="4334256"/>
            <a:ext cx="3602736" cy="393192"/>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pack は宣言していないものを一切持てないから。--into が変えるのは行き先だけ。</a:t>
            </a:r>
            <a:endParaRPr lang="en-US" sz="1100" dirty="0"/>
          </a:p>
        </p:txBody>
      </p:sp>
      <p:sp>
        <p:nvSpPr>
          <p:cNvPr id="17" name="Shape 15"/>
          <p:cNvSpPr/>
          <p:nvPr/>
        </p:nvSpPr>
        <p:spPr>
          <a:xfrm>
            <a:off x="502920" y="5029200"/>
            <a:ext cx="11155680" cy="868680"/>
          </a:xfrm>
          <a:prstGeom prst="roundRect">
            <a:avLst>
              <a:gd name="adj" fmla="val 6316"/>
            </a:avLst>
          </a:prstGeom>
          <a:solidFill>
            <a:srgbClr val="F3EAE6"/>
          </a:solidFill>
          <a:ln w="6350">
            <a:solidFill>
              <a:srgbClr val="F3EAE6"/>
            </a:solidFill>
            <a:prstDash val="solid"/>
          </a:ln>
          <a:effectLst>
            <a:outerShdw sx="100000" sy="100000" kx="0" ky="0" algn="bl" rotWithShape="0" blurRad="101600" dist="12700" dir="5400000">
              <a:srgbClr val="000000">
                <a:alpha val="10000"/>
              </a:srgbClr>
            </a:outerShdw>
          </a:effectLst>
        </p:spPr>
      </p:sp>
      <p:sp>
        <p:nvSpPr>
          <p:cNvPr id="18" name="Text 16"/>
          <p:cNvSpPr txBox="1"/>
          <p:nvPr/>
        </p:nvSpPr>
        <p:spPr>
          <a:xfrm>
            <a:off x="758952" y="5212080"/>
            <a:ext cx="10643616" cy="320040"/>
          </a:xfrm>
          <a:prstGeom prst="rect">
            <a:avLst/>
          </a:prstGeom>
          <a:noFill/>
          <a:ln/>
        </p:spPr>
        <p:txBody>
          <a:bodyPr wrap="square" lIns="0" tIns="0" rIns="0" bIns="0" rtlCol="0" anchor="ctr"/>
          <a:lstStyle/>
          <a:p>
            <a:pPr indent="0" marL="0">
              <a:buNone/>
            </a:pPr>
            <a:r>
              <a:rPr lang="en-US" sz="1400" b="1" dirty="0">
                <a:solidFill>
                  <a:srgbClr val="A33A21"/>
                </a:solidFill>
                <a:latin typeface="Arial" pitchFamily="34" charset="0"/>
                <a:ea typeface="Arial" pitchFamily="34" charset="-122"/>
                <a:cs typeface="Arial" pitchFamily="34" charset="-120"/>
              </a:rPr>
              <a:t>忘れやすい一手：entrypoint を書かないと、ケースは走らない</a:t>
            </a:r>
            <a:endParaRPr lang="en-US" sz="1400" dirty="0"/>
          </a:p>
        </p:txBody>
      </p:sp>
      <p:sp>
        <p:nvSpPr>
          <p:cNvPr id="19" name="Text 17"/>
          <p:cNvSpPr txBox="1"/>
          <p:nvPr/>
        </p:nvSpPr>
        <p:spPr>
          <a:xfrm>
            <a:off x="758952" y="5596128"/>
            <a:ext cx="10643616" cy="137160"/>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prompt_entrypoint はマニフェストが宣言する entrypoint を名指ししなければならない（知識 pack では kind: wiki でページ自身）。書き忘れても pack validate は通るが、pack test は structural_only と報告する — 同梱され、ハッシュされ、そして誰にも実行されない。</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N° 17</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その pack は何について書かれているのか — knowledge ブロック</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502920" y="1298448"/>
            <a:ext cx="5486400" cy="1600200"/>
          </a:xfrm>
          <a:prstGeom prst="roundRect">
            <a:avLst>
              <a:gd name="adj" fmla="val 2857"/>
            </a:avLst>
          </a:prstGeom>
          <a:solidFill>
            <a:srgbClr val="1C1C1C"/>
          </a:solidFill>
          <a:ln w="12700">
            <a:solidFill>
              <a:srgbClr val="1C1C1C"/>
            </a:solidFill>
            <a:prstDash val="solid"/>
          </a:ln>
          <a:effectLst>
            <a:outerShdw sx="100000" sy="100000" kx="0" ky="0" algn="bl" rotWithShape="0" blurRad="101600" dist="12700" dir="5400000">
              <a:srgbClr val="000000">
                <a:alpha val="10000"/>
              </a:srgbClr>
            </a:outerShdw>
          </a:effectLst>
        </p:spPr>
      </p:sp>
      <p:sp>
        <p:nvSpPr>
          <p:cNvPr id="7" name="Text 5"/>
          <p:cNvSpPr txBox="1"/>
          <p:nvPr/>
        </p:nvSpPr>
        <p:spPr>
          <a:xfrm>
            <a:off x="704088" y="1444752"/>
            <a:ext cx="5084064" cy="1307592"/>
          </a:xfrm>
          <a:prstGeom prst="rect">
            <a:avLst/>
          </a:prstGeom>
          <a:noFill/>
          <a:ln/>
        </p:spPr>
        <p:txBody>
          <a:bodyPr wrap="square" lIns="0" tIns="0" rIns="0" bIns="0" rtlCol="0" anchor="t"/>
          <a:lstStyle/>
          <a:p>
            <a:pPr indent="0" marL="0">
              <a:lnSpc>
                <a:spcPts val="1500"/>
              </a:lnSpc>
              <a:buNone/>
            </a:pPr>
            <a:r>
              <a:rPr lang="en-US" sz="1050" dirty="0">
                <a:solidFill>
                  <a:srgbClr val="EDEDE8"/>
                </a:solidFill>
                <a:latin typeface="Courier New" pitchFamily="34" charset="0"/>
                <a:ea typeface="Courier New" pitchFamily="34" charset="-122"/>
                <a:cs typeface="Courier New" pitchFamily="34" charset="-120"/>
              </a:rPr>
              <a:t>knowledge:</a:t>
            </a:r>
            <a:endParaRPr lang="en-US" sz="1050" dirty="0"/>
          </a:p>
          <a:p>
            <a:pPr indent="0" marL="0">
              <a:lnSpc>
                <a:spcPts val="1500"/>
              </a:lnSpc>
              <a:buNone/>
            </a:pPr>
            <a:r>
              <a:rPr lang="en-US" sz="1050" dirty="0">
                <a:solidFill>
                  <a:srgbClr val="EDEDE8"/>
                </a:solidFill>
                <a:latin typeface="Courier New" pitchFamily="34" charset="0"/>
                <a:ea typeface="Courier New" pitchFamily="34" charset="-122"/>
                <a:cs typeface="Courier New" pitchFamily="34" charset="-120"/>
              </a:rPr>
              <a:t>  scope: ["company"]</a:t>
            </a:r>
            <a:endParaRPr lang="en-US" sz="1050" dirty="0"/>
          </a:p>
          <a:p>
            <a:pPr indent="0" marL="0">
              <a:lnSpc>
                <a:spcPts val="1500"/>
              </a:lnSpc>
              <a:buNone/>
            </a:pPr>
            <a:r>
              <a:rPr lang="en-US" sz="1050" dirty="0">
                <a:solidFill>
                  <a:srgbClr val="EDEDE8"/>
                </a:solidFill>
                <a:latin typeface="Courier New" pitchFamily="34" charset="0"/>
                <a:ea typeface="Courier New" pitchFamily="34" charset="-122"/>
                <a:cs typeface="Courier New" pitchFamily="34" charset="-120"/>
              </a:rPr>
              <a:t>  topics: ["access-control", "backup"]</a:t>
            </a:r>
            <a:endParaRPr lang="en-US" sz="1050" dirty="0"/>
          </a:p>
          <a:p>
            <a:pPr indent="0" marL="0">
              <a:lnSpc>
                <a:spcPts val="1500"/>
              </a:lnSpc>
              <a:buNone/>
            </a:pPr>
            <a:r>
              <a:rPr lang="en-US" sz="1050" dirty="0">
                <a:solidFill>
                  <a:srgbClr val="EDEDE8"/>
                </a:solidFill>
                <a:latin typeface="Courier New" pitchFamily="34" charset="0"/>
                <a:ea typeface="Courier New" pitchFamily="34" charset="-122"/>
                <a:cs typeface="Courier New" pitchFamily="34" charset="-120"/>
              </a:rPr>
              <a:t>  owner: "Corp IT"</a:t>
            </a:r>
            <a:endParaRPr lang="en-US" sz="1050" dirty="0"/>
          </a:p>
          <a:p>
            <a:pPr indent="0" marL="0">
              <a:lnSpc>
                <a:spcPts val="1500"/>
              </a:lnSpc>
              <a:buNone/>
            </a:pPr>
            <a:r>
              <a:rPr lang="en-US" sz="1050" dirty="0">
                <a:solidFill>
                  <a:srgbClr val="EDEDE8"/>
                </a:solidFill>
                <a:latin typeface="Courier New" pitchFamily="34" charset="0"/>
                <a:ea typeface="Courier New" pitchFamily="34" charset="-122"/>
                <a:cs typeface="Courier New" pitchFamily="34" charset="-120"/>
              </a:rPr>
              <a:t>  evidence: ["情報セキュリティ規程", "運用設計書"]</a:t>
            </a:r>
            <a:endParaRPr lang="en-US" sz="1050" dirty="0"/>
          </a:p>
          <a:p>
            <a:pPr indent="0" marL="0">
              <a:lnSpc>
                <a:spcPts val="1500"/>
              </a:lnSpc>
              <a:buNone/>
            </a:pPr>
            <a:r>
              <a:rPr lang="en-US" sz="1050" dirty="0">
                <a:solidFill>
                  <a:srgbClr val="EDEDE8"/>
                </a:solidFill>
                <a:latin typeface="Courier New" pitchFamily="34" charset="0"/>
                <a:ea typeface="Courier New" pitchFamily="34" charset="-122"/>
                <a:cs typeface="Courier New" pitchFamily="34" charset="-120"/>
              </a:rPr>
              <a:t>  reviewed_at: "2026-08-01T00:00:00+00:00"</a:t>
            </a:r>
            <a:endParaRPr lang="en-US" sz="1050" dirty="0"/>
          </a:p>
        </p:txBody>
      </p:sp>
      <p:sp>
        <p:nvSpPr>
          <p:cNvPr id="8" name="Text 6"/>
          <p:cNvSpPr txBox="1"/>
          <p:nvPr/>
        </p:nvSpPr>
        <p:spPr>
          <a:xfrm>
            <a:off x="502920" y="3035808"/>
            <a:ext cx="5486400" cy="1737360"/>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00" dirty="0">
                <a:solidFill>
                  <a:srgbClr val="1C1C1C"/>
                </a:solidFill>
                <a:latin typeface="Calibri" pitchFamily="34" charset="0"/>
                <a:ea typeface="Calibri" pitchFamily="34" charset="-122"/>
                <a:cs typeface="Calibri" pitchFamily="34" charset="-120"/>
              </a:rPr>
              <a:t>ブロック自体は任意。だが半分だけ書かれたブロックは許されない — 置いた以上は五つとも必須</a:t>
            </a:r>
            <a:endParaRPr lang="en-US" sz="1100" dirty="0"/>
          </a:p>
          <a:p>
            <a:pPr marL="342900" indent="-342900">
              <a:lnSpc>
                <a:spcPts val="1700"/>
              </a:lnSpc>
              <a:spcAft>
                <a:spcPts val="700"/>
              </a:spcAft>
              <a:buSzPct val="100000"/>
              <a:buChar char="•"/>
            </a:pPr>
            <a:r>
              <a:rPr lang="en-US" sz="1100" dirty="0">
                <a:solidFill>
                  <a:srgbClr val="1C1C1C"/>
                </a:solidFill>
                <a:latin typeface="Calibri" pitchFamily="34" charset="0"/>
                <a:ea typeface="Calibri" pitchFamily="34" charset="-122"/>
                <a:cs typeface="Calibri" pitchFamily="34" charset="-120"/>
              </a:rPr>
              <a:t>理由は reviewed_at にある。見直し日のない知識宣言こそ、誰にも気づかれずに腐る</a:t>
            </a:r>
            <a:endParaRPr lang="en-US" sz="1100" dirty="0"/>
          </a:p>
          <a:p>
            <a:pPr marL="342900" indent="-342900">
              <a:lnSpc>
                <a:spcPts val="1700"/>
              </a:lnSpc>
              <a:spcAft>
                <a:spcPts val="700"/>
              </a:spcAft>
              <a:buSzPct val="100000"/>
              <a:buChar char="•"/>
            </a:pPr>
            <a:r>
              <a:rPr lang="en-US" sz="1100" dirty="0">
                <a:solidFill>
                  <a:srgbClr val="1C1C1C"/>
                </a:solidFill>
                <a:latin typeface="Calibri" pitchFamily="34" charset="0"/>
                <a:ea typeface="Calibri" pitchFamily="34" charset="-122"/>
                <a:cs typeface="Calibri" pitchFamily="34" charset="-120"/>
              </a:rPr>
              <a:t>どの type でも宣言できる。これは説明であって、権限ではない</a:t>
            </a:r>
            <a:endParaRPr lang="en-US" sz="1100" dirty="0"/>
          </a:p>
          <a:p>
            <a:pPr marL="342900" indent="-342900">
              <a:lnSpc>
                <a:spcPts val="1700"/>
              </a:lnSpc>
              <a:spcAft>
                <a:spcPts val="700"/>
              </a:spcAft>
              <a:buSzPct val="100000"/>
              <a:buChar char="•"/>
            </a:pPr>
            <a:r>
              <a:rPr lang="en-US" sz="1100" dirty="0">
                <a:solidFill>
                  <a:srgbClr val="1C1C1C"/>
                </a:solidFill>
                <a:latin typeface="Calibri" pitchFamily="34" charset="0"/>
                <a:ea typeface="Calibri" pitchFamily="34" charset="-122"/>
                <a:cs typeface="Calibri" pitchFamily="34" charset="-120"/>
              </a:rPr>
              <a:t>scope は company のような素の次元か、product:northwind-one のような値つき</a:t>
            </a:r>
            <a:endParaRPr lang="en-US" sz="1100" dirty="0"/>
          </a:p>
        </p:txBody>
      </p:sp>
      <p:sp>
        <p:nvSpPr>
          <p:cNvPr id="9" name="Shape 7"/>
          <p:cNvSpPr/>
          <p:nvPr/>
        </p:nvSpPr>
        <p:spPr>
          <a:xfrm>
            <a:off x="502920" y="4937760"/>
            <a:ext cx="5486400" cy="960120"/>
          </a:xfrm>
          <a:prstGeom prst="roundRect">
            <a:avLst>
              <a:gd name="adj" fmla="val 5714"/>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0" name="Text 8"/>
          <p:cNvSpPr txBox="1"/>
          <p:nvPr/>
        </p:nvSpPr>
        <p:spPr>
          <a:xfrm>
            <a:off x="758952" y="5120640"/>
            <a:ext cx="497433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evidence だけソートを要求されない</a:t>
            </a:r>
            <a:endParaRPr lang="en-US" sz="1400" dirty="0"/>
          </a:p>
        </p:txBody>
      </p:sp>
      <p:sp>
        <p:nvSpPr>
          <p:cNvPr id="11" name="Text 9"/>
          <p:cNvSpPr txBox="1"/>
          <p:nvPr/>
        </p:nvSpPr>
        <p:spPr>
          <a:xfrm>
            <a:off x="758952" y="5504688"/>
            <a:ext cx="4974336" cy="228600"/>
          </a:xfrm>
          <a:prstGeom prst="rect">
            <a:avLst/>
          </a:prstGeom>
          <a:noFill/>
          <a:ln/>
        </p:spPr>
        <p:txBody>
          <a:bodyPr wrap="square" lIns="0" tIns="0" rIns="0" bIns="0" rtlCol="0" anchor="t"/>
          <a:lstStyle/>
          <a:p>
            <a:pPr indent="0" marL="0">
              <a:lnSpc>
                <a:spcPts val="1400"/>
              </a:lnSpc>
              <a:buNone/>
            </a:pPr>
            <a:r>
              <a:rPr lang="en-US" sz="1050" dirty="0">
                <a:solidFill>
                  <a:srgbClr val="5C6166"/>
                </a:solidFill>
                <a:latin typeface="Calibri" pitchFamily="34" charset="0"/>
                <a:ea typeface="Calibri" pitchFamily="34" charset="-122"/>
                <a:cs typeface="Calibri" pitchFamily="34" charset="-120"/>
              </a:rPr>
              <a:t>人が書いた文書の題名で、書いた言語のまま。順序自体が「主に何に依拠しているか」を運ぶ。重複だけは拒否される。</a:t>
            </a:r>
            <a:endParaRPr lang="en-US" sz="1050" dirty="0"/>
          </a:p>
        </p:txBody>
      </p:sp>
      <p:sp>
        <p:nvSpPr>
          <p:cNvPr id="12" name="Text 10"/>
          <p:cNvSpPr txBox="1"/>
          <p:nvPr/>
        </p:nvSpPr>
        <p:spPr>
          <a:xfrm>
            <a:off x="6355080" y="1298448"/>
            <a:ext cx="5486400" cy="256032"/>
          </a:xfrm>
          <a:prstGeom prst="rect">
            <a:avLst/>
          </a:prstGeom>
          <a:noFill/>
          <a:ln/>
        </p:spPr>
        <p:txBody>
          <a:bodyPr wrap="square" lIns="0" tIns="0" rIns="0" bIns="0" rtlCol="0" anchor="ctr"/>
          <a:lstStyle/>
          <a:p>
            <a:pPr indent="0" marL="0">
              <a:buNone/>
            </a:pPr>
            <a:r>
              <a:rPr lang="en-US" sz="1200" b="1" spc="50" kern="0" dirty="0">
                <a:solidFill>
                  <a:srgbClr val="1F6F5C"/>
                </a:solidFill>
                <a:latin typeface="Arial" pitchFamily="34" charset="0"/>
                <a:ea typeface="Arial" pitchFamily="34" charset="-122"/>
                <a:cs typeface="Arial" pitchFamily="34" charset="-120"/>
              </a:rPr>
              <a:t>探す — 選び出すが、決めはしない</a:t>
            </a:r>
            <a:endParaRPr lang="en-US" sz="1200" dirty="0"/>
          </a:p>
        </p:txBody>
      </p:sp>
      <p:sp>
        <p:nvSpPr>
          <p:cNvPr id="13" name="Shape 11"/>
          <p:cNvSpPr/>
          <p:nvPr/>
        </p:nvSpPr>
        <p:spPr>
          <a:xfrm>
            <a:off x="6355080" y="1600200"/>
            <a:ext cx="5303520" cy="2788920"/>
          </a:xfrm>
          <a:prstGeom prst="roundRect">
            <a:avLst>
              <a:gd name="adj" fmla="val 1639"/>
            </a:avLst>
          </a:prstGeom>
          <a:solidFill>
            <a:srgbClr val="1C1C1C"/>
          </a:solidFill>
          <a:ln w="12700">
            <a:solidFill>
              <a:srgbClr val="1C1C1C"/>
            </a:solidFill>
            <a:prstDash val="solid"/>
          </a:ln>
          <a:effectLst>
            <a:outerShdw sx="100000" sy="100000" kx="0" ky="0" algn="bl" rotWithShape="0" blurRad="101600" dist="12700" dir="5400000">
              <a:srgbClr val="000000">
                <a:alpha val="10000"/>
              </a:srgbClr>
            </a:outerShdw>
          </a:effectLst>
        </p:spPr>
      </p:sp>
      <p:sp>
        <p:nvSpPr>
          <p:cNvPr id="14" name="Text 12"/>
          <p:cNvSpPr txBox="1"/>
          <p:nvPr/>
        </p:nvSpPr>
        <p:spPr>
          <a:xfrm>
            <a:off x="6556248" y="1746504"/>
            <a:ext cx="4901184" cy="2496312"/>
          </a:xfrm>
          <a:prstGeom prst="rect">
            <a:avLst/>
          </a:prstGeom>
          <a:noFill/>
          <a:ln/>
        </p:spPr>
        <p:txBody>
          <a:bodyPr wrap="square" lIns="0" tIns="0" rIns="0" bIns="0" rtlCol="0" anchor="t"/>
          <a:lstStyle/>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 rig-wb pack knowledge --topic backup</a:t>
            </a:r>
            <a:endParaRPr lang="en-US" sz="950" dirty="0"/>
          </a:p>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company-security@0.1.0  company   Corp IT</a:t>
            </a:r>
            <a:endParaRPr lang="en-US" sz="950" dirty="0"/>
          </a:p>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  reviewed 2026-08-01</a:t>
            </a:r>
            <a:endParaRPr lang="en-US" sz="950" dirty="0"/>
          </a:p>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  evidence: 情報セキュリティ規程, 運用設計書</a:t>
            </a:r>
            <a:endParaRPr lang="en-US" sz="950" dirty="0"/>
          </a:p>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  wiki: pack://project/company-security/</a:t>
            </a:r>
            <a:endParaRPr lang="en-US" sz="950" dirty="0"/>
          </a:p>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          facets/knowledge/backup-policy.md</a:t>
            </a:r>
            <a:endParaRPr lang="en-US" sz="950" dirty="0"/>
          </a:p>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product-security@0.1.0  product:northwind-one</a:t>
            </a:r>
            <a:endParaRPr lang="en-US" sz="950" dirty="0"/>
          </a:p>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  reviewed 2026-07-15</a:t>
            </a:r>
            <a:endParaRPr lang="en-US" sz="950" dirty="0"/>
          </a:p>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  evidence: サービス仕様書</a:t>
            </a:r>
            <a:endParaRPr lang="en-US" sz="950" dirty="0"/>
          </a:p>
          <a:p>
            <a:pPr indent="0" marL="0">
              <a:lnSpc>
                <a:spcPts val="1300"/>
              </a:lnSpc>
              <a:buNone/>
            </a:pPr>
            <a:endParaRPr lang="en-US" sz="950" dirty="0"/>
          </a:p>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scope is ambiguous: company, product:northwind-one</a:t>
            </a:r>
            <a:endParaRPr lang="en-US" sz="950" dirty="0"/>
          </a:p>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  — narrow with --scope before treating any of</a:t>
            </a:r>
            <a:endParaRPr lang="en-US" sz="950" dirty="0"/>
          </a:p>
          <a:p>
            <a:pPr indent="0" marL="0">
              <a:lnSpc>
                <a:spcPts val="1300"/>
              </a:lnSpc>
              <a:buNone/>
            </a:pPr>
            <a:r>
              <a:rPr lang="en-US" sz="950" dirty="0">
                <a:solidFill>
                  <a:srgbClr val="EDEDE8"/>
                </a:solidFill>
                <a:latin typeface="Courier New" pitchFamily="34" charset="0"/>
                <a:ea typeface="Courier New" pitchFamily="34" charset="-122"/>
                <a:cs typeface="Courier New" pitchFamily="34" charset="-120"/>
              </a:rPr>
              <a:t>    these as the answer</a:t>
            </a:r>
            <a:endParaRPr lang="en-US" sz="950" dirty="0"/>
          </a:p>
        </p:txBody>
      </p:sp>
      <p:sp>
        <p:nvSpPr>
          <p:cNvPr id="15" name="Shape 13"/>
          <p:cNvSpPr/>
          <p:nvPr/>
        </p:nvSpPr>
        <p:spPr>
          <a:xfrm>
            <a:off x="6355080" y="4526280"/>
            <a:ext cx="5303520" cy="1371600"/>
          </a:xfrm>
          <a:prstGeom prst="roundRect">
            <a:avLst>
              <a:gd name="adj" fmla="val 4000"/>
            </a:avLst>
          </a:prstGeom>
          <a:solidFill>
            <a:srgbClr val="E7EFEB"/>
          </a:solidFill>
          <a:ln w="6350">
            <a:solidFill>
              <a:srgbClr val="E7EFEB"/>
            </a:solidFill>
            <a:prstDash val="solid"/>
          </a:ln>
          <a:effectLst>
            <a:outerShdw sx="100000" sy="100000" kx="0" ky="0" algn="bl" rotWithShape="0" blurRad="101600" dist="12700" dir="5400000">
              <a:srgbClr val="000000">
                <a:alpha val="10000"/>
              </a:srgbClr>
            </a:outerShdw>
          </a:effectLst>
        </p:spPr>
      </p:sp>
      <p:sp>
        <p:nvSpPr>
          <p:cNvPr id="16" name="Text 14"/>
          <p:cNvSpPr txBox="1"/>
          <p:nvPr/>
        </p:nvSpPr>
        <p:spPr>
          <a:xfrm>
            <a:off x="6611112" y="4709160"/>
            <a:ext cx="479145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どちらのつもりだったかは、どの pack にも書かれていない</a:t>
            </a:r>
            <a:endParaRPr lang="en-US" sz="1400" dirty="0"/>
          </a:p>
        </p:txBody>
      </p:sp>
      <p:sp>
        <p:nvSpPr>
          <p:cNvPr id="17" name="Text 15"/>
          <p:cNvSpPr txBox="1"/>
          <p:nvPr/>
        </p:nvSpPr>
        <p:spPr>
          <a:xfrm>
            <a:off x="6611112" y="5093208"/>
            <a:ext cx="4791456" cy="640080"/>
          </a:xfrm>
          <a:prstGeom prst="rect">
            <a:avLst/>
          </a:prstGeom>
          <a:noFill/>
          <a:ln/>
        </p:spPr>
        <p:txBody>
          <a:bodyPr wrap="square" lIns="0" tIns="0" rIns="0" bIns="0" rtlCol="0" anchor="t"/>
          <a:lstStyle/>
          <a:p>
            <a:pPr indent="0" marL="0">
              <a:lnSpc>
                <a:spcPts val="1400"/>
              </a:lnSpc>
              <a:buNone/>
            </a:pPr>
            <a:r>
              <a:rPr lang="en-US" sz="1050" dirty="0">
                <a:solidFill>
                  <a:srgbClr val="5C6166"/>
                </a:solidFill>
                <a:latin typeface="Calibri" pitchFamily="34" charset="0"/>
                <a:ea typeface="Calibri" pitchFamily="34" charset="-122"/>
                <a:cs typeface="Calibri" pitchFamily="34" charset="-120"/>
              </a:rPr>
              <a:t>質問者についての事実だから。だから rig は推測せず、問いが開いている事実と選択肢の正確な集合を返す。影に隠れたページも、隠さずラベルつきで列挙する。</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N° 18</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渡す — bundle・named source・lock</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502920" y="1298448"/>
            <a:ext cx="5669280" cy="1417320"/>
          </a:xfrm>
          <a:prstGeom prst="roundRect">
            <a:avLst>
              <a:gd name="adj" fmla="val 3226"/>
            </a:avLst>
          </a:prstGeom>
          <a:solidFill>
            <a:srgbClr val="1C1C1C"/>
          </a:solidFill>
          <a:ln w="12700">
            <a:solidFill>
              <a:srgbClr val="1C1C1C"/>
            </a:solidFill>
            <a:prstDash val="solid"/>
          </a:ln>
          <a:effectLst>
            <a:outerShdw sx="100000" sy="100000" kx="0" ky="0" algn="bl" rotWithShape="0" blurRad="101600" dist="12700" dir="5400000">
              <a:srgbClr val="000000">
                <a:alpha val="10000"/>
              </a:srgbClr>
            </a:outerShdw>
          </a:effectLst>
        </p:spPr>
      </p:sp>
      <p:sp>
        <p:nvSpPr>
          <p:cNvPr id="7" name="Text 5"/>
          <p:cNvSpPr txBox="1"/>
          <p:nvPr/>
        </p:nvSpPr>
        <p:spPr>
          <a:xfrm>
            <a:off x="704088" y="1444752"/>
            <a:ext cx="5266944" cy="1124712"/>
          </a:xfrm>
          <a:prstGeom prst="rect">
            <a:avLst/>
          </a:prstGeom>
          <a:noFill/>
          <a:ln/>
        </p:spPr>
        <p:txBody>
          <a:bodyPr wrap="square" lIns="0" tIns="0" rIns="0" bIns="0" rtlCol="0" anchor="t"/>
          <a:lstStyle/>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 rig-wb pack bundle .rig/packs/my-domain</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bundled: my-domain@0.1.0 (3 file(s))</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  -&gt; dist/my-domain-0.1.0.zip</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  sha256: 7ef9b1a3...</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 rig-wb pack install dist/... --scope project</a:t>
            </a:r>
            <a:endParaRPr lang="en-US" sz="1000" dirty="0"/>
          </a:p>
        </p:txBody>
      </p:sp>
      <p:sp>
        <p:nvSpPr>
          <p:cNvPr id="8" name="Shape 6"/>
          <p:cNvSpPr/>
          <p:nvPr/>
        </p:nvSpPr>
        <p:spPr>
          <a:xfrm>
            <a:off x="502920" y="2880360"/>
            <a:ext cx="5669280" cy="1417320"/>
          </a:xfrm>
          <a:prstGeom prst="roundRect">
            <a:avLst>
              <a:gd name="adj" fmla="val 3226"/>
            </a:avLst>
          </a:prstGeom>
          <a:solidFill>
            <a:srgbClr val="1C1C1C"/>
          </a:solidFill>
          <a:ln w="12700">
            <a:solidFill>
              <a:srgbClr val="1C1C1C"/>
            </a:solidFill>
            <a:prstDash val="solid"/>
          </a:ln>
          <a:effectLst>
            <a:outerShdw sx="100000" sy="100000" kx="0" ky="0" algn="bl" rotWithShape="0" blurRad="101600" dist="12700" dir="5400000">
              <a:srgbClr val="000000">
                <a:alpha val="10000"/>
              </a:srgbClr>
            </a:outerShdw>
          </a:effectLst>
        </p:spPr>
      </p:sp>
      <p:sp>
        <p:nvSpPr>
          <p:cNvPr id="9" name="Text 7"/>
          <p:cNvSpPr txBox="1"/>
          <p:nvPr/>
        </p:nvSpPr>
        <p:spPr>
          <a:xfrm>
            <a:off x="704088" y="3026664"/>
            <a:ext cx="5266944" cy="1124712"/>
          </a:xfrm>
          <a:prstGeom prst="rect">
            <a:avLst/>
          </a:prstGeom>
          <a:noFill/>
          <a:ln/>
        </p:spPr>
        <p:txBody>
          <a:bodyPr wrap="square" lIns="0" tIns="0" rIns="0" bIns="0" rtlCol="0" anchor="t"/>
          <a:lstStyle/>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 rig-wb pack source add product \</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    --scheme git+ssh \</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    --url git@github.com:acme/rig-pack-{pack}.git</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 rig-wb pack install product:northwind@1.4.0</a:t>
            </a:r>
            <a:endParaRPr lang="en-US" sz="1000" dirty="0"/>
          </a:p>
          <a:p>
            <a:pPr indent="0" marL="0">
              <a:lnSpc>
                <a:spcPts val="1500"/>
              </a:lnSpc>
              <a:buNone/>
            </a:pPr>
            <a:r>
              <a:rPr lang="en-US" sz="1000" dirty="0">
                <a:solidFill>
                  <a:srgbClr val="EDEDE8"/>
                </a:solidFill>
                <a:latin typeface="Courier New" pitchFamily="34" charset="0"/>
                <a:ea typeface="Courier New" pitchFamily="34" charset="-122"/>
                <a:cs typeface="Courier New" pitchFamily="34" charset="-120"/>
              </a:rPr>
              <a:t>$ rig-wb pack verify-sources --scope project</a:t>
            </a:r>
            <a:endParaRPr lang="en-US" sz="1000" dirty="0"/>
          </a:p>
        </p:txBody>
      </p:sp>
      <p:sp>
        <p:nvSpPr>
          <p:cNvPr id="10" name="Shape 8"/>
          <p:cNvSpPr/>
          <p:nvPr/>
        </p:nvSpPr>
        <p:spPr>
          <a:xfrm>
            <a:off x="502920" y="4462272"/>
            <a:ext cx="5669280" cy="1417320"/>
          </a:xfrm>
          <a:prstGeom prst="roundRect">
            <a:avLst>
              <a:gd name="adj" fmla="val 3871"/>
            </a:avLst>
          </a:prstGeom>
          <a:solidFill>
            <a:srgbClr val="E7EFEB"/>
          </a:solidFill>
          <a:ln w="6350">
            <a:solidFill>
              <a:srgbClr val="E7EFEB"/>
            </a:solidFill>
            <a:prstDash val="solid"/>
          </a:ln>
          <a:effectLst>
            <a:outerShdw sx="100000" sy="100000" kx="0" ky="0" algn="bl" rotWithShape="0" blurRad="101600" dist="12700" dir="5400000">
              <a:srgbClr val="000000">
                <a:alpha val="10000"/>
              </a:srgbClr>
            </a:outerShdw>
          </a:effectLst>
        </p:spPr>
      </p:sp>
      <p:sp>
        <p:nvSpPr>
          <p:cNvPr id="11" name="Text 9"/>
          <p:cNvSpPr txBox="1"/>
          <p:nvPr/>
        </p:nvSpPr>
        <p:spPr>
          <a:xfrm>
            <a:off x="758952" y="4645152"/>
            <a:ext cx="515721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rig は資格情報を一切持たない</a:t>
            </a:r>
            <a:endParaRPr lang="en-US" sz="1400" dirty="0"/>
          </a:p>
        </p:txBody>
      </p:sp>
      <p:sp>
        <p:nvSpPr>
          <p:cNvPr id="12" name="Text 10"/>
          <p:cNvSpPr txBox="1"/>
          <p:nvPr/>
        </p:nvSpPr>
        <p:spPr>
          <a:xfrm>
            <a:off x="758952" y="5029200"/>
            <a:ext cx="5157216" cy="685800"/>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git を呼ぶだけで、認証は設定済みのもの（SSH agent・credential helper・CI secret）が答える。lock が記録するのはソースの名前と commit であって URL ではない。</a:t>
            </a:r>
            <a:endParaRPr lang="en-US" sz="11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537960" y="1298448"/>
          <a:ext cx="5120640" cy="914400"/>
        </p:xfrm>
        <a:graphic>
          <a:graphicData uri="http://schemas.openxmlformats.org/drawingml/2006/table">
            <a:tbl>
              <a:tblPr/>
              <a:tblGrid>
                <a:gridCol w="1828800"/>
                <a:gridCol w="3291840"/>
              </a:tblGrid>
              <a:tr h="329184">
                <a:tc>
                  <a:txBody>
                    <a:bodyPr/>
                    <a:lstStyle/>
                    <a:p>
                      <a:pPr indent="0" marL="0">
                        <a:buNone/>
                      </a:pPr>
                      <a:r>
                        <a:rPr lang="en-US" sz="1050" b="1" dirty="0">
                          <a:solidFill>
                            <a:srgbClr val="FFFFFF"/>
                          </a:solidFill>
                          <a:latin typeface="Arial" pitchFamily="34" charset="0"/>
                          <a:ea typeface="Arial" pitchFamily="34" charset="-122"/>
                          <a:cs typeface="Arial" pitchFamily="34" charset="-120"/>
                        </a:rPr>
                        <a:t>見るコマンド</a:t>
                      </a:r>
                      <a:endParaRPr lang="en-US" sz="1050" dirty="0">
                        <a:latin typeface="Arial" charset="0"/>
                        <a:ea typeface="Arial" charset="0"/>
                        <a:cs typeface="Arial"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1C1C1C"/>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答える問い</a:t>
                      </a:r>
                      <a:endParaRPr lang="en-US" sz="1050" dirty="0">
                        <a:latin typeface="Arial" charset="0"/>
                        <a:ea typeface="Arial" charset="0"/>
                        <a:cs typeface="Arial"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1C1C1C"/>
                    </a:solidFill>
                  </a:tcPr>
                </a:tc>
              </a:tr>
              <a:tr h="329184">
                <a:tc>
                  <a:txBody>
                    <a:bodyPr/>
                    <a:lstStyle/>
                    <a:p>
                      <a:pPr indent="0" marL="0">
                        <a:buNone/>
                      </a:pPr>
                      <a:r>
                        <a:rPr lang="en-US" sz="1000" b="1" dirty="0">
                          <a:solidFill>
                            <a:srgbClr val="1C1C1C"/>
                          </a:solidFill>
                          <a:latin typeface="Courier New" pitchFamily="34" charset="0"/>
                          <a:ea typeface="Courier New" pitchFamily="34" charset="-122"/>
                          <a:cs typeface="Courier New" pitchFamily="34" charset="-120"/>
                        </a:rPr>
                        <a:t>pack list</a:t>
                      </a:r>
                      <a:endParaRPr lang="en-US" sz="1000" dirty="0">
                        <a:latin typeface="Courier New" charset="0"/>
                        <a:ea typeface="Courier New" charset="0"/>
                        <a:cs typeface="Courier New"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00" dirty="0">
                          <a:solidFill>
                            <a:srgbClr val="5C6166"/>
                          </a:solidFill>
                          <a:latin typeface="Calibri" pitchFamily="34" charset="0"/>
                          <a:ea typeface="Calibri" pitchFamily="34" charset="-122"/>
                          <a:cs typeface="Calibri" pitchFamily="34" charset="-120"/>
                        </a:rPr>
                        <a:t>何が入っているか（id・type・検証状態）</a:t>
                      </a:r>
                      <a:endParaRPr lang="en-US" sz="100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r>
              <a:tr h="329184">
                <a:tc>
                  <a:txBody>
                    <a:bodyPr/>
                    <a:lstStyle/>
                    <a:p>
                      <a:pPr indent="0" marL="0">
                        <a:buNone/>
                      </a:pPr>
                      <a:r>
                        <a:rPr lang="en-US" sz="1000" b="1" dirty="0">
                          <a:solidFill>
                            <a:srgbClr val="1C1C1C"/>
                          </a:solidFill>
                          <a:latin typeface="Courier New" pitchFamily="34" charset="0"/>
                          <a:ea typeface="Courier New" pitchFamily="34" charset="-122"/>
                          <a:cs typeface="Courier New" pitchFamily="34" charset="-120"/>
                        </a:rPr>
                        <a:t>pack info</a:t>
                      </a:r>
                      <a:endParaRPr lang="en-US" sz="1000" dirty="0">
                        <a:latin typeface="Courier New" charset="0"/>
                        <a:ea typeface="Courier New" charset="0"/>
                        <a:cs typeface="Courier New"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00" dirty="0">
                          <a:solidFill>
                            <a:srgbClr val="5C6166"/>
                          </a:solidFill>
                          <a:latin typeface="Calibri" pitchFamily="34" charset="0"/>
                          <a:ea typeface="Calibri" pitchFamily="34" charset="-122"/>
                          <a:cs typeface="Calibri" pitchFamily="34" charset="-120"/>
                        </a:rPr>
                        <a:t>身元と来歴。出所・digest・依存</a:t>
                      </a:r>
                      <a:endParaRPr lang="en-US" sz="100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r>
              <a:tr h="329184">
                <a:tc>
                  <a:txBody>
                    <a:bodyPr/>
                    <a:lstStyle/>
                    <a:p>
                      <a:pPr indent="0" marL="0">
                        <a:buNone/>
                      </a:pPr>
                      <a:r>
                        <a:rPr lang="en-US" sz="1000" b="1" dirty="0">
                          <a:solidFill>
                            <a:srgbClr val="1C1C1C"/>
                          </a:solidFill>
                          <a:latin typeface="Courier New" pitchFamily="34" charset="0"/>
                          <a:ea typeface="Courier New" pitchFamily="34" charset="-122"/>
                          <a:cs typeface="Courier New" pitchFamily="34" charset="-120"/>
                        </a:rPr>
                        <a:t>pack explain</a:t>
                      </a:r>
                      <a:endParaRPr lang="en-US" sz="1000" dirty="0">
                        <a:latin typeface="Courier New" charset="0"/>
                        <a:ea typeface="Courier New" charset="0"/>
                        <a:cs typeface="Courier New"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00" dirty="0">
                          <a:solidFill>
                            <a:srgbClr val="5C6166"/>
                          </a:solidFill>
                          <a:latin typeface="Calibri" pitchFamily="34" charset="0"/>
                          <a:ea typeface="Calibri" pitchFamily="34" charset="-122"/>
                          <a:cs typeface="Calibri" pitchFamily="34" charset="-120"/>
                        </a:rPr>
                        <a:t>そのアセットは実際にプロンプトへ届いているか</a:t>
                      </a:r>
                      <a:endParaRPr lang="en-US" sz="100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r>
              <a:tr h="329184">
                <a:tc>
                  <a:txBody>
                    <a:bodyPr/>
                    <a:lstStyle/>
                    <a:p>
                      <a:pPr indent="0" marL="0">
                        <a:buNone/>
                      </a:pPr>
                      <a:r>
                        <a:rPr lang="en-US" sz="1000" b="1" dirty="0">
                          <a:solidFill>
                            <a:srgbClr val="1C1C1C"/>
                          </a:solidFill>
                          <a:latin typeface="Courier New" pitchFamily="34" charset="0"/>
                          <a:ea typeface="Courier New" pitchFamily="34" charset="-122"/>
                          <a:cs typeface="Courier New" pitchFamily="34" charset="-120"/>
                        </a:rPr>
                        <a:t>pack outdated</a:t>
                      </a:r>
                      <a:endParaRPr lang="en-US" sz="1000" dirty="0">
                        <a:latin typeface="Courier New" charset="0"/>
                        <a:ea typeface="Courier New" charset="0"/>
                        <a:cs typeface="Courier New"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c>
                  <a:txBody>
                    <a:bodyPr/>
                    <a:lstStyle/>
                    <a:p>
                      <a:pPr indent="0" marL="0">
                        <a:buNone/>
                      </a:pPr>
                      <a:r>
                        <a:rPr lang="en-US" sz="1000" dirty="0">
                          <a:solidFill>
                            <a:srgbClr val="5C6166"/>
                          </a:solidFill>
                          <a:latin typeface="Calibri" pitchFamily="34" charset="0"/>
                          <a:ea typeface="Calibri" pitchFamily="34" charset="-122"/>
                          <a:cs typeface="Calibri" pitchFamily="34" charset="-120"/>
                        </a:rPr>
                        <a:t>各ソースは今どの版を出しているか</a:t>
                      </a:r>
                      <a:endParaRPr lang="en-US" sz="100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FFFFF"/>
                    </a:solidFill>
                  </a:tcPr>
                </a:tc>
              </a:tr>
              <a:tr h="329184">
                <a:tc>
                  <a:txBody>
                    <a:bodyPr/>
                    <a:lstStyle/>
                    <a:p>
                      <a:pPr indent="0" marL="0">
                        <a:buNone/>
                      </a:pPr>
                      <a:r>
                        <a:rPr lang="en-US" sz="1000" b="1" dirty="0">
                          <a:solidFill>
                            <a:srgbClr val="1C1C1C"/>
                          </a:solidFill>
                          <a:latin typeface="Courier New" pitchFamily="34" charset="0"/>
                          <a:ea typeface="Courier New" pitchFamily="34" charset="-122"/>
                          <a:cs typeface="Courier New" pitchFamily="34" charset="-120"/>
                        </a:rPr>
                        <a:t>pack update</a:t>
                      </a:r>
                      <a:endParaRPr lang="en-US" sz="1000" dirty="0">
                        <a:latin typeface="Courier New" charset="0"/>
                        <a:ea typeface="Courier New" charset="0"/>
                        <a:cs typeface="Courier New"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c>
                  <a:txBody>
                    <a:bodyPr/>
                    <a:lstStyle/>
                    <a:p>
                      <a:pPr indent="0" marL="0">
                        <a:buNone/>
                      </a:pPr>
                      <a:r>
                        <a:rPr lang="en-US" sz="1000" dirty="0">
                          <a:solidFill>
                            <a:srgbClr val="5C6166"/>
                          </a:solidFill>
                          <a:latin typeface="Calibri" pitchFamily="34" charset="0"/>
                          <a:ea typeface="Calibri" pitchFamily="34" charset="-122"/>
                          <a:cs typeface="Calibri" pitchFamily="34" charset="-120"/>
                        </a:rPr>
                        <a:t>版を移す（失敗しても旧版が残る）</a:t>
                      </a:r>
                      <a:endParaRPr lang="en-US" sz="1000" dirty="0">
                        <a:latin typeface="Calibri" charset="0"/>
                        <a:ea typeface="Calibri" charset="0"/>
                        <a:cs typeface="Calibri" charset="0"/>
                      </a:endParaRPr>
                    </a:p>
                  </a:txBody>
                  <a:tcPr marL="88900" marR="88900" marT="50800" marB="50800" anchor="ctr">
                    <a:lnL w="6350" cap="flat" cmpd="sng" algn="ctr">
                      <a:solidFill>
                        <a:srgbClr val="D8D8D4"/>
                      </a:solidFill>
                      <a:prstDash val="solid"/>
                      <a:round/>
                      <a:headEnd type="none" w="med" len="med"/>
                      <a:tailEnd type="none" w="med" len="med"/>
                    </a:lnL>
                    <a:lnR w="6350" cap="flat" cmpd="sng" algn="ctr">
                      <a:solidFill>
                        <a:srgbClr val="D8D8D4"/>
                      </a:solidFill>
                      <a:prstDash val="solid"/>
                      <a:round/>
                      <a:headEnd type="none" w="med" len="med"/>
                      <a:tailEnd type="none" w="med" len="med"/>
                    </a:lnR>
                    <a:lnT w="6350" cap="flat" cmpd="sng" algn="ctr">
                      <a:solidFill>
                        <a:srgbClr val="D8D8D4"/>
                      </a:solidFill>
                      <a:prstDash val="solid"/>
                      <a:round/>
                      <a:headEnd type="none" w="med" len="med"/>
                      <a:tailEnd type="none" w="med" len="med"/>
                    </a:lnT>
                    <a:lnB w="6350" cap="flat" cmpd="sng" algn="ctr">
                      <a:solidFill>
                        <a:srgbClr val="D8D8D4"/>
                      </a:solidFill>
                      <a:prstDash val="solid"/>
                      <a:round/>
                      <a:headEnd type="none" w="med" len="med"/>
                      <a:tailEnd type="none" w="med" len="med"/>
                    </a:lnB>
                    <a:solidFill>
                      <a:srgbClr val="F7F7F5"/>
                    </a:solidFill>
                  </a:tcPr>
                </a:tc>
              </a:tr>
            </a:tbl>
          </a:graphicData>
        </a:graphic>
      </p:graphicFrame>
      <p:sp>
        <p:nvSpPr>
          <p:cNvPr id="14" name="Shape 11"/>
          <p:cNvSpPr/>
          <p:nvPr/>
        </p:nvSpPr>
        <p:spPr>
          <a:xfrm>
            <a:off x="6537960" y="3429000"/>
            <a:ext cx="5120640" cy="1417320"/>
          </a:xfrm>
          <a:prstGeom prst="roundRect">
            <a:avLst>
              <a:gd name="adj" fmla="val 3871"/>
            </a:avLst>
          </a:prstGeom>
          <a:solidFill>
            <a:srgbClr val="F3EAE6"/>
          </a:solidFill>
          <a:ln w="6350">
            <a:solidFill>
              <a:srgbClr val="F3EAE6"/>
            </a:solidFill>
            <a:prstDash val="solid"/>
          </a:ln>
          <a:effectLst>
            <a:outerShdw sx="100000" sy="100000" kx="0" ky="0" algn="bl" rotWithShape="0" blurRad="101600" dist="12700" dir="5400000">
              <a:srgbClr val="000000">
                <a:alpha val="10000"/>
              </a:srgbClr>
            </a:outerShdw>
          </a:effectLst>
        </p:spPr>
      </p:sp>
      <p:sp>
        <p:nvSpPr>
          <p:cNvPr id="15" name="Text 12"/>
          <p:cNvSpPr txBox="1"/>
          <p:nvPr/>
        </p:nvSpPr>
        <p:spPr>
          <a:xfrm>
            <a:off x="6793992" y="3611880"/>
            <a:ext cx="4608576" cy="320040"/>
          </a:xfrm>
          <a:prstGeom prst="rect">
            <a:avLst/>
          </a:prstGeom>
          <a:noFill/>
          <a:ln/>
        </p:spPr>
        <p:txBody>
          <a:bodyPr wrap="square" lIns="0" tIns="0" rIns="0" bIns="0" rtlCol="0" anchor="ctr"/>
          <a:lstStyle/>
          <a:p>
            <a:pPr indent="0" marL="0">
              <a:buNone/>
            </a:pPr>
            <a:r>
              <a:rPr lang="en-US" sz="1400" b="1" dirty="0">
                <a:solidFill>
                  <a:srgbClr val="A33A21"/>
                </a:solidFill>
                <a:latin typeface="Arial" pitchFamily="34" charset="0"/>
                <a:ea typeface="Arial" pitchFamily="34" charset="-122"/>
                <a:cs typeface="Arial" pitchFamily="34" charset="-120"/>
              </a:rPr>
              <a:t>「override したのに何も起きない」の正体</a:t>
            </a:r>
            <a:endParaRPr lang="en-US" sz="1400" dirty="0"/>
          </a:p>
        </p:txBody>
      </p:sp>
      <p:sp>
        <p:nvSpPr>
          <p:cNvPr id="16" name="Text 13"/>
          <p:cNvSpPr txBox="1"/>
          <p:nvPr/>
        </p:nvSpPr>
        <p:spPr>
          <a:xfrm>
            <a:off x="6793992" y="3995928"/>
            <a:ext cx="4608576" cy="685800"/>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pack がインストール済みで、valid で、しかし完全に影に隠れている状態。info は身元しか答えないので、explain で tier 争いの勝敗を見る。</a:t>
            </a:r>
            <a:endParaRPr lang="en-US" sz="1100" dirty="0"/>
          </a:p>
        </p:txBody>
      </p:sp>
      <p:sp>
        <p:nvSpPr>
          <p:cNvPr id="17" name="Shape 14"/>
          <p:cNvSpPr/>
          <p:nvPr/>
        </p:nvSpPr>
        <p:spPr>
          <a:xfrm>
            <a:off x="6537960" y="4983480"/>
            <a:ext cx="5120640" cy="896112"/>
          </a:xfrm>
          <a:prstGeom prst="roundRect">
            <a:avLst>
              <a:gd name="adj" fmla="val 6122"/>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8" name="Text 15"/>
          <p:cNvSpPr txBox="1"/>
          <p:nvPr/>
        </p:nvSpPr>
        <p:spPr>
          <a:xfrm>
            <a:off x="6793992" y="5166360"/>
            <a:ext cx="4608576" cy="320040"/>
          </a:xfrm>
          <a:prstGeom prst="rect">
            <a:avLst/>
          </a:prstGeom>
          <a:noFill/>
          <a:ln/>
        </p:spPr>
        <p:txBody>
          <a:bodyPr wrap="square" lIns="0" tIns="0" rIns="0" bIns="0" rtlCol="0" anchor="ctr"/>
          <a:lstStyle/>
          <a:p>
            <a:pPr indent="0" marL="0">
              <a:buNone/>
            </a:pPr>
            <a:r>
              <a:rPr lang="en-US" sz="1400" b="1" dirty="0">
                <a:solidFill>
                  <a:srgbClr val="1C1C1C"/>
                </a:solidFill>
                <a:latin typeface="Arial" pitchFamily="34" charset="0"/>
                <a:ea typeface="Arial" pitchFamily="34" charset="-122"/>
                <a:cs typeface="Arial" pitchFamily="34" charset="-120"/>
              </a:rPr>
              <a:t>digest は「誰が」を答えない</a:t>
            </a:r>
            <a:endParaRPr lang="en-US" sz="1400" dirty="0"/>
          </a:p>
        </p:txBody>
      </p:sp>
      <p:sp>
        <p:nvSpPr>
          <p:cNvPr id="19" name="Text 16"/>
          <p:cNvSpPr txBox="1"/>
          <p:nvPr/>
        </p:nvSpPr>
        <p:spPr>
          <a:xfrm>
            <a:off x="6793992" y="5550408"/>
            <a:ext cx="4608576" cy="164592"/>
          </a:xfrm>
          <a:prstGeom prst="rect">
            <a:avLst/>
          </a:prstGeom>
          <a:noFill/>
          <a:ln/>
        </p:spPr>
        <p:txBody>
          <a:bodyPr wrap="square" lIns="0" tIns="0" rIns="0" bIns="0" rtlCol="0" anchor="t"/>
          <a:lstStyle/>
          <a:p>
            <a:pPr indent="0" marL="0">
              <a:lnSpc>
                <a:spcPts val="1500"/>
              </a:lnSpc>
              <a:buNone/>
            </a:pPr>
            <a:r>
              <a:rPr lang="en-US" sz="1100" dirty="0">
                <a:solidFill>
                  <a:srgbClr val="5C6166"/>
                </a:solidFill>
                <a:latin typeface="Calibri" pitchFamily="34" charset="0"/>
                <a:ea typeface="Calibri" pitchFamily="34" charset="-122"/>
                <a:cs typeface="Calibri" pitchFamily="34" charset="-120"/>
              </a:rPr>
              <a:t>同じバイト列であることだけを保証する。出所を答えるのは署名と trust root。</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92608"/>
            <a:ext cx="10058400" cy="256032"/>
          </a:xfrm>
          <a:prstGeom prst="rect">
            <a:avLst/>
          </a:prstGeom>
          <a:noFill/>
          <a:ln/>
        </p:spPr>
        <p:txBody>
          <a:bodyPr wrap="square" lIns="0" tIns="0" rIns="0" bIns="0" rtlCol="0" anchor="ctr"/>
          <a:lstStyle/>
          <a:p>
            <a:pPr indent="0" marL="0">
              <a:buNone/>
            </a:pPr>
            <a:r>
              <a:rPr lang="en-US" sz="1100" b="1" spc="100" kern="0" dirty="0">
                <a:solidFill>
                  <a:srgbClr val="1F6F5C"/>
                </a:solidFill>
                <a:latin typeface="Calibri" pitchFamily="34" charset="0"/>
                <a:ea typeface="Calibri" pitchFamily="34" charset="-122"/>
                <a:cs typeface="Calibri" pitchFamily="34" charset="-120"/>
              </a:rPr>
              <a:t>N° 19</a:t>
            </a:r>
            <a:endParaRPr lang="en-US" sz="1100" dirty="0"/>
          </a:p>
        </p:txBody>
      </p:sp>
      <p:sp>
        <p:nvSpPr>
          <p:cNvPr id="3" name="Text 1"/>
          <p:cNvSpPr txBox="1"/>
          <p:nvPr/>
        </p:nvSpPr>
        <p:spPr>
          <a:xfrm>
            <a:off x="502920" y="566928"/>
            <a:ext cx="11155680" cy="658368"/>
          </a:xfrm>
          <a:prstGeom prst="rect">
            <a:avLst/>
          </a:prstGeom>
          <a:noFill/>
          <a:ln/>
        </p:spPr>
        <p:txBody>
          <a:bodyPr wrap="square" lIns="0" tIns="0" rIns="0" bIns="0" rtlCol="0" anchor="ctr"/>
          <a:lstStyle/>
          <a:p>
            <a:pPr indent="0" marL="0">
              <a:buNone/>
            </a:pPr>
            <a:r>
              <a:rPr lang="en-US" sz="2700" b="1" dirty="0">
                <a:solidFill>
                  <a:srgbClr val="1C1C1C"/>
                </a:solidFill>
                <a:latin typeface="Arial" pitchFamily="34" charset="0"/>
                <a:ea typeface="Arial" pitchFamily="34" charset="-122"/>
                <a:cs typeface="Arial" pitchFamily="34" charset="-120"/>
              </a:rPr>
              <a:t>引っかかりやすいところ</a:t>
            </a:r>
            <a:endParaRPr lang="en-US" sz="2700" dirty="0"/>
          </a:p>
        </p:txBody>
      </p:sp>
      <p:sp>
        <p:nvSpPr>
          <p:cNvPr id="4" name="Text 2"/>
          <p:cNvSpPr txBox="1"/>
          <p:nvPr/>
        </p:nvSpPr>
        <p:spPr>
          <a:xfrm>
            <a:off x="502920" y="6355080"/>
            <a:ext cx="3657600" cy="274320"/>
          </a:xfrm>
          <a:prstGeom prst="rect">
            <a:avLst/>
          </a:prstGeom>
          <a:noFill/>
          <a:ln/>
        </p:spPr>
        <p:txBody>
          <a:bodyPr wrap="square" lIns="0" tIns="0" rIns="0" bIns="0" rtlCol="0" anchor="ctr"/>
          <a:lstStyle/>
          <a:p>
            <a:pPr indent="0" marL="0">
              <a:buNone/>
            </a:pPr>
            <a:r>
              <a:rPr lang="en-US" sz="900" dirty="0">
                <a:solidFill>
                  <a:srgbClr val="5C6166"/>
                </a:solidFill>
                <a:latin typeface="Calibri" pitchFamily="34" charset="0"/>
                <a:ea typeface="Calibri" pitchFamily="34" charset="-122"/>
                <a:cs typeface="Calibri" pitchFamily="34" charset="-120"/>
              </a:rPr>
              <a:t>rig 入門</a:t>
            </a:r>
            <a:endParaRPr lang="en-US" sz="900" dirty="0"/>
          </a:p>
        </p:txBody>
      </p:sp>
      <p:sp>
        <p:nvSpPr>
          <p:cNvPr id="5" name="Text 3"/>
          <p:cNvSpPr txBox="1"/>
          <p:nvPr/>
        </p:nvSpPr>
        <p:spPr>
          <a:xfrm>
            <a:off x="10744200" y="6355080"/>
            <a:ext cx="914400" cy="274320"/>
          </a:xfrm>
          <a:prstGeom prst="rect">
            <a:avLst/>
          </a:prstGeom>
          <a:noFill/>
          <a:ln/>
        </p:spPr>
        <p:txBody>
          <a:bodyPr wrap="square" lIns="0" tIns="0" rIns="0" bIns="0" rtlCol="0" anchor="ctr"/>
          <a:lstStyle/>
          <a:p>
            <a:pPr algn="r" indent="0" marL="0">
              <a:buNone/>
            </a:pPr>
            <a:r>
              <a:rPr lang="en-US" sz="900" dirty="0">
                <a:solidFill>
                  <a:srgbClr val="5C6166"/>
                </a:solidFill>
                <a:latin typeface="Calibri" pitchFamily="34" charset="0"/>
                <a:ea typeface="Calibri" pitchFamily="34" charset="-122"/>
                <a:cs typeface="Calibri" pitchFamily="34" charset="-120"/>
              </a:rPr>
              <a:t>30</a:t>
            </a:r>
            <a:endParaRPr lang="en-US" sz="900" dirty="0"/>
          </a:p>
        </p:txBody>
      </p:sp>
      <p:sp>
        <p:nvSpPr>
          <p:cNvPr id="6" name="Shape 4"/>
          <p:cNvSpPr/>
          <p:nvPr/>
        </p:nvSpPr>
        <p:spPr>
          <a:xfrm>
            <a:off x="502920" y="1298448"/>
            <a:ext cx="5486400" cy="1051560"/>
          </a:xfrm>
          <a:prstGeom prst="roundRect">
            <a:avLst>
              <a:gd name="adj" fmla="val 5217"/>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7" name="Shape 5"/>
          <p:cNvSpPr/>
          <p:nvPr/>
        </p:nvSpPr>
        <p:spPr>
          <a:xfrm>
            <a:off x="758952" y="1499616"/>
            <a:ext cx="384048" cy="384048"/>
          </a:xfrm>
          <a:prstGeom prst="ellipse">
            <a:avLst/>
          </a:prstGeom>
          <a:solidFill>
            <a:srgbClr val="A33A21"/>
          </a:solidFill>
          <a:ln w="12700">
            <a:solidFill>
              <a:srgbClr val="A33A21"/>
            </a:solidFill>
            <a:prstDash val="solid"/>
          </a:ln>
        </p:spPr>
      </p:sp>
      <p:sp>
        <p:nvSpPr>
          <p:cNvPr id="8" name="Text 6"/>
          <p:cNvSpPr txBox="1"/>
          <p:nvPr/>
        </p:nvSpPr>
        <p:spPr>
          <a:xfrm>
            <a:off x="758952"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89304" y="1517904"/>
            <a:ext cx="4443984" cy="320040"/>
          </a:xfrm>
          <a:prstGeom prst="rect">
            <a:avLst/>
          </a:prstGeom>
          <a:noFill/>
          <a:ln/>
        </p:spPr>
        <p:txBody>
          <a:bodyPr wrap="square" lIns="0" tIns="0" rIns="0" bIns="0" rtlCol="0" anchor="ctr"/>
          <a:lstStyle/>
          <a:p>
            <a:pPr indent="0" marL="0">
              <a:buNone/>
            </a:pPr>
            <a:r>
              <a:rPr lang="en-US" sz="1150" b="1" dirty="0">
                <a:solidFill>
                  <a:srgbClr val="1C1C1C"/>
                </a:solidFill>
                <a:latin typeface="Arial" pitchFamily="34" charset="0"/>
                <a:ea typeface="Arial" pitchFamily="34" charset="-122"/>
                <a:cs typeface="Arial" pitchFamily="34" charset="-120"/>
              </a:rPr>
              <a:t>valid は完成ではない</a:t>
            </a:r>
            <a:endParaRPr lang="en-US" sz="1150" dirty="0"/>
          </a:p>
        </p:txBody>
      </p:sp>
      <p:sp>
        <p:nvSpPr>
          <p:cNvPr id="10" name="Text 8"/>
          <p:cNvSpPr txBox="1"/>
          <p:nvPr/>
        </p:nvSpPr>
        <p:spPr>
          <a:xfrm>
            <a:off x="1289304" y="1865376"/>
            <a:ext cx="4443984" cy="320040"/>
          </a:xfrm>
          <a:prstGeom prst="rect">
            <a:avLst/>
          </a:prstGeom>
          <a:noFill/>
          <a:ln/>
        </p:spPr>
        <p:txBody>
          <a:bodyPr wrap="square" lIns="0" tIns="0" rIns="0" bIns="0" rtlCol="0" anchor="t"/>
          <a:lstStyle/>
          <a:p>
            <a:pPr indent="0" marL="0">
              <a:lnSpc>
                <a:spcPts val="1400"/>
              </a:lnSpc>
              <a:buNone/>
            </a:pPr>
            <a:r>
              <a:rPr lang="en-US" sz="1050" dirty="0">
                <a:solidFill>
                  <a:srgbClr val="5C6166"/>
                </a:solidFill>
                <a:latin typeface="Calibri" pitchFamily="34" charset="0"/>
                <a:ea typeface="Calibri" pitchFamily="34" charset="-122"/>
                <a:cs typeface="Calibri" pitchFamily="34" charset="-120"/>
              </a:rPr>
              <a:t>空の pack も valid になる。doctor の empty_pack 警告を見る</a:t>
            </a:r>
            <a:endParaRPr lang="en-US" sz="1050" dirty="0"/>
          </a:p>
        </p:txBody>
      </p:sp>
      <p:sp>
        <p:nvSpPr>
          <p:cNvPr id="11" name="Shape 9"/>
          <p:cNvSpPr/>
          <p:nvPr/>
        </p:nvSpPr>
        <p:spPr>
          <a:xfrm>
            <a:off x="6355080" y="1298448"/>
            <a:ext cx="5486400" cy="1051560"/>
          </a:xfrm>
          <a:prstGeom prst="roundRect">
            <a:avLst>
              <a:gd name="adj" fmla="val 5217"/>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2" name="Shape 10"/>
          <p:cNvSpPr/>
          <p:nvPr/>
        </p:nvSpPr>
        <p:spPr>
          <a:xfrm>
            <a:off x="6611112" y="1499616"/>
            <a:ext cx="384048" cy="384048"/>
          </a:xfrm>
          <a:prstGeom prst="ellipse">
            <a:avLst/>
          </a:prstGeom>
          <a:solidFill>
            <a:srgbClr val="A33A21"/>
          </a:solidFill>
          <a:ln w="12700">
            <a:solidFill>
              <a:srgbClr val="A33A21"/>
            </a:solidFill>
            <a:prstDash val="solid"/>
          </a:ln>
        </p:spPr>
      </p:sp>
      <p:sp>
        <p:nvSpPr>
          <p:cNvPr id="13" name="Text 11"/>
          <p:cNvSpPr txBox="1"/>
          <p:nvPr/>
        </p:nvSpPr>
        <p:spPr>
          <a:xfrm>
            <a:off x="6611112"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7141464" y="1517904"/>
            <a:ext cx="4443984" cy="320040"/>
          </a:xfrm>
          <a:prstGeom prst="rect">
            <a:avLst/>
          </a:prstGeom>
          <a:noFill/>
          <a:ln/>
        </p:spPr>
        <p:txBody>
          <a:bodyPr wrap="square" lIns="0" tIns="0" rIns="0" bIns="0" rtlCol="0" anchor="ctr"/>
          <a:lstStyle/>
          <a:p>
            <a:pPr indent="0" marL="0">
              <a:buNone/>
            </a:pPr>
            <a:r>
              <a:rPr lang="en-US" sz="1150" b="1" dirty="0">
                <a:solidFill>
                  <a:srgbClr val="1C1C1C"/>
                </a:solidFill>
                <a:latin typeface="Arial" pitchFamily="34" charset="0"/>
                <a:ea typeface="Arial" pitchFamily="34" charset="-122"/>
                <a:cs typeface="Arial" pitchFamily="34" charset="-120"/>
              </a:rPr>
              <a:t>pack.yaml を手で書かない</a:t>
            </a:r>
            <a:endParaRPr lang="en-US" sz="1150" dirty="0"/>
          </a:p>
        </p:txBody>
      </p:sp>
      <p:sp>
        <p:nvSpPr>
          <p:cNvPr id="15" name="Text 13"/>
          <p:cNvSpPr txBox="1"/>
          <p:nvPr/>
        </p:nvSpPr>
        <p:spPr>
          <a:xfrm>
            <a:off x="7141464" y="1865376"/>
            <a:ext cx="4443984" cy="320040"/>
          </a:xfrm>
          <a:prstGeom prst="rect">
            <a:avLst/>
          </a:prstGeom>
          <a:noFill/>
          <a:ln/>
        </p:spPr>
        <p:txBody>
          <a:bodyPr wrap="square" lIns="0" tIns="0" rIns="0" bIns="0" rtlCol="0" anchor="t"/>
          <a:lstStyle/>
          <a:p>
            <a:pPr indent="0" marL="0">
              <a:lnSpc>
                <a:spcPts val="1400"/>
              </a:lnSpc>
              <a:buNone/>
            </a:pPr>
            <a:r>
              <a:rPr lang="en-US" sz="1050" dirty="0">
                <a:solidFill>
                  <a:srgbClr val="5C6166"/>
                </a:solidFill>
                <a:latin typeface="Calibri" pitchFamily="34" charset="0"/>
                <a:ea typeface="Calibri" pitchFamily="34" charset="-122"/>
                <a:cs typeface="Calibri" pitchFamily="34" charset="-120"/>
              </a:rPr>
              <a:t>「たまたま一致する」か「間違っている」かにしかならない</a:t>
            </a:r>
            <a:endParaRPr lang="en-US" sz="1050" dirty="0"/>
          </a:p>
        </p:txBody>
      </p:sp>
      <p:sp>
        <p:nvSpPr>
          <p:cNvPr id="16" name="Shape 14"/>
          <p:cNvSpPr/>
          <p:nvPr/>
        </p:nvSpPr>
        <p:spPr>
          <a:xfrm>
            <a:off x="502920" y="2487168"/>
            <a:ext cx="5486400" cy="1051560"/>
          </a:xfrm>
          <a:prstGeom prst="roundRect">
            <a:avLst>
              <a:gd name="adj" fmla="val 5217"/>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17" name="Shape 15"/>
          <p:cNvSpPr/>
          <p:nvPr/>
        </p:nvSpPr>
        <p:spPr>
          <a:xfrm>
            <a:off x="758952" y="2688336"/>
            <a:ext cx="384048" cy="384048"/>
          </a:xfrm>
          <a:prstGeom prst="ellipse">
            <a:avLst/>
          </a:prstGeom>
          <a:solidFill>
            <a:srgbClr val="A33A21"/>
          </a:solidFill>
          <a:ln w="12700">
            <a:solidFill>
              <a:srgbClr val="A33A21"/>
            </a:solidFill>
            <a:prstDash val="solid"/>
          </a:ln>
        </p:spPr>
      </p:sp>
      <p:sp>
        <p:nvSpPr>
          <p:cNvPr id="18" name="Text 16"/>
          <p:cNvSpPr txBox="1"/>
          <p:nvPr/>
        </p:nvSpPr>
        <p:spPr>
          <a:xfrm>
            <a:off x="758952" y="26883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89304" y="2706624"/>
            <a:ext cx="4443984" cy="320040"/>
          </a:xfrm>
          <a:prstGeom prst="rect">
            <a:avLst/>
          </a:prstGeom>
          <a:noFill/>
          <a:ln/>
        </p:spPr>
        <p:txBody>
          <a:bodyPr wrap="square" lIns="0" tIns="0" rIns="0" bIns="0" rtlCol="0" anchor="ctr"/>
          <a:lstStyle/>
          <a:p>
            <a:pPr indent="0" marL="0">
              <a:buNone/>
            </a:pPr>
            <a:r>
              <a:rPr lang="en-US" sz="1150" b="1" dirty="0">
                <a:solidFill>
                  <a:srgbClr val="1C1C1C"/>
                </a:solidFill>
                <a:latin typeface="Arial" pitchFamily="34" charset="0"/>
                <a:ea typeface="Arial" pitchFamily="34" charset="-122"/>
                <a:cs typeface="Arial" pitchFamily="34" charset="-120"/>
              </a:rPr>
              <a:t>署名した pack は sync できない</a:t>
            </a:r>
            <a:endParaRPr lang="en-US" sz="1150" dirty="0"/>
          </a:p>
        </p:txBody>
      </p:sp>
      <p:sp>
        <p:nvSpPr>
          <p:cNvPr id="20" name="Text 18"/>
          <p:cNvSpPr txBox="1"/>
          <p:nvPr/>
        </p:nvSpPr>
        <p:spPr>
          <a:xfrm>
            <a:off x="1289304" y="3054096"/>
            <a:ext cx="4443984" cy="320040"/>
          </a:xfrm>
          <a:prstGeom prst="rect">
            <a:avLst/>
          </a:prstGeom>
          <a:noFill/>
          <a:ln/>
        </p:spPr>
        <p:txBody>
          <a:bodyPr wrap="square" lIns="0" tIns="0" rIns="0" bIns="0" rtlCol="0" anchor="t"/>
          <a:lstStyle/>
          <a:p>
            <a:pPr indent="0" marL="0">
              <a:lnSpc>
                <a:spcPts val="1400"/>
              </a:lnSpc>
              <a:buNone/>
            </a:pPr>
            <a:r>
              <a:rPr lang="en-US" sz="1050" dirty="0">
                <a:solidFill>
                  <a:srgbClr val="5C6166"/>
                </a:solidFill>
                <a:latin typeface="Calibri" pitchFamily="34" charset="0"/>
                <a:ea typeface="Calibri" pitchFamily="34" charset="-122"/>
                <a:cs typeface="Calibri" pitchFamily="34" charset="-120"/>
              </a:rPr>
              <a:t>署名を外し、sync し、鍵で署名し直す</a:t>
            </a:r>
            <a:endParaRPr lang="en-US" sz="1050" dirty="0"/>
          </a:p>
        </p:txBody>
      </p:sp>
      <p:sp>
        <p:nvSpPr>
          <p:cNvPr id="21" name="Shape 19"/>
          <p:cNvSpPr/>
          <p:nvPr/>
        </p:nvSpPr>
        <p:spPr>
          <a:xfrm>
            <a:off x="6355080" y="2487168"/>
            <a:ext cx="5486400" cy="1051560"/>
          </a:xfrm>
          <a:prstGeom prst="roundRect">
            <a:avLst>
              <a:gd name="adj" fmla="val 5217"/>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22" name="Shape 20"/>
          <p:cNvSpPr/>
          <p:nvPr/>
        </p:nvSpPr>
        <p:spPr>
          <a:xfrm>
            <a:off x="6611112" y="2688336"/>
            <a:ext cx="384048" cy="384048"/>
          </a:xfrm>
          <a:prstGeom prst="ellipse">
            <a:avLst/>
          </a:prstGeom>
          <a:solidFill>
            <a:srgbClr val="A33A21"/>
          </a:solidFill>
          <a:ln w="12700">
            <a:solidFill>
              <a:srgbClr val="A33A21"/>
            </a:solidFill>
            <a:prstDash val="solid"/>
          </a:ln>
        </p:spPr>
      </p:sp>
      <p:sp>
        <p:nvSpPr>
          <p:cNvPr id="23" name="Text 21"/>
          <p:cNvSpPr txBox="1"/>
          <p:nvPr/>
        </p:nvSpPr>
        <p:spPr>
          <a:xfrm>
            <a:off x="6611112" y="26883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7141464" y="2706624"/>
            <a:ext cx="4443984" cy="320040"/>
          </a:xfrm>
          <a:prstGeom prst="rect">
            <a:avLst/>
          </a:prstGeom>
          <a:noFill/>
          <a:ln/>
        </p:spPr>
        <p:txBody>
          <a:bodyPr wrap="square" lIns="0" tIns="0" rIns="0" bIns="0" rtlCol="0" anchor="ctr"/>
          <a:lstStyle/>
          <a:p>
            <a:pPr indent="0" marL="0">
              <a:buNone/>
            </a:pPr>
            <a:r>
              <a:rPr lang="en-US" sz="1150" b="1" dirty="0">
                <a:solidFill>
                  <a:srgbClr val="1C1C1C"/>
                </a:solidFill>
                <a:latin typeface="Arial" pitchFamily="34" charset="0"/>
                <a:ea typeface="Arial" pitchFamily="34" charset="-122"/>
                <a:cs typeface="Arial" pitchFamily="34" charset="-120"/>
              </a:rPr>
              <a:t>install だけではコマンドにならない</a:t>
            </a:r>
            <a:endParaRPr lang="en-US" sz="1150" dirty="0"/>
          </a:p>
        </p:txBody>
      </p:sp>
      <p:sp>
        <p:nvSpPr>
          <p:cNvPr id="25" name="Text 23"/>
          <p:cNvSpPr txBox="1"/>
          <p:nvPr/>
        </p:nvSpPr>
        <p:spPr>
          <a:xfrm>
            <a:off x="7141464" y="3054096"/>
            <a:ext cx="4443984" cy="320040"/>
          </a:xfrm>
          <a:prstGeom prst="rect">
            <a:avLst/>
          </a:prstGeom>
          <a:noFill/>
          <a:ln/>
        </p:spPr>
        <p:txBody>
          <a:bodyPr wrap="square" lIns="0" tIns="0" rIns="0" bIns="0" rtlCol="0" anchor="t"/>
          <a:lstStyle/>
          <a:p>
            <a:pPr indent="0" marL="0">
              <a:lnSpc>
                <a:spcPts val="1400"/>
              </a:lnSpc>
              <a:buNone/>
            </a:pPr>
            <a:r>
              <a:rPr lang="en-US" sz="1050" dirty="0">
                <a:solidFill>
                  <a:srgbClr val="5C6166"/>
                </a:solidFill>
                <a:latin typeface="Calibri" pitchFamily="34" charset="0"/>
                <a:ea typeface="Calibri" pitchFamily="34" charset="-122"/>
                <a:cs typeface="Calibri" pitchFamily="34" charset="-120"/>
              </a:rPr>
              <a:t>command アセットは、明示登録を扱えるホスト向けの資料</a:t>
            </a:r>
            <a:endParaRPr lang="en-US" sz="1050" dirty="0"/>
          </a:p>
        </p:txBody>
      </p:sp>
      <p:sp>
        <p:nvSpPr>
          <p:cNvPr id="26" name="Shape 24"/>
          <p:cNvSpPr/>
          <p:nvPr/>
        </p:nvSpPr>
        <p:spPr>
          <a:xfrm>
            <a:off x="502920" y="3675888"/>
            <a:ext cx="5486400" cy="1051560"/>
          </a:xfrm>
          <a:prstGeom prst="roundRect">
            <a:avLst>
              <a:gd name="adj" fmla="val 5217"/>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27" name="Shape 25"/>
          <p:cNvSpPr/>
          <p:nvPr/>
        </p:nvSpPr>
        <p:spPr>
          <a:xfrm>
            <a:off x="758952" y="3877056"/>
            <a:ext cx="384048" cy="384048"/>
          </a:xfrm>
          <a:prstGeom prst="ellipse">
            <a:avLst/>
          </a:prstGeom>
          <a:solidFill>
            <a:srgbClr val="A33A21"/>
          </a:solidFill>
          <a:ln w="12700">
            <a:solidFill>
              <a:srgbClr val="A33A21"/>
            </a:solidFill>
            <a:prstDash val="solid"/>
          </a:ln>
        </p:spPr>
      </p:sp>
      <p:sp>
        <p:nvSpPr>
          <p:cNvPr id="28" name="Text 26"/>
          <p:cNvSpPr txBox="1"/>
          <p:nvPr/>
        </p:nvSpPr>
        <p:spPr>
          <a:xfrm>
            <a:off x="758952" y="38770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9" name="Text 27"/>
          <p:cNvSpPr txBox="1"/>
          <p:nvPr/>
        </p:nvSpPr>
        <p:spPr>
          <a:xfrm>
            <a:off x="1289304" y="3895344"/>
            <a:ext cx="4443984" cy="320040"/>
          </a:xfrm>
          <a:prstGeom prst="rect">
            <a:avLst/>
          </a:prstGeom>
          <a:noFill/>
          <a:ln/>
        </p:spPr>
        <p:txBody>
          <a:bodyPr wrap="square" lIns="0" tIns="0" rIns="0" bIns="0" rtlCol="0" anchor="ctr"/>
          <a:lstStyle/>
          <a:p>
            <a:pPr indent="0" marL="0">
              <a:buNone/>
            </a:pPr>
            <a:r>
              <a:rPr lang="en-US" sz="1150" b="1" dirty="0">
                <a:solidFill>
                  <a:srgbClr val="1C1C1C"/>
                </a:solidFill>
                <a:latin typeface="Arial" pitchFamily="34" charset="0"/>
                <a:ea typeface="Arial" pitchFamily="34" charset="-122"/>
                <a:cs typeface="Arial" pitchFamily="34" charset="-120"/>
              </a:rPr>
              <a:t>project pack は初回に同意が要る</a:t>
            </a:r>
            <a:endParaRPr lang="en-US" sz="1150" dirty="0"/>
          </a:p>
        </p:txBody>
      </p:sp>
      <p:sp>
        <p:nvSpPr>
          <p:cNvPr id="30" name="Text 28"/>
          <p:cNvSpPr txBox="1"/>
          <p:nvPr/>
        </p:nvSpPr>
        <p:spPr>
          <a:xfrm>
            <a:off x="1289304" y="4242816"/>
            <a:ext cx="4443984" cy="320040"/>
          </a:xfrm>
          <a:prstGeom prst="rect">
            <a:avLst/>
          </a:prstGeom>
          <a:noFill/>
          <a:ln/>
        </p:spPr>
        <p:txBody>
          <a:bodyPr wrap="square" lIns="0" tIns="0" rIns="0" bIns="0" rtlCol="0" anchor="t"/>
          <a:lstStyle/>
          <a:p>
            <a:pPr indent="0" marL="0">
              <a:lnSpc>
                <a:spcPts val="1400"/>
              </a:lnSpc>
              <a:buNone/>
            </a:pPr>
            <a:r>
              <a:rPr lang="en-US" sz="1050" dirty="0">
                <a:solidFill>
                  <a:srgbClr val="5C6166"/>
                </a:solidFill>
                <a:latin typeface="Calibri" pitchFamily="34" charset="0"/>
                <a:ea typeface="Calibri" pitchFamily="34" charset="-122"/>
                <a:cs typeface="Calibri" pitchFamily="34" charset="-120"/>
              </a:rPr>
              <a:t>RIG_ALLOW_PROJECT_PACKS=1。同意は内容ハッシュに紐づく</a:t>
            </a:r>
            <a:endParaRPr lang="en-US" sz="1050" dirty="0"/>
          </a:p>
        </p:txBody>
      </p:sp>
      <p:sp>
        <p:nvSpPr>
          <p:cNvPr id="31" name="Shape 29"/>
          <p:cNvSpPr/>
          <p:nvPr/>
        </p:nvSpPr>
        <p:spPr>
          <a:xfrm>
            <a:off x="6355080" y="3675888"/>
            <a:ext cx="5486400" cy="1051560"/>
          </a:xfrm>
          <a:prstGeom prst="roundRect">
            <a:avLst>
              <a:gd name="adj" fmla="val 5217"/>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32" name="Shape 30"/>
          <p:cNvSpPr/>
          <p:nvPr/>
        </p:nvSpPr>
        <p:spPr>
          <a:xfrm>
            <a:off x="6611112" y="3877056"/>
            <a:ext cx="384048" cy="384048"/>
          </a:xfrm>
          <a:prstGeom prst="ellipse">
            <a:avLst/>
          </a:prstGeom>
          <a:solidFill>
            <a:srgbClr val="A33A21"/>
          </a:solidFill>
          <a:ln w="12700">
            <a:solidFill>
              <a:srgbClr val="A33A21"/>
            </a:solidFill>
            <a:prstDash val="solid"/>
          </a:ln>
        </p:spPr>
      </p:sp>
      <p:sp>
        <p:nvSpPr>
          <p:cNvPr id="33" name="Text 31"/>
          <p:cNvSpPr txBox="1"/>
          <p:nvPr/>
        </p:nvSpPr>
        <p:spPr>
          <a:xfrm>
            <a:off x="6611112" y="38770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34" name="Text 32"/>
          <p:cNvSpPr txBox="1"/>
          <p:nvPr/>
        </p:nvSpPr>
        <p:spPr>
          <a:xfrm>
            <a:off x="7141464" y="3895344"/>
            <a:ext cx="4443984" cy="320040"/>
          </a:xfrm>
          <a:prstGeom prst="rect">
            <a:avLst/>
          </a:prstGeom>
          <a:noFill/>
          <a:ln/>
        </p:spPr>
        <p:txBody>
          <a:bodyPr wrap="square" lIns="0" tIns="0" rIns="0" bIns="0" rtlCol="0" anchor="ctr"/>
          <a:lstStyle/>
          <a:p>
            <a:pPr indent="0" marL="0">
              <a:buNone/>
            </a:pPr>
            <a:r>
              <a:rPr lang="en-US" sz="1150" b="1" dirty="0">
                <a:solidFill>
                  <a:srgbClr val="1C1C1C"/>
                </a:solidFill>
                <a:latin typeface="Arial" pitchFamily="34" charset="0"/>
                <a:ea typeface="Arial" pitchFamily="34" charset="-122"/>
                <a:cs typeface="Arial" pitchFamily="34" charset="-120"/>
              </a:rPr>
              <a:t>user / org は品質検証を回避できない</a:t>
            </a:r>
            <a:endParaRPr lang="en-US" sz="1150" dirty="0"/>
          </a:p>
        </p:txBody>
      </p:sp>
      <p:sp>
        <p:nvSpPr>
          <p:cNvPr id="35" name="Text 33"/>
          <p:cNvSpPr txBox="1"/>
          <p:nvPr/>
        </p:nvSpPr>
        <p:spPr>
          <a:xfrm>
            <a:off x="7141464" y="4242816"/>
            <a:ext cx="4443984" cy="320040"/>
          </a:xfrm>
          <a:prstGeom prst="rect">
            <a:avLst/>
          </a:prstGeom>
          <a:noFill/>
          <a:ln/>
        </p:spPr>
        <p:txBody>
          <a:bodyPr wrap="square" lIns="0" tIns="0" rIns="0" bIns="0" rtlCol="0" anchor="t"/>
          <a:lstStyle/>
          <a:p>
            <a:pPr indent="0" marL="0">
              <a:lnSpc>
                <a:spcPts val="1400"/>
              </a:lnSpc>
              <a:buNone/>
            </a:pPr>
            <a:r>
              <a:rPr lang="en-US" sz="1050" dirty="0">
                <a:solidFill>
                  <a:srgbClr val="5C6166"/>
                </a:solidFill>
                <a:latin typeface="Calibri" pitchFamily="34" charset="0"/>
                <a:ea typeface="Calibri" pitchFamily="34" charset="-122"/>
                <a:cs typeface="Calibri" pitchFamily="34" charset="-120"/>
              </a:rPr>
              <a:t>--allow-unverified は project スコープだけ</a:t>
            </a:r>
            <a:endParaRPr lang="en-US" sz="1050" dirty="0"/>
          </a:p>
        </p:txBody>
      </p:sp>
      <p:sp>
        <p:nvSpPr>
          <p:cNvPr id="36" name="Shape 34"/>
          <p:cNvSpPr/>
          <p:nvPr/>
        </p:nvSpPr>
        <p:spPr>
          <a:xfrm>
            <a:off x="502920" y="4864608"/>
            <a:ext cx="5486400" cy="1051560"/>
          </a:xfrm>
          <a:prstGeom prst="roundRect">
            <a:avLst>
              <a:gd name="adj" fmla="val 5217"/>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37" name="Shape 35"/>
          <p:cNvSpPr/>
          <p:nvPr/>
        </p:nvSpPr>
        <p:spPr>
          <a:xfrm>
            <a:off x="758952" y="5065776"/>
            <a:ext cx="384048" cy="384048"/>
          </a:xfrm>
          <a:prstGeom prst="ellipse">
            <a:avLst/>
          </a:prstGeom>
          <a:solidFill>
            <a:srgbClr val="A33A21"/>
          </a:solidFill>
          <a:ln w="12700">
            <a:solidFill>
              <a:srgbClr val="A33A21"/>
            </a:solidFill>
            <a:prstDash val="solid"/>
          </a:ln>
        </p:spPr>
      </p:sp>
      <p:sp>
        <p:nvSpPr>
          <p:cNvPr id="38" name="Text 36"/>
          <p:cNvSpPr txBox="1"/>
          <p:nvPr/>
        </p:nvSpPr>
        <p:spPr>
          <a:xfrm>
            <a:off x="758952" y="50657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7</a:t>
            </a:r>
            <a:endParaRPr lang="en-US" sz="1300" dirty="0"/>
          </a:p>
        </p:txBody>
      </p:sp>
      <p:sp>
        <p:nvSpPr>
          <p:cNvPr id="39" name="Text 37"/>
          <p:cNvSpPr txBox="1"/>
          <p:nvPr/>
        </p:nvSpPr>
        <p:spPr>
          <a:xfrm>
            <a:off x="1289304" y="5084064"/>
            <a:ext cx="4443984" cy="320040"/>
          </a:xfrm>
          <a:prstGeom prst="rect">
            <a:avLst/>
          </a:prstGeom>
          <a:noFill/>
          <a:ln/>
        </p:spPr>
        <p:txBody>
          <a:bodyPr wrap="square" lIns="0" tIns="0" rIns="0" bIns="0" rtlCol="0" anchor="ctr"/>
          <a:lstStyle/>
          <a:p>
            <a:pPr indent="0" marL="0">
              <a:buNone/>
            </a:pPr>
            <a:r>
              <a:rPr lang="en-US" sz="1150" b="1" dirty="0">
                <a:solidFill>
                  <a:srgbClr val="1C1C1C"/>
                </a:solidFill>
                <a:latin typeface="Arial" pitchFamily="34" charset="0"/>
                <a:ea typeface="Arial" pitchFamily="34" charset="-122"/>
                <a:cs typeface="Arial" pitchFamily="34" charset="-120"/>
              </a:rPr>
              <a:t>mock は品質の証拠ではない</a:t>
            </a:r>
            <a:endParaRPr lang="en-US" sz="1150" dirty="0"/>
          </a:p>
        </p:txBody>
      </p:sp>
      <p:sp>
        <p:nvSpPr>
          <p:cNvPr id="40" name="Text 38"/>
          <p:cNvSpPr txBox="1"/>
          <p:nvPr/>
        </p:nvSpPr>
        <p:spPr>
          <a:xfrm>
            <a:off x="1289304" y="5431536"/>
            <a:ext cx="4443984" cy="320040"/>
          </a:xfrm>
          <a:prstGeom prst="rect">
            <a:avLst/>
          </a:prstGeom>
          <a:noFill/>
          <a:ln/>
        </p:spPr>
        <p:txBody>
          <a:bodyPr wrap="square" lIns="0" tIns="0" rIns="0" bIns="0" rtlCol="0" anchor="t"/>
          <a:lstStyle/>
          <a:p>
            <a:pPr indent="0" marL="0">
              <a:lnSpc>
                <a:spcPts val="1400"/>
              </a:lnSpc>
              <a:buNone/>
            </a:pPr>
            <a:r>
              <a:rPr lang="en-US" sz="1050" dirty="0">
                <a:solidFill>
                  <a:srgbClr val="5C6166"/>
                </a:solidFill>
                <a:latin typeface="Calibri" pitchFamily="34" charset="0"/>
                <a:ea typeface="Calibri" pitchFamily="34" charset="-122"/>
                <a:cs typeface="Calibri" pitchFamily="34" charset="-120"/>
              </a:rPr>
              <a:t>結果は non_quality_mock と明示される</a:t>
            </a:r>
            <a:endParaRPr lang="en-US" sz="1050" dirty="0"/>
          </a:p>
        </p:txBody>
      </p:sp>
      <p:sp>
        <p:nvSpPr>
          <p:cNvPr id="41" name="Shape 39"/>
          <p:cNvSpPr/>
          <p:nvPr/>
        </p:nvSpPr>
        <p:spPr>
          <a:xfrm>
            <a:off x="6355080" y="4864608"/>
            <a:ext cx="5486400" cy="1051560"/>
          </a:xfrm>
          <a:prstGeom prst="roundRect">
            <a:avLst>
              <a:gd name="adj" fmla="val 5217"/>
            </a:avLst>
          </a:prstGeom>
          <a:solidFill>
            <a:srgbClr val="F1F1EF"/>
          </a:solidFill>
          <a:ln w="6350">
            <a:solidFill>
              <a:srgbClr val="D8D8D4"/>
            </a:solidFill>
            <a:prstDash val="solid"/>
          </a:ln>
          <a:effectLst>
            <a:outerShdw sx="100000" sy="100000" kx="0" ky="0" algn="bl" rotWithShape="0" blurRad="101600" dist="12700" dir="5400000">
              <a:srgbClr val="000000">
                <a:alpha val="10000"/>
              </a:srgbClr>
            </a:outerShdw>
          </a:effectLst>
        </p:spPr>
      </p:sp>
      <p:sp>
        <p:nvSpPr>
          <p:cNvPr id="42" name="Shape 40"/>
          <p:cNvSpPr/>
          <p:nvPr/>
        </p:nvSpPr>
        <p:spPr>
          <a:xfrm>
            <a:off x="6611112" y="5065776"/>
            <a:ext cx="384048" cy="384048"/>
          </a:xfrm>
          <a:prstGeom prst="ellipse">
            <a:avLst/>
          </a:prstGeom>
          <a:solidFill>
            <a:srgbClr val="A33A21"/>
          </a:solidFill>
          <a:ln w="12700">
            <a:solidFill>
              <a:srgbClr val="A33A21"/>
            </a:solidFill>
            <a:prstDash val="solid"/>
          </a:ln>
        </p:spPr>
      </p:sp>
      <p:sp>
        <p:nvSpPr>
          <p:cNvPr id="43" name="Text 41"/>
          <p:cNvSpPr txBox="1"/>
          <p:nvPr/>
        </p:nvSpPr>
        <p:spPr>
          <a:xfrm>
            <a:off x="6611112" y="50657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8</a:t>
            </a:r>
            <a:endParaRPr lang="en-US" sz="1300" dirty="0"/>
          </a:p>
        </p:txBody>
      </p:sp>
      <p:sp>
        <p:nvSpPr>
          <p:cNvPr id="44" name="Text 42"/>
          <p:cNvSpPr txBox="1"/>
          <p:nvPr/>
        </p:nvSpPr>
        <p:spPr>
          <a:xfrm>
            <a:off x="7141464" y="5084064"/>
            <a:ext cx="4443984" cy="320040"/>
          </a:xfrm>
          <a:prstGeom prst="rect">
            <a:avLst/>
          </a:prstGeom>
          <a:noFill/>
          <a:ln/>
        </p:spPr>
        <p:txBody>
          <a:bodyPr wrap="square" lIns="0" tIns="0" rIns="0" bIns="0" rtlCol="0" anchor="ctr"/>
          <a:lstStyle/>
          <a:p>
            <a:pPr indent="0" marL="0">
              <a:buNone/>
            </a:pPr>
            <a:r>
              <a:rPr lang="en-US" sz="1150" b="1" dirty="0">
                <a:solidFill>
                  <a:srgbClr val="1C1C1C"/>
                </a:solidFill>
                <a:latin typeface="Arial" pitchFamily="34" charset="0"/>
                <a:ea typeface="Arial" pitchFamily="34" charset="-122"/>
                <a:cs typeface="Arial" pitchFamily="34" charset="-120"/>
              </a:rPr>
              <a:t>private は署名の代わりにならない</a:t>
            </a:r>
            <a:endParaRPr lang="en-US" sz="1150" dirty="0"/>
          </a:p>
        </p:txBody>
      </p:sp>
      <p:sp>
        <p:nvSpPr>
          <p:cNvPr id="45" name="Text 43"/>
          <p:cNvSpPr txBox="1"/>
          <p:nvPr/>
        </p:nvSpPr>
        <p:spPr>
          <a:xfrm>
            <a:off x="7141464" y="5431536"/>
            <a:ext cx="4443984" cy="320040"/>
          </a:xfrm>
          <a:prstGeom prst="rect">
            <a:avLst/>
          </a:prstGeom>
          <a:noFill/>
          <a:ln/>
        </p:spPr>
        <p:txBody>
          <a:bodyPr wrap="square" lIns="0" tIns="0" rIns="0" bIns="0" rtlCol="0" anchor="t"/>
          <a:lstStyle/>
          <a:p>
            <a:pPr indent="0" marL="0">
              <a:lnSpc>
                <a:spcPts val="1400"/>
              </a:lnSpc>
              <a:buNone/>
            </a:pPr>
            <a:r>
              <a:rPr lang="en-US" sz="1050" dirty="0">
                <a:solidFill>
                  <a:srgbClr val="5C6166"/>
                </a:solidFill>
                <a:latin typeface="Calibri" pitchFamily="34" charset="0"/>
                <a:ea typeface="Calibri" pitchFamily="34" charset="-122"/>
                <a:cs typeface="Calibri" pitchFamily="34" charset="-120"/>
              </a:rPr>
              <a:t>private リポジトリの pack も同じ検証を全部通る</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C1C1C"/>
        </a:solidFill>
      </p:bgPr>
    </p:bg>
    <p:spTree>
      <p:nvGrpSpPr>
        <p:cNvPr id="1" name=""/>
        <p:cNvGrpSpPr/>
        <p:nvPr/>
      </p:nvGrpSpPr>
      <p:grpSpPr>
        <a:xfrm>
          <a:off x="0" y="0"/>
          <a:ext cx="0" cy="0"/>
          <a:chOff x="0" y="0"/>
          <a:chExt cx="0" cy="0"/>
        </a:xfrm>
      </p:grpSpPr>
      <p:sp>
        <p:nvSpPr>
          <p:cNvPr id="2" name="Text 0"/>
          <p:cNvSpPr txBox="1"/>
          <p:nvPr/>
        </p:nvSpPr>
        <p:spPr>
          <a:xfrm>
            <a:off x="822960" y="1051560"/>
            <a:ext cx="10515600" cy="137160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明日からの順番</a:t>
            </a:r>
            <a:endParaRPr lang="en-US" sz="3800" dirty="0"/>
          </a:p>
        </p:txBody>
      </p:sp>
      <p:sp>
        <p:nvSpPr>
          <p:cNvPr id="3" name="Shape 1"/>
          <p:cNvSpPr/>
          <p:nvPr/>
        </p:nvSpPr>
        <p:spPr>
          <a:xfrm>
            <a:off x="822960" y="2423160"/>
            <a:ext cx="457200" cy="457200"/>
          </a:xfrm>
          <a:prstGeom prst="ellipse">
            <a:avLst/>
          </a:prstGeom>
          <a:solidFill>
            <a:srgbClr val="1F6F5C"/>
          </a:solidFill>
          <a:ln w="12700">
            <a:solidFill>
              <a:srgbClr val="1F6F5C"/>
            </a:solidFill>
            <a:prstDash val="solid"/>
          </a:ln>
        </p:spPr>
      </p:sp>
      <p:sp>
        <p:nvSpPr>
          <p:cNvPr id="4" name="Text 2"/>
          <p:cNvSpPr txBox="1"/>
          <p:nvPr/>
        </p:nvSpPr>
        <p:spPr>
          <a:xfrm>
            <a:off x="822960" y="2423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5" name="Text 3"/>
          <p:cNvSpPr txBox="1"/>
          <p:nvPr/>
        </p:nvSpPr>
        <p:spPr>
          <a:xfrm>
            <a:off x="1463040" y="2377440"/>
            <a:ext cx="3840480" cy="36576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まず /rig:go だけ使う</a:t>
            </a:r>
            <a:endParaRPr lang="en-US" sz="1500" dirty="0"/>
          </a:p>
        </p:txBody>
      </p:sp>
      <p:sp>
        <p:nvSpPr>
          <p:cNvPr id="6" name="Text 4"/>
          <p:cNvSpPr txBox="1"/>
          <p:nvPr/>
        </p:nvSpPr>
        <p:spPr>
          <a:xfrm>
            <a:off x="5394960" y="2359152"/>
            <a:ext cx="6035040" cy="1005840"/>
          </a:xfrm>
          <a:prstGeom prst="rect">
            <a:avLst/>
          </a:prstGeom>
          <a:noFill/>
          <a:ln/>
        </p:spPr>
        <p:txBody>
          <a:bodyPr wrap="square" lIns="0" tIns="0" rIns="0" bIns="0" rtlCol="0" anchor="ctr"/>
          <a:lstStyle/>
          <a:p>
            <a:pPr indent="0" marL="0">
              <a:lnSpc>
                <a:spcPts val="1700"/>
              </a:lnSpc>
              <a:buNone/>
            </a:pPr>
            <a:r>
              <a:rPr lang="en-US" sz="1200" dirty="0">
                <a:solidFill>
                  <a:srgbClr val="B9BEB9"/>
                </a:solidFill>
                <a:latin typeface="Calibri" pitchFamily="34" charset="0"/>
                <a:ea typeface="Calibri" pitchFamily="34" charset="-122"/>
                <a:cs typeface="Calibri" pitchFamily="34" charset="-120"/>
              </a:rPr>
              <a:t>diff / accept / discard の四つで一週間。ゲートに一度落ちて、なぜ落ちたかを読むところまで来れば、rig が何を売っているかは体で分かる。</a:t>
            </a:r>
            <a:endParaRPr lang="en-US" sz="1200" dirty="0"/>
          </a:p>
        </p:txBody>
      </p:sp>
      <p:sp>
        <p:nvSpPr>
          <p:cNvPr id="7" name="Shape 5"/>
          <p:cNvSpPr/>
          <p:nvPr/>
        </p:nvSpPr>
        <p:spPr>
          <a:xfrm>
            <a:off x="822960" y="3630168"/>
            <a:ext cx="457200" cy="457200"/>
          </a:xfrm>
          <a:prstGeom prst="ellipse">
            <a:avLst/>
          </a:prstGeom>
          <a:solidFill>
            <a:srgbClr val="1F6F5C"/>
          </a:solidFill>
          <a:ln w="12700">
            <a:solidFill>
              <a:srgbClr val="1F6F5C"/>
            </a:solidFill>
            <a:prstDash val="solid"/>
          </a:ln>
        </p:spPr>
      </p:sp>
      <p:sp>
        <p:nvSpPr>
          <p:cNvPr id="8" name="Text 6"/>
          <p:cNvSpPr txBox="1"/>
          <p:nvPr/>
        </p:nvSpPr>
        <p:spPr>
          <a:xfrm>
            <a:off x="822960" y="363016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9" name="Text 7"/>
          <p:cNvSpPr txBox="1"/>
          <p:nvPr/>
        </p:nvSpPr>
        <p:spPr>
          <a:xfrm>
            <a:off x="1463040" y="3584448"/>
            <a:ext cx="3840480" cy="36576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ページを一枚書く</a:t>
            </a:r>
            <a:endParaRPr lang="en-US" sz="1500" dirty="0"/>
          </a:p>
        </p:txBody>
      </p:sp>
      <p:sp>
        <p:nvSpPr>
          <p:cNvPr id="10" name="Text 8"/>
          <p:cNvSpPr txBox="1"/>
          <p:nvPr/>
        </p:nvSpPr>
        <p:spPr>
          <a:xfrm>
            <a:off x="5394960" y="3566160"/>
            <a:ext cx="6035040" cy="1005840"/>
          </a:xfrm>
          <a:prstGeom prst="rect">
            <a:avLst/>
          </a:prstGeom>
          <a:noFill/>
          <a:ln/>
        </p:spPr>
        <p:txBody>
          <a:bodyPr wrap="square" lIns="0" tIns="0" rIns="0" bIns="0" rtlCol="0" anchor="ctr"/>
          <a:lstStyle/>
          <a:p>
            <a:pPr indent="0" marL="0">
              <a:lnSpc>
                <a:spcPts val="1700"/>
              </a:lnSpc>
              <a:buNone/>
            </a:pPr>
            <a:r>
              <a:rPr lang="en-US" sz="1200" dirty="0">
                <a:solidFill>
                  <a:srgbClr val="B9BEB9"/>
                </a:solidFill>
                <a:latin typeface="Calibri" pitchFamily="34" charset="0"/>
                <a:ea typeface="Calibri" pitchFamily="34" charset="-122"/>
                <a:cs typeface="Calibri" pitchFamily="34" charset="-120"/>
              </a:rPr>
              <a:t>/rig:knowledge で自分のドメインを一枚書き、persona の inject: から参照させる。効くかどうかをここで確かめる。</a:t>
            </a:r>
            <a:endParaRPr lang="en-US" sz="1200" dirty="0"/>
          </a:p>
        </p:txBody>
      </p:sp>
      <p:sp>
        <p:nvSpPr>
          <p:cNvPr id="11" name="Shape 9"/>
          <p:cNvSpPr/>
          <p:nvPr/>
        </p:nvSpPr>
        <p:spPr>
          <a:xfrm>
            <a:off x="822960" y="4837176"/>
            <a:ext cx="457200" cy="457200"/>
          </a:xfrm>
          <a:prstGeom prst="ellipse">
            <a:avLst/>
          </a:prstGeom>
          <a:solidFill>
            <a:srgbClr val="1F6F5C"/>
          </a:solidFill>
          <a:ln w="12700">
            <a:solidFill>
              <a:srgbClr val="1F6F5C"/>
            </a:solidFill>
            <a:prstDash val="solid"/>
          </a:ln>
        </p:spPr>
      </p:sp>
      <p:sp>
        <p:nvSpPr>
          <p:cNvPr id="12" name="Text 10"/>
          <p:cNvSpPr txBox="1"/>
          <p:nvPr/>
        </p:nvSpPr>
        <p:spPr>
          <a:xfrm>
            <a:off x="822960" y="483717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3" name="Text 11"/>
          <p:cNvSpPr txBox="1"/>
          <p:nvPr/>
        </p:nvSpPr>
        <p:spPr>
          <a:xfrm>
            <a:off x="1463040" y="4791456"/>
            <a:ext cx="3840480" cy="36576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確信してから pack にする</a:t>
            </a:r>
            <a:endParaRPr lang="en-US" sz="1500" dirty="0"/>
          </a:p>
        </p:txBody>
      </p:sp>
      <p:sp>
        <p:nvSpPr>
          <p:cNvPr id="14" name="Text 12"/>
          <p:cNvSpPr txBox="1"/>
          <p:nvPr/>
        </p:nvSpPr>
        <p:spPr>
          <a:xfrm>
            <a:off x="5394960" y="4773168"/>
            <a:ext cx="6035040" cy="1005840"/>
          </a:xfrm>
          <a:prstGeom prst="rect">
            <a:avLst/>
          </a:prstGeom>
          <a:noFill/>
          <a:ln/>
        </p:spPr>
        <p:txBody>
          <a:bodyPr wrap="square" lIns="0" tIns="0" rIns="0" bIns="0" rtlCol="0" anchor="ctr"/>
          <a:lstStyle/>
          <a:p>
            <a:pPr indent="0" marL="0">
              <a:lnSpc>
                <a:spcPts val="1700"/>
              </a:lnSpc>
              <a:buNone/>
            </a:pPr>
            <a:r>
              <a:rPr lang="en-US" sz="1200" dirty="0">
                <a:solidFill>
                  <a:srgbClr val="B9BEB9"/>
                </a:solidFill>
                <a:latin typeface="Calibri" pitchFamily="34" charset="0"/>
                <a:ea typeface="Calibri" pitchFamily="34" charset="-122"/>
                <a:cs typeface="Calibri" pitchFamily="34" charset="-120"/>
              </a:rPr>
              <a:t>rig-wb pack init --type knowledge で配布物に格上げする。順番を逆にすると、まだ効くか分からないものに評価ケースを書く羽目になる。</a:t>
            </a:r>
            <a:endParaRPr lang="en-US" sz="1200" dirty="0"/>
          </a:p>
        </p:txBody>
      </p:sp>
      <p:sp>
        <p:nvSpPr>
          <p:cNvPr id="15" name="Text 13"/>
          <p:cNvSpPr txBox="1"/>
          <p:nvPr/>
        </p:nvSpPr>
        <p:spPr>
          <a:xfrm>
            <a:off x="822960" y="6144768"/>
            <a:ext cx="10972800" cy="320040"/>
          </a:xfrm>
          <a:prstGeom prst="rect">
            <a:avLst/>
          </a:prstGeom>
          <a:noFill/>
          <a:ln/>
        </p:spPr>
        <p:txBody>
          <a:bodyPr wrap="square" lIns="0" tIns="0" rIns="0" bIns="0" rtlCol="0" anchor="ctr"/>
          <a:lstStyle/>
          <a:p>
            <a:pPr indent="0" marL="0">
              <a:buNone/>
            </a:pPr>
            <a:r>
              <a:rPr lang="en-US" sz="1100" dirty="0">
                <a:solidFill>
                  <a:srgbClr val="8A908C"/>
                </a:solidFill>
                <a:latin typeface="Calibri" pitchFamily="34" charset="0"/>
                <a:ea typeface="Calibri" pitchFamily="34" charset="-122"/>
                <a:cs typeface="Calibri" pitchFamily="34" charset="-120"/>
              </a:rPr>
              <a:t>一次資料：README.ja.md（全体像）　／　docs/packs.md（pack の仕様）　／　skills/engine/SKILL.md（ブリック目録の正本）</a:t>
            </a:r>
            <a:endParaRPr lang="en-US" sz="1100" dirty="0"/>
          </a:p>
        </p:txBody>
      </p:sp>
      <p:sp>
        <p:nvSpPr>
          <p:cNvPr id="16" name="Text 14"/>
          <p:cNvSpPr txBox="1"/>
          <p:nvPr/>
        </p:nvSpPr>
        <p:spPr>
          <a:xfrm>
            <a:off x="822960" y="658368"/>
            <a:ext cx="5486400" cy="274320"/>
          </a:xfrm>
          <a:prstGeom prst="rect">
            <a:avLst/>
          </a:prstGeom>
          <a:noFill/>
          <a:ln/>
        </p:spPr>
        <p:txBody>
          <a:bodyPr wrap="square" lIns="0" tIns="0" rIns="0" bIns="0" rtlCol="0" anchor="ctr"/>
          <a:lstStyle/>
          <a:p>
            <a:pPr indent="0" marL="0">
              <a:buNone/>
            </a:pPr>
            <a:r>
              <a:rPr lang="en-US" sz="1100" b="1" dirty="0">
                <a:solidFill>
                  <a:srgbClr val="1F6F5C"/>
                </a:solidFill>
                <a:latin typeface="Calibri" pitchFamily="34" charset="0"/>
                <a:ea typeface="Calibri" pitchFamily="34" charset="-122"/>
                <a:cs typeface="Calibri" pitchFamily="34" charset="-120"/>
              </a:rPr>
              <a:t>rig 入門</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rig 入門</dc:title>
  <dc:subject>PptxGenJS Presentation</dc:subject>
  <dc:creator>rig</dc:creator>
  <cp:lastModifiedBy>rig</cp:lastModifiedBy>
  <cp:revision>1</cp:revision>
  <dcterms:created xsi:type="dcterms:W3CDTF">2026-08-31T22:51:00Z</dcterms:created>
  <dcterms:modified xsi:type="dcterms:W3CDTF">2026-08-31T22:51:00Z</dcterms:modified>
</cp:coreProperties>
</file>